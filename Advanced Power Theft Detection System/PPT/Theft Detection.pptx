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49"/>
    <p:sldId id="257" r:id="rId50"/>
    <p:sldId id="258" r:id="rId51"/>
    <p:sldId id="259" r:id="rId52"/>
    <p:sldId id="260" r:id="rId53"/>
    <p:sldId id="261" r:id="rId54"/>
    <p:sldId id="262" r:id="rId55"/>
    <p:sldId id="263" r:id="rId56"/>
    <p:sldId id="264" r:id="rId57"/>
    <p:sldId id="265" r:id="rId58"/>
    <p:sldId id="266" r:id="rId59"/>
    <p:sldId id="267" r:id="rId60"/>
    <p:sldId id="268" r:id="rId61"/>
    <p:sldId id="269" r:id="rId62"/>
    <p:sldId id="270" r:id="rId63"/>
    <p:sldId id="271" r:id="rId64"/>
    <p:sldId id="272" r:id="rId65"/>
    <p:sldId id="273" r:id="rId66"/>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Alatsi" charset="1" panose="00000500000000000000"/>
      <p:regular r:id="rId10"/>
    </p:embeddedFont>
    <p:embeddedFont>
      <p:font typeface="Calibri (MS)" charset="1" panose="020F0502020204030204"/>
      <p:regular r:id="rId11"/>
    </p:embeddedFont>
    <p:embeddedFont>
      <p:font typeface="Calibri (MS) Bold" charset="1" panose="020F0702030404030204"/>
      <p:regular r:id="rId12"/>
    </p:embeddedFont>
    <p:embeddedFont>
      <p:font typeface="Calibri (MS) Italics" charset="1" panose="020F05020202040A0204"/>
      <p:regular r:id="rId13"/>
    </p:embeddedFont>
    <p:embeddedFont>
      <p:font typeface="Calibri (MS) Bold Italics" charset="1" panose="020F07020304040A0204"/>
      <p:regular r:id="rId14"/>
    </p:embeddedFont>
    <p:embeddedFont>
      <p:font typeface="Calibri (MS) Light" charset="1" panose="020F0302020204030204"/>
      <p:regular r:id="rId15"/>
    </p:embeddedFont>
    <p:embeddedFont>
      <p:font typeface="Calibri (MS) Light Italics" charset="1" panose="020F0302020204030204"/>
      <p:regular r:id="rId16"/>
    </p:embeddedFont>
    <p:embeddedFont>
      <p:font typeface="TT Rounds Condensed" charset="1" panose="02000506030000020003"/>
      <p:regular r:id="rId17"/>
    </p:embeddedFont>
    <p:embeddedFont>
      <p:font typeface="TT Rounds Condensed Bold" charset="1" panose="02000806030000020003"/>
      <p:regular r:id="rId18"/>
    </p:embeddedFont>
    <p:embeddedFont>
      <p:font typeface="TT Rounds Condensed Italics" charset="1" panose="02000506030000090003"/>
      <p:regular r:id="rId19"/>
    </p:embeddedFont>
    <p:embeddedFont>
      <p:font typeface="TT Rounds Condensed Bold Italics" charset="1" panose="02000806030000090003"/>
      <p:regular r:id="rId20"/>
    </p:embeddedFont>
    <p:embeddedFont>
      <p:font typeface="TT Rounds Condensed Thin" charset="1" panose="02000503020000020003"/>
      <p:regular r:id="rId21"/>
    </p:embeddedFont>
    <p:embeddedFont>
      <p:font typeface="TT Rounds Condensed Thin Italics" charset="1" panose="02000503020000090003"/>
      <p:regular r:id="rId22"/>
    </p:embeddedFont>
    <p:embeddedFont>
      <p:font typeface="TT Rounds Condensed Heavy" charset="1" panose="02000506030000020003"/>
      <p:regular r:id="rId23"/>
    </p:embeddedFont>
    <p:embeddedFont>
      <p:font typeface="TT Rounds Condensed Heavy Italics" charset="1" panose="02000506000000090003"/>
      <p:regular r:id="rId24"/>
    </p:embeddedFont>
    <p:embeddedFont>
      <p:font typeface="Canva Sans" charset="1" panose="020B0503030501040103"/>
      <p:regular r:id="rId25"/>
    </p:embeddedFont>
    <p:embeddedFont>
      <p:font typeface="Canva Sans Bold" charset="1" panose="020B0803030501040103"/>
      <p:regular r:id="rId26"/>
    </p:embeddedFont>
    <p:embeddedFont>
      <p:font typeface="Canva Sans Italics" charset="1" panose="020B0503030501040103"/>
      <p:regular r:id="rId27"/>
    </p:embeddedFont>
    <p:embeddedFont>
      <p:font typeface="Canva Sans Bold Italics" charset="1" panose="020B0803030501040103"/>
      <p:regular r:id="rId28"/>
    </p:embeddedFont>
    <p:embeddedFont>
      <p:font typeface="Canva Sans Medium" charset="1" panose="020B0603030501040103"/>
      <p:regular r:id="rId29"/>
    </p:embeddedFont>
    <p:embeddedFont>
      <p:font typeface="Canva Sans Medium Italics" charset="1" panose="020B0603030501040103"/>
      <p:regular r:id="rId30"/>
    </p:embeddedFont>
    <p:embeddedFont>
      <p:font typeface="Open Sans" charset="1" panose="020B0606030504020204"/>
      <p:regular r:id="rId31"/>
    </p:embeddedFont>
    <p:embeddedFont>
      <p:font typeface="Open Sans Bold" charset="1" panose="020B0806030504020204"/>
      <p:regular r:id="rId32"/>
    </p:embeddedFont>
    <p:embeddedFont>
      <p:font typeface="Open Sans Italics" charset="1" panose="020B0606030504020204"/>
      <p:regular r:id="rId33"/>
    </p:embeddedFont>
    <p:embeddedFont>
      <p:font typeface="Open Sans Bold Italics" charset="1" panose="020B0806030504020204"/>
      <p:regular r:id="rId34"/>
    </p:embeddedFont>
    <p:embeddedFont>
      <p:font typeface="Open Sans Light" charset="1" panose="020B0306030504020204"/>
      <p:regular r:id="rId35"/>
    </p:embeddedFont>
    <p:embeddedFont>
      <p:font typeface="Open Sans Light Italics" charset="1" panose="020B0306030504020204"/>
      <p:regular r:id="rId36"/>
    </p:embeddedFont>
    <p:embeddedFont>
      <p:font typeface="Open Sans Ultra-Bold" charset="1" panose="00000000000000000000"/>
      <p:regular r:id="rId37"/>
    </p:embeddedFont>
    <p:embeddedFont>
      <p:font typeface="Open Sans Ultra-Bold Italics" charset="1" panose="00000000000000000000"/>
      <p:regular r:id="rId38"/>
    </p:embeddedFont>
    <p:embeddedFont>
      <p:font typeface="Abhaya Libre" charset="1" panose="02000503000000000000"/>
      <p:regular r:id="rId39"/>
    </p:embeddedFont>
    <p:embeddedFont>
      <p:font typeface="Abhaya Libre Bold" charset="1" panose="02000803000000000000"/>
      <p:regular r:id="rId40"/>
    </p:embeddedFont>
    <p:embeddedFont>
      <p:font typeface="Abhaya Libre Italics" charset="1" panose="02000503000000000000"/>
      <p:regular r:id="rId41"/>
    </p:embeddedFont>
    <p:embeddedFont>
      <p:font typeface="Abhaya Libre Bold Italics" charset="1" panose="02000803000000000000"/>
      <p:regular r:id="rId42"/>
    </p:embeddedFont>
    <p:embeddedFont>
      <p:font typeface="Abhaya Libre Medium" charset="1" panose="02000603000000000000"/>
      <p:regular r:id="rId43"/>
    </p:embeddedFont>
    <p:embeddedFont>
      <p:font typeface="Abhaya Libre Medium Italics" charset="1" panose="02000603000000000000"/>
      <p:regular r:id="rId44"/>
    </p:embeddedFont>
    <p:embeddedFont>
      <p:font typeface="Abhaya Libre Semi-Bold" charset="1" panose="02000703000000000000"/>
      <p:regular r:id="rId45"/>
    </p:embeddedFont>
    <p:embeddedFont>
      <p:font typeface="Abhaya Libre Semi-Bold Italics" charset="1" panose="02000703000000000000"/>
      <p:regular r:id="rId46"/>
    </p:embeddedFont>
    <p:embeddedFont>
      <p:font typeface="Abhaya Libre Ultra-Bold" charset="1" panose="02000803000000000000"/>
      <p:regular r:id="rId47"/>
    </p:embeddedFont>
    <p:embeddedFont>
      <p:font typeface="Abhaya Libre Ultra-Bold Italics" charset="1" panose="02000803000000000000"/>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slides/slide1.xml" Type="http://schemas.openxmlformats.org/officeDocument/2006/relationships/slide"/><Relationship Id="rId5" Target="tableStyles.xml" Type="http://schemas.openxmlformats.org/officeDocument/2006/relationships/tableStyles"/><Relationship Id="rId50" Target="slides/slide2.xml" Type="http://schemas.openxmlformats.org/officeDocument/2006/relationships/slide"/><Relationship Id="rId51" Target="slides/slide3.xml" Type="http://schemas.openxmlformats.org/officeDocument/2006/relationships/slide"/><Relationship Id="rId52" Target="slides/slide4.xml" Type="http://schemas.openxmlformats.org/officeDocument/2006/relationships/slide"/><Relationship Id="rId53" Target="slides/slide5.xml" Type="http://schemas.openxmlformats.org/officeDocument/2006/relationships/slide"/><Relationship Id="rId54" Target="slides/slide6.xml" Type="http://schemas.openxmlformats.org/officeDocument/2006/relationships/slide"/><Relationship Id="rId55" Target="slides/slide7.xml" Type="http://schemas.openxmlformats.org/officeDocument/2006/relationships/slide"/><Relationship Id="rId56" Target="slides/slide8.xml" Type="http://schemas.openxmlformats.org/officeDocument/2006/relationships/slide"/><Relationship Id="rId57" Target="slides/slide9.xml" Type="http://schemas.openxmlformats.org/officeDocument/2006/relationships/slide"/><Relationship Id="rId58" Target="slides/slide10.xml" Type="http://schemas.openxmlformats.org/officeDocument/2006/relationships/slide"/><Relationship Id="rId59" Target="slides/slide11.xml" Type="http://schemas.openxmlformats.org/officeDocument/2006/relationships/slide"/><Relationship Id="rId6" Target="fonts/font6.fntdata" Type="http://schemas.openxmlformats.org/officeDocument/2006/relationships/font"/><Relationship Id="rId60" Target="slides/slide12.xml" Type="http://schemas.openxmlformats.org/officeDocument/2006/relationships/slide"/><Relationship Id="rId61" Target="slides/slide13.xml" Type="http://schemas.openxmlformats.org/officeDocument/2006/relationships/slide"/><Relationship Id="rId62" Target="slides/slide14.xml" Type="http://schemas.openxmlformats.org/officeDocument/2006/relationships/slide"/><Relationship Id="rId63" Target="slides/slide15.xml" Type="http://schemas.openxmlformats.org/officeDocument/2006/relationships/slide"/><Relationship Id="rId64" Target="slides/slide16.xml" Type="http://schemas.openxmlformats.org/officeDocument/2006/relationships/slide"/><Relationship Id="rId65" Target="slides/slide17.xml" Type="http://schemas.openxmlformats.org/officeDocument/2006/relationships/slide"/><Relationship Id="rId66" Target="slides/slide18.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2327152" y="7860482"/>
            <a:ext cx="13633692" cy="1616720"/>
          </a:xfrm>
          <a:prstGeom prst="rect">
            <a:avLst/>
          </a:prstGeom>
        </p:spPr>
        <p:txBody>
          <a:bodyPr anchor="t" rtlCol="false" tIns="0" lIns="0" bIns="0" rIns="0">
            <a:spAutoFit/>
          </a:bodyPr>
          <a:lstStyle/>
          <a:p>
            <a:pPr algn="ctr">
              <a:lnSpc>
                <a:spcPts val="4320"/>
              </a:lnSpc>
            </a:pPr>
            <a:r>
              <a:rPr lang="en-US" sz="3600" spc="33">
                <a:solidFill>
                  <a:srgbClr val="385724"/>
                </a:solidFill>
                <a:latin typeface="TT Rounds Condensed Bold"/>
              </a:rPr>
              <a:t>Department of Electronics and Communication Engineering</a:t>
            </a:r>
          </a:p>
          <a:p>
            <a:pPr algn="ctr">
              <a:lnSpc>
                <a:spcPts val="4320"/>
              </a:lnSpc>
            </a:pPr>
            <a:r>
              <a:rPr lang="en-US" sz="3600" spc="33">
                <a:solidFill>
                  <a:srgbClr val="203864"/>
                </a:solidFill>
                <a:latin typeface="TT Rounds Condensed Bold"/>
              </a:rPr>
              <a:t>ROHINI College of Engineering &amp; Technology</a:t>
            </a:r>
          </a:p>
          <a:p>
            <a:pPr algn="ctr">
              <a:lnSpc>
                <a:spcPts val="3600"/>
              </a:lnSpc>
            </a:pPr>
            <a:r>
              <a:rPr lang="en-US" sz="3000" spc="28">
                <a:solidFill>
                  <a:srgbClr val="203864"/>
                </a:solidFill>
                <a:latin typeface="TT Rounds Condensed Bold"/>
              </a:rPr>
              <a:t>Kanyakumari Main Road, Palkulam, Anjugramam – 629 401</a:t>
            </a:r>
          </a:p>
        </p:txBody>
      </p:sp>
      <p:sp>
        <p:nvSpPr>
          <p:cNvPr name="Freeform 3" id="3" descr="Rohini College of Engineering &amp; Technology"/>
          <p:cNvSpPr/>
          <p:nvPr/>
        </p:nvSpPr>
        <p:spPr>
          <a:xfrm flipH="false" flipV="false" rot="0">
            <a:off x="7831392" y="5812200"/>
            <a:ext cx="2253497" cy="2107797"/>
          </a:xfrm>
          <a:custGeom>
            <a:avLst/>
            <a:gdLst/>
            <a:ahLst/>
            <a:cxnLst/>
            <a:rect r="r" b="b" t="t" l="l"/>
            <a:pathLst>
              <a:path h="2107797" w="2253497">
                <a:moveTo>
                  <a:pt x="0" y="0"/>
                </a:moveTo>
                <a:lnTo>
                  <a:pt x="2253496" y="0"/>
                </a:lnTo>
                <a:lnTo>
                  <a:pt x="2253496" y="2107797"/>
                </a:lnTo>
                <a:lnTo>
                  <a:pt x="0" y="2107797"/>
                </a:lnTo>
                <a:lnTo>
                  <a:pt x="0" y="0"/>
                </a:lnTo>
                <a:close/>
              </a:path>
            </a:pathLst>
          </a:custGeom>
          <a:blipFill>
            <a:blip r:embed="rId2"/>
            <a:stretch>
              <a:fillRect l="0" t="0" r="0" b="0"/>
            </a:stretch>
          </a:blipFill>
        </p:spPr>
      </p:sp>
      <p:grpSp>
        <p:nvGrpSpPr>
          <p:cNvPr name="Group 4" id="4"/>
          <p:cNvGrpSpPr/>
          <p:nvPr/>
        </p:nvGrpSpPr>
        <p:grpSpPr>
          <a:xfrm rot="0">
            <a:off x="416642" y="201589"/>
            <a:ext cx="17454716" cy="1654222"/>
            <a:chOff x="0" y="0"/>
            <a:chExt cx="4597127" cy="435680"/>
          </a:xfrm>
        </p:grpSpPr>
        <p:sp>
          <p:nvSpPr>
            <p:cNvPr name="Freeform 5" id="5"/>
            <p:cNvSpPr/>
            <p:nvPr/>
          </p:nvSpPr>
          <p:spPr>
            <a:xfrm flipH="false" flipV="false" rot="0">
              <a:off x="0" y="0"/>
              <a:ext cx="4597127" cy="435680"/>
            </a:xfrm>
            <a:custGeom>
              <a:avLst/>
              <a:gdLst/>
              <a:ahLst/>
              <a:cxnLst/>
              <a:rect r="r" b="b" t="t" l="l"/>
              <a:pathLst>
                <a:path h="435680" w="4597127">
                  <a:moveTo>
                    <a:pt x="22621" y="0"/>
                  </a:moveTo>
                  <a:lnTo>
                    <a:pt x="4574506" y="0"/>
                  </a:lnTo>
                  <a:cubicBezTo>
                    <a:pt x="4580505" y="0"/>
                    <a:pt x="4586259" y="2383"/>
                    <a:pt x="4590501" y="6625"/>
                  </a:cubicBezTo>
                  <a:cubicBezTo>
                    <a:pt x="4594744" y="10868"/>
                    <a:pt x="4597127" y="16621"/>
                    <a:pt x="4597127" y="22621"/>
                  </a:cubicBezTo>
                  <a:lnTo>
                    <a:pt x="4597127" y="413059"/>
                  </a:lnTo>
                  <a:cubicBezTo>
                    <a:pt x="4597127" y="425552"/>
                    <a:pt x="4586999" y="435680"/>
                    <a:pt x="4574506" y="435680"/>
                  </a:cubicBezTo>
                  <a:lnTo>
                    <a:pt x="22621" y="435680"/>
                  </a:lnTo>
                  <a:cubicBezTo>
                    <a:pt x="10128" y="435680"/>
                    <a:pt x="0" y="425552"/>
                    <a:pt x="0" y="413059"/>
                  </a:cubicBezTo>
                  <a:lnTo>
                    <a:pt x="0" y="22621"/>
                  </a:lnTo>
                  <a:cubicBezTo>
                    <a:pt x="0" y="10128"/>
                    <a:pt x="10128" y="0"/>
                    <a:pt x="22621" y="0"/>
                  </a:cubicBezTo>
                  <a:close/>
                </a:path>
              </a:pathLst>
            </a:custGeom>
            <a:solidFill>
              <a:srgbClr val="1F4E79"/>
            </a:solidFill>
          </p:spPr>
        </p:sp>
        <p:sp>
          <p:nvSpPr>
            <p:cNvPr name="TextBox 6" id="6"/>
            <p:cNvSpPr txBox="true"/>
            <p:nvPr/>
          </p:nvSpPr>
          <p:spPr>
            <a:xfrm>
              <a:off x="0" y="-38100"/>
              <a:ext cx="4597127" cy="473780"/>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5498904" y="4952827"/>
            <a:ext cx="6918468" cy="836295"/>
          </a:xfrm>
          <a:prstGeom prst="rect">
            <a:avLst/>
          </a:prstGeom>
        </p:spPr>
        <p:txBody>
          <a:bodyPr anchor="t" rtlCol="false" tIns="0" lIns="0" bIns="0" rIns="0">
            <a:spAutoFit/>
          </a:bodyPr>
          <a:lstStyle/>
          <a:p>
            <a:pPr algn="ctr">
              <a:lnSpc>
                <a:spcPts val="3240"/>
              </a:lnSpc>
            </a:pPr>
            <a:r>
              <a:rPr lang="en-US" sz="3000" spc="28">
                <a:solidFill>
                  <a:srgbClr val="385724"/>
                </a:solidFill>
                <a:latin typeface="TT Rounds Condensed Bold"/>
              </a:rPr>
              <a:t>Dr. M.Reji</a:t>
            </a:r>
          </a:p>
          <a:p>
            <a:pPr algn="ctr">
              <a:lnSpc>
                <a:spcPts val="3240"/>
              </a:lnSpc>
            </a:pPr>
            <a:r>
              <a:rPr lang="en-US" sz="3000" spc="28">
                <a:solidFill>
                  <a:srgbClr val="385724"/>
                </a:solidFill>
                <a:latin typeface="TT Rounds Condensed"/>
              </a:rPr>
              <a:t> Associate Professor/ECE</a:t>
            </a:r>
          </a:p>
        </p:txBody>
      </p:sp>
      <p:sp>
        <p:nvSpPr>
          <p:cNvPr name="TextBox 8" id="8"/>
          <p:cNvSpPr txBox="true"/>
          <p:nvPr/>
        </p:nvSpPr>
        <p:spPr>
          <a:xfrm rot="0">
            <a:off x="7178038" y="4446627"/>
            <a:ext cx="3931922" cy="518250"/>
          </a:xfrm>
          <a:prstGeom prst="rect">
            <a:avLst/>
          </a:prstGeom>
        </p:spPr>
        <p:txBody>
          <a:bodyPr anchor="t" rtlCol="false" tIns="0" lIns="0" bIns="0" rIns="0">
            <a:spAutoFit/>
          </a:bodyPr>
          <a:lstStyle/>
          <a:p>
            <a:pPr algn="l">
              <a:lnSpc>
                <a:spcPts val="3600"/>
              </a:lnSpc>
            </a:pPr>
            <a:r>
              <a:rPr lang="en-US" sz="3000" spc="28">
                <a:solidFill>
                  <a:srgbClr val="203864"/>
                </a:solidFill>
                <a:latin typeface="TT Rounds Condensed Bold Italics"/>
              </a:rPr>
              <a:t>Under the Guidance of </a:t>
            </a:r>
          </a:p>
        </p:txBody>
      </p:sp>
      <p:sp>
        <p:nvSpPr>
          <p:cNvPr name="TextBox 9" id="9"/>
          <p:cNvSpPr txBox="true"/>
          <p:nvPr/>
        </p:nvSpPr>
        <p:spPr>
          <a:xfrm rot="0">
            <a:off x="13624238" y="3067722"/>
            <a:ext cx="3931922" cy="1000125"/>
          </a:xfrm>
          <a:prstGeom prst="rect">
            <a:avLst/>
          </a:prstGeom>
        </p:spPr>
        <p:txBody>
          <a:bodyPr anchor="t" rtlCol="false" tIns="0" lIns="0" bIns="0" rIns="0">
            <a:spAutoFit/>
          </a:bodyPr>
          <a:lstStyle/>
          <a:p>
            <a:pPr algn="l">
              <a:lnSpc>
                <a:spcPts val="4320"/>
              </a:lnSpc>
            </a:pPr>
            <a:r>
              <a:rPr lang="en-US" sz="3600" spc="33">
                <a:solidFill>
                  <a:srgbClr val="203864"/>
                </a:solidFill>
                <a:latin typeface="TT Rounds Condensed Bold"/>
              </a:rPr>
              <a:t>A.Anton Nekesh</a:t>
            </a:r>
          </a:p>
          <a:p>
            <a:pPr algn="l" rtl="true">
              <a:lnSpc>
                <a:spcPts val="3600"/>
              </a:lnSpc>
            </a:pPr>
            <a:r>
              <a:rPr lang="en-US" sz="3000" spc="28">
                <a:solidFill>
                  <a:srgbClr val="385724"/>
                </a:solidFill>
                <a:latin typeface="TT Rounds Condensed"/>
              </a:rPr>
              <a:t>Reg. No.963320106020</a:t>
            </a:r>
          </a:p>
        </p:txBody>
      </p:sp>
      <p:sp>
        <p:nvSpPr>
          <p:cNvPr name="TextBox 10" id="10"/>
          <p:cNvSpPr txBox="true"/>
          <p:nvPr/>
        </p:nvSpPr>
        <p:spPr>
          <a:xfrm rot="0">
            <a:off x="782709" y="3067722"/>
            <a:ext cx="4201845" cy="1000125"/>
          </a:xfrm>
          <a:prstGeom prst="rect">
            <a:avLst/>
          </a:prstGeom>
        </p:spPr>
        <p:txBody>
          <a:bodyPr anchor="t" rtlCol="false" tIns="0" lIns="0" bIns="0" rIns="0">
            <a:spAutoFit/>
          </a:bodyPr>
          <a:lstStyle/>
          <a:p>
            <a:pPr algn="just">
              <a:lnSpc>
                <a:spcPts val="4320"/>
              </a:lnSpc>
            </a:pPr>
            <a:r>
              <a:rPr lang="en-US" sz="3600" spc="33">
                <a:solidFill>
                  <a:srgbClr val="203864"/>
                </a:solidFill>
                <a:latin typeface="TT Rounds Condensed Bold"/>
              </a:rPr>
              <a:t>B.Godwin</a:t>
            </a:r>
          </a:p>
          <a:p>
            <a:pPr algn="l" rtl="true">
              <a:lnSpc>
                <a:spcPts val="3600"/>
              </a:lnSpc>
            </a:pPr>
            <a:r>
              <a:rPr lang="en-US" sz="3000" spc="28">
                <a:solidFill>
                  <a:srgbClr val="385724"/>
                </a:solidFill>
                <a:latin typeface="TT Rounds Condensed"/>
              </a:rPr>
              <a:t>Reg. No.963320106049</a:t>
            </a:r>
          </a:p>
        </p:txBody>
      </p:sp>
      <p:sp>
        <p:nvSpPr>
          <p:cNvPr name="TextBox 11" id="11"/>
          <p:cNvSpPr txBox="true"/>
          <p:nvPr/>
        </p:nvSpPr>
        <p:spPr>
          <a:xfrm rot="0">
            <a:off x="5027593" y="3058197"/>
            <a:ext cx="3931921" cy="1009650"/>
          </a:xfrm>
          <a:prstGeom prst="rect">
            <a:avLst/>
          </a:prstGeom>
        </p:spPr>
        <p:txBody>
          <a:bodyPr anchor="t" rtlCol="false" tIns="0" lIns="0" bIns="0" rIns="0">
            <a:spAutoFit/>
          </a:bodyPr>
          <a:lstStyle/>
          <a:p>
            <a:pPr algn="l" rtl="true">
              <a:lnSpc>
                <a:spcPts val="4319"/>
              </a:lnSpc>
            </a:pPr>
            <a:r>
              <a:rPr lang="en-US" sz="3599" spc="32">
                <a:solidFill>
                  <a:srgbClr val="203864"/>
                </a:solidFill>
                <a:latin typeface="TT Rounds Condensed Bold"/>
              </a:rPr>
              <a:t>I.Azeer Lal </a:t>
            </a:r>
          </a:p>
          <a:p>
            <a:pPr algn="l" rtl="true">
              <a:lnSpc>
                <a:spcPts val="3600"/>
              </a:lnSpc>
            </a:pPr>
            <a:r>
              <a:rPr lang="en-US" sz="3000" spc="28">
                <a:solidFill>
                  <a:srgbClr val="385724"/>
                </a:solidFill>
                <a:latin typeface="TT Rounds Condensed"/>
              </a:rPr>
              <a:t>Reg. No.963320106027</a:t>
            </a:r>
            <a:r>
              <a:rPr lang="en-US" sz="3000" spc="28">
                <a:solidFill>
                  <a:srgbClr val="203864"/>
                </a:solidFill>
                <a:latin typeface="TT Rounds Condensed"/>
              </a:rPr>
              <a:t> </a:t>
            </a:r>
          </a:p>
        </p:txBody>
      </p:sp>
      <p:sp>
        <p:nvSpPr>
          <p:cNvPr name="TextBox 12" id="12"/>
          <p:cNvSpPr txBox="true"/>
          <p:nvPr/>
        </p:nvSpPr>
        <p:spPr>
          <a:xfrm rot="0">
            <a:off x="9322313" y="3067722"/>
            <a:ext cx="3735019" cy="1000125"/>
          </a:xfrm>
          <a:prstGeom prst="rect">
            <a:avLst/>
          </a:prstGeom>
        </p:spPr>
        <p:txBody>
          <a:bodyPr anchor="t" rtlCol="false" tIns="0" lIns="0" bIns="0" rIns="0">
            <a:spAutoFit/>
          </a:bodyPr>
          <a:lstStyle/>
          <a:p>
            <a:pPr algn="l">
              <a:lnSpc>
                <a:spcPts val="4320"/>
              </a:lnSpc>
            </a:pPr>
            <a:r>
              <a:rPr lang="en-US" sz="3600" spc="33">
                <a:solidFill>
                  <a:srgbClr val="203864"/>
                </a:solidFill>
                <a:latin typeface="TT Rounds Condensed Bold"/>
              </a:rPr>
              <a:t>C.M.Kabilesh</a:t>
            </a:r>
            <a:r>
              <a:rPr lang="en-US" sz="3600" spc="33">
                <a:solidFill>
                  <a:srgbClr val="203864"/>
                </a:solidFill>
                <a:latin typeface="TT Rounds Condensed Bold"/>
              </a:rPr>
              <a:t> </a:t>
            </a:r>
          </a:p>
          <a:p>
            <a:pPr algn="l">
              <a:lnSpc>
                <a:spcPts val="3600"/>
              </a:lnSpc>
            </a:pPr>
            <a:r>
              <a:rPr lang="en-US" sz="3000" spc="28">
                <a:solidFill>
                  <a:srgbClr val="385724"/>
                </a:solidFill>
                <a:latin typeface="TT Rounds Condensed"/>
              </a:rPr>
              <a:t>Reg. No.963320106061</a:t>
            </a:r>
          </a:p>
        </p:txBody>
      </p:sp>
      <p:sp>
        <p:nvSpPr>
          <p:cNvPr name="TextBox 13" id="13"/>
          <p:cNvSpPr txBox="true"/>
          <p:nvPr/>
        </p:nvSpPr>
        <p:spPr>
          <a:xfrm rot="0">
            <a:off x="7922830" y="9568641"/>
            <a:ext cx="2070616" cy="601058"/>
          </a:xfrm>
          <a:prstGeom prst="rect">
            <a:avLst/>
          </a:prstGeom>
        </p:spPr>
        <p:txBody>
          <a:bodyPr anchor="t" rtlCol="false" tIns="0" lIns="0" bIns="0" rIns="0">
            <a:spAutoFit/>
          </a:bodyPr>
          <a:lstStyle/>
          <a:p>
            <a:pPr algn="l">
              <a:lnSpc>
                <a:spcPts val="4320"/>
              </a:lnSpc>
            </a:pPr>
            <a:r>
              <a:rPr lang="en-US" sz="3600" spc="33">
                <a:solidFill>
                  <a:srgbClr val="385724"/>
                </a:solidFill>
                <a:latin typeface="TT Rounds Condensed Bold"/>
              </a:rPr>
              <a:t>April 2024</a:t>
            </a:r>
          </a:p>
        </p:txBody>
      </p:sp>
      <p:sp>
        <p:nvSpPr>
          <p:cNvPr name="TextBox 14" id="14"/>
          <p:cNvSpPr txBox="true"/>
          <p:nvPr/>
        </p:nvSpPr>
        <p:spPr>
          <a:xfrm rot="0">
            <a:off x="2505467" y="1839570"/>
            <a:ext cx="13633692" cy="979914"/>
          </a:xfrm>
          <a:prstGeom prst="rect">
            <a:avLst/>
          </a:prstGeom>
        </p:spPr>
        <p:txBody>
          <a:bodyPr anchor="t" rtlCol="false" tIns="0" lIns="0" bIns="0" rIns="0">
            <a:spAutoFit/>
          </a:bodyPr>
          <a:lstStyle/>
          <a:p>
            <a:pPr algn="ctr">
              <a:lnSpc>
                <a:spcPts val="3600"/>
              </a:lnSpc>
            </a:pPr>
            <a:r>
              <a:rPr lang="en-US" sz="3000" spc="28">
                <a:solidFill>
                  <a:srgbClr val="203864"/>
                </a:solidFill>
                <a:latin typeface="TT Rounds Condensed Bold Italics"/>
              </a:rPr>
              <a:t>Project Work done in partial fulfilment of the requirement for the degree of</a:t>
            </a:r>
          </a:p>
          <a:p>
            <a:pPr algn="ctr">
              <a:lnSpc>
                <a:spcPts val="3600"/>
              </a:lnSpc>
            </a:pPr>
            <a:r>
              <a:rPr lang="en-US" sz="3000" spc="28">
                <a:solidFill>
                  <a:srgbClr val="385724"/>
                </a:solidFill>
                <a:latin typeface="TT Rounds Condensed Bold Italics"/>
              </a:rPr>
              <a:t>Bachelor of Engineering in Electronics and Communication Engineering</a:t>
            </a:r>
          </a:p>
        </p:txBody>
      </p:sp>
      <p:sp>
        <p:nvSpPr>
          <p:cNvPr name="TextBox 15" id="15"/>
          <p:cNvSpPr txBox="true"/>
          <p:nvPr/>
        </p:nvSpPr>
        <p:spPr>
          <a:xfrm rot="0">
            <a:off x="3666767" y="747713"/>
            <a:ext cx="10954465" cy="657225"/>
          </a:xfrm>
          <a:prstGeom prst="rect">
            <a:avLst/>
          </a:prstGeom>
        </p:spPr>
        <p:txBody>
          <a:bodyPr anchor="t" rtlCol="false" tIns="0" lIns="0" bIns="0" rIns="0">
            <a:spAutoFit/>
          </a:bodyPr>
          <a:lstStyle/>
          <a:p>
            <a:pPr algn="ctr">
              <a:lnSpc>
                <a:spcPts val="5159"/>
              </a:lnSpc>
              <a:spcBef>
                <a:spcPct val="0"/>
              </a:spcBef>
            </a:pPr>
            <a:r>
              <a:rPr lang="en-US" sz="4299" spc="40">
                <a:solidFill>
                  <a:srgbClr val="FFFFFF"/>
                </a:solidFill>
                <a:latin typeface="TT Rounds Condensed Bold"/>
              </a:rPr>
              <a:t>ADVANCED POWER THEFT DETECTION SYSTEM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720425" y="1964506"/>
            <a:ext cx="16538875" cy="8148476"/>
          </a:xfrm>
          <a:prstGeom prst="rect">
            <a:avLst/>
          </a:prstGeom>
        </p:spPr>
        <p:txBody>
          <a:bodyPr anchor="t" rtlCol="false" tIns="0" lIns="0" bIns="0" rIns="0">
            <a:spAutoFit/>
          </a:bodyPr>
          <a:lstStyle/>
          <a:p>
            <a:pPr algn="l">
              <a:lnSpc>
                <a:spcPts val="4996"/>
              </a:lnSpc>
            </a:pPr>
            <a:r>
              <a:rPr lang="en-US" sz="3568">
                <a:solidFill>
                  <a:srgbClr val="000000"/>
                </a:solidFill>
                <a:latin typeface="Alatsi Bold"/>
              </a:rPr>
              <a:t>The Advanced Power Theft Detection System (APTD) presents an innovative solution for combating unauthorized power consumption within electrical systems.</a:t>
            </a:r>
          </a:p>
          <a:p>
            <a:pPr algn="l">
              <a:lnSpc>
                <a:spcPts val="4996"/>
              </a:lnSpc>
            </a:pPr>
          </a:p>
          <a:p>
            <a:pPr algn="l">
              <a:lnSpc>
                <a:spcPts val="4996"/>
              </a:lnSpc>
            </a:pPr>
            <a:r>
              <a:rPr lang="en-US" sz="3568">
                <a:solidFill>
                  <a:srgbClr val="000000"/>
                </a:solidFill>
                <a:latin typeface="Alatsi Bold"/>
              </a:rPr>
              <a:t>In operation, the Advanced Power Theft Detection System utilizes two ESP8266 modules, designated as the primary and secondary nodes. The primary node continuously monitors current flow within the electrical circuit using a current sensor, while the secondary node serves as a baseline comparison</a:t>
            </a:r>
          </a:p>
          <a:p>
            <a:pPr algn="l">
              <a:lnSpc>
                <a:spcPts val="4996"/>
              </a:lnSpc>
            </a:pPr>
          </a:p>
          <a:p>
            <a:pPr algn="l">
              <a:lnSpc>
                <a:spcPts val="4996"/>
              </a:lnSpc>
            </a:pPr>
            <a:r>
              <a:rPr lang="en-US" sz="3568">
                <a:solidFill>
                  <a:srgbClr val="000000"/>
                </a:solidFill>
                <a:latin typeface="Alatsi Bold"/>
              </a:rPr>
              <a:t>The parameter like voltage and current of the Advanced Power Theft Detection are done and monitor the energy consumption, thereby mitigating financial losses, enhancing system reliability, and promoting equitable access to electricity resources. </a:t>
            </a:r>
          </a:p>
          <a:p>
            <a:pPr algn="l">
              <a:lnSpc>
                <a:spcPts val="4996"/>
              </a:lnSpc>
            </a:pPr>
          </a:p>
        </p:txBody>
      </p:sp>
      <p:sp>
        <p:nvSpPr>
          <p:cNvPr name="Freeform 3" id="3"/>
          <p:cNvSpPr/>
          <p:nvPr/>
        </p:nvSpPr>
        <p:spPr>
          <a:xfrm flipH="false" flipV="false" rot="0">
            <a:off x="13601700"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699008" y="9392985"/>
            <a:ext cx="19619868" cy="407670"/>
            <a:chOff x="0" y="0"/>
            <a:chExt cx="26159824" cy="543560"/>
          </a:xfrm>
        </p:grpSpPr>
        <p:sp>
          <p:nvSpPr>
            <p:cNvPr name="TextBox 5" id="5"/>
            <p:cNvSpPr txBox="true"/>
            <p:nvPr/>
          </p:nvSpPr>
          <p:spPr>
            <a:xfrm rot="0">
              <a:off x="8544717" y="-57150"/>
              <a:ext cx="9176144" cy="60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Advanced Power Theft Detection</a:t>
              </a:r>
            </a:p>
          </p:txBody>
        </p:sp>
        <p:sp>
          <p:nvSpPr>
            <p:cNvPr name="AutoShape 6" id="6"/>
            <p:cNvSpPr/>
            <p:nvPr/>
          </p:nvSpPr>
          <p:spPr>
            <a:xfrm>
              <a:off x="204" y="284480"/>
              <a:ext cx="9473686" cy="25400"/>
            </a:xfrm>
            <a:prstGeom prst="line">
              <a:avLst/>
            </a:prstGeom>
            <a:ln cap="flat" w="152400">
              <a:solidFill>
                <a:srgbClr val="9FC3D0"/>
              </a:solidFill>
              <a:prstDash val="solid"/>
              <a:headEnd type="none" len="sm" w="sm"/>
              <a:tailEnd type="none" len="sm" w="sm"/>
            </a:ln>
          </p:spPr>
        </p:sp>
        <p:sp>
          <p:nvSpPr>
            <p:cNvPr name="AutoShape 7" id="7"/>
            <p:cNvSpPr/>
            <p:nvPr/>
          </p:nvSpPr>
          <p:spPr>
            <a:xfrm>
              <a:off x="16685934" y="271780"/>
              <a:ext cx="9473686" cy="25400"/>
            </a:xfrm>
            <a:prstGeom prst="line">
              <a:avLst/>
            </a:prstGeom>
            <a:ln cap="flat" w="152400">
              <a:solidFill>
                <a:srgbClr val="9FC3D0"/>
              </a:solidFill>
              <a:prstDash val="solid"/>
              <a:headEnd type="none" len="sm" w="sm"/>
              <a:tailEnd type="none" len="sm" w="sm"/>
            </a:ln>
          </p:spPr>
        </p:sp>
      </p:grpSp>
      <p:sp>
        <p:nvSpPr>
          <p:cNvPr name="TextBox 8" id="8"/>
          <p:cNvSpPr txBox="true"/>
          <p:nvPr/>
        </p:nvSpPr>
        <p:spPr>
          <a:xfrm rot="0">
            <a:off x="2553980" y="446855"/>
            <a:ext cx="13180039"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ABSTRACT</a:t>
            </a:r>
          </a:p>
        </p:txBody>
      </p:sp>
      <p:grpSp>
        <p:nvGrpSpPr>
          <p:cNvPr name="Group 9" id="9"/>
          <p:cNvGrpSpPr/>
          <p:nvPr/>
        </p:nvGrpSpPr>
        <p:grpSpPr>
          <a:xfrm rot="0">
            <a:off x="15859155" y="0"/>
            <a:ext cx="1562612" cy="1673225"/>
            <a:chOff x="0" y="0"/>
            <a:chExt cx="2083482" cy="2230967"/>
          </a:xfrm>
        </p:grpSpPr>
        <p:grpSp>
          <p:nvGrpSpPr>
            <p:cNvPr name="Group 10" id="10"/>
            <p:cNvGrpSpPr/>
            <p:nvPr/>
          </p:nvGrpSpPr>
          <p:grpSpPr>
            <a:xfrm rot="0">
              <a:off x="75599" y="0"/>
              <a:ext cx="1932284" cy="2230967"/>
              <a:chOff x="0" y="0"/>
              <a:chExt cx="703982" cy="812800"/>
            </a:xfrm>
          </p:grpSpPr>
          <p:sp>
            <p:nvSpPr>
              <p:cNvPr name="Freeform 11" id="11"/>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2" id="12"/>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1</a:t>
              </a:r>
            </a:p>
          </p:txBody>
        </p:sp>
      </p:grpSp>
      <p:sp>
        <p:nvSpPr>
          <p:cNvPr name="Freeform 14" id="14"/>
          <p:cNvSpPr/>
          <p:nvPr/>
        </p:nvSpPr>
        <p:spPr>
          <a:xfrm flipH="false" flipV="false" rot="0">
            <a:off x="-3142138"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2553980" y="417513"/>
            <a:ext cx="13180039"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OVERVIEW</a:t>
            </a:r>
          </a:p>
        </p:txBody>
      </p:sp>
      <p:sp>
        <p:nvSpPr>
          <p:cNvPr name="TextBox 3" id="3"/>
          <p:cNvSpPr txBox="true"/>
          <p:nvPr/>
        </p:nvSpPr>
        <p:spPr>
          <a:xfrm rot="0">
            <a:off x="1221986" y="3305470"/>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Introduction</a:t>
            </a:r>
          </a:p>
        </p:txBody>
      </p:sp>
      <p:sp>
        <p:nvSpPr>
          <p:cNvPr name="TextBox 4" id="4"/>
          <p:cNvSpPr txBox="true"/>
          <p:nvPr/>
        </p:nvSpPr>
        <p:spPr>
          <a:xfrm rot="0">
            <a:off x="1221986" y="4408805"/>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Existing System</a:t>
            </a:r>
          </a:p>
        </p:txBody>
      </p:sp>
      <p:sp>
        <p:nvSpPr>
          <p:cNvPr name="TextBox 5" id="5"/>
          <p:cNvSpPr txBox="true"/>
          <p:nvPr/>
        </p:nvSpPr>
        <p:spPr>
          <a:xfrm rot="0">
            <a:off x="1221986" y="5512140"/>
            <a:ext cx="5241454"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Components</a:t>
            </a:r>
          </a:p>
        </p:txBody>
      </p:sp>
      <p:sp>
        <p:nvSpPr>
          <p:cNvPr name="TextBox 6" id="6"/>
          <p:cNvSpPr txBox="true"/>
          <p:nvPr/>
        </p:nvSpPr>
        <p:spPr>
          <a:xfrm rot="0">
            <a:off x="1221986" y="6618310"/>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Parameters</a:t>
            </a:r>
          </a:p>
        </p:txBody>
      </p:sp>
      <p:sp>
        <p:nvSpPr>
          <p:cNvPr name="TextBox 7" id="7"/>
          <p:cNvSpPr txBox="true"/>
          <p:nvPr/>
        </p:nvSpPr>
        <p:spPr>
          <a:xfrm rot="0">
            <a:off x="6444390" y="3305470"/>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Objectives</a:t>
            </a:r>
          </a:p>
        </p:txBody>
      </p:sp>
      <p:sp>
        <p:nvSpPr>
          <p:cNvPr name="TextBox 8" id="8"/>
          <p:cNvSpPr txBox="true"/>
          <p:nvPr/>
        </p:nvSpPr>
        <p:spPr>
          <a:xfrm rot="0">
            <a:off x="6444390" y="4408805"/>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Proposed System</a:t>
            </a:r>
          </a:p>
        </p:txBody>
      </p:sp>
      <p:sp>
        <p:nvSpPr>
          <p:cNvPr name="TextBox 9" id="9"/>
          <p:cNvSpPr txBox="true"/>
          <p:nvPr/>
        </p:nvSpPr>
        <p:spPr>
          <a:xfrm rot="0">
            <a:off x="6444390" y="5512140"/>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Features</a:t>
            </a:r>
          </a:p>
        </p:txBody>
      </p:sp>
      <p:sp>
        <p:nvSpPr>
          <p:cNvPr name="TextBox 10" id="10"/>
          <p:cNvSpPr txBox="true"/>
          <p:nvPr/>
        </p:nvSpPr>
        <p:spPr>
          <a:xfrm rot="0">
            <a:off x="6444390" y="6615475"/>
            <a:ext cx="5055568"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Output and Result</a:t>
            </a:r>
          </a:p>
        </p:txBody>
      </p:sp>
      <p:sp>
        <p:nvSpPr>
          <p:cNvPr name="TextBox 11" id="11"/>
          <p:cNvSpPr txBox="true"/>
          <p:nvPr/>
        </p:nvSpPr>
        <p:spPr>
          <a:xfrm rot="0">
            <a:off x="11890224" y="3305470"/>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Literature Survey</a:t>
            </a:r>
          </a:p>
        </p:txBody>
      </p:sp>
      <p:sp>
        <p:nvSpPr>
          <p:cNvPr name="TextBox 12" id="12"/>
          <p:cNvSpPr txBox="true"/>
          <p:nvPr/>
        </p:nvSpPr>
        <p:spPr>
          <a:xfrm rot="0">
            <a:off x="11890224" y="4408805"/>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Block Diagram</a:t>
            </a:r>
          </a:p>
        </p:txBody>
      </p:sp>
      <p:sp>
        <p:nvSpPr>
          <p:cNvPr name="TextBox 13" id="13"/>
          <p:cNvSpPr txBox="true"/>
          <p:nvPr/>
        </p:nvSpPr>
        <p:spPr>
          <a:xfrm rot="0">
            <a:off x="11890224" y="5512140"/>
            <a:ext cx="5369076"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Application</a:t>
            </a:r>
          </a:p>
        </p:txBody>
      </p:sp>
      <p:sp>
        <p:nvSpPr>
          <p:cNvPr name="TextBox 14" id="14"/>
          <p:cNvSpPr txBox="true"/>
          <p:nvPr/>
        </p:nvSpPr>
        <p:spPr>
          <a:xfrm rot="0">
            <a:off x="6444390" y="7721645"/>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Thank You</a:t>
            </a:r>
          </a:p>
        </p:txBody>
      </p:sp>
      <p:grpSp>
        <p:nvGrpSpPr>
          <p:cNvPr name="Group 15" id="15"/>
          <p:cNvGrpSpPr/>
          <p:nvPr/>
        </p:nvGrpSpPr>
        <p:grpSpPr>
          <a:xfrm rot="0">
            <a:off x="15859155" y="0"/>
            <a:ext cx="1562612" cy="1673225"/>
            <a:chOff x="0" y="0"/>
            <a:chExt cx="2083482" cy="2230967"/>
          </a:xfrm>
        </p:grpSpPr>
        <p:grpSp>
          <p:nvGrpSpPr>
            <p:cNvPr name="Group 16" id="16"/>
            <p:cNvGrpSpPr/>
            <p:nvPr/>
          </p:nvGrpSpPr>
          <p:grpSpPr>
            <a:xfrm rot="0">
              <a:off x="75599" y="0"/>
              <a:ext cx="1932284" cy="2230967"/>
              <a:chOff x="0" y="0"/>
              <a:chExt cx="703982" cy="812800"/>
            </a:xfrm>
          </p:grpSpPr>
          <p:sp>
            <p:nvSpPr>
              <p:cNvPr name="Freeform 17" id="17"/>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8" id="18"/>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2</a:t>
              </a:r>
            </a:p>
          </p:txBody>
        </p:sp>
      </p:grpSp>
      <p:sp>
        <p:nvSpPr>
          <p:cNvPr name="Freeform 20" id="20"/>
          <p:cNvSpPr/>
          <p:nvPr/>
        </p:nvSpPr>
        <p:spPr>
          <a:xfrm flipH="false" flipV="false" rot="0">
            <a:off x="-3019968" y="-143863"/>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3467812" y="711267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2" id="22"/>
          <p:cNvGrpSpPr/>
          <p:nvPr/>
        </p:nvGrpSpPr>
        <p:grpSpPr>
          <a:xfrm rot="0">
            <a:off x="-699008" y="9392985"/>
            <a:ext cx="19619868" cy="407670"/>
            <a:chOff x="0" y="0"/>
            <a:chExt cx="26159824" cy="543560"/>
          </a:xfrm>
        </p:grpSpPr>
        <p:sp>
          <p:nvSpPr>
            <p:cNvPr name="TextBox 23" id="23"/>
            <p:cNvSpPr txBox="true"/>
            <p:nvPr/>
          </p:nvSpPr>
          <p:spPr>
            <a:xfrm rot="0">
              <a:off x="8544717" y="-57150"/>
              <a:ext cx="9176144" cy="60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Advanced Power Theft Detection</a:t>
              </a:r>
            </a:p>
          </p:txBody>
        </p:sp>
        <p:sp>
          <p:nvSpPr>
            <p:cNvPr name="AutoShape 24" id="24"/>
            <p:cNvSpPr/>
            <p:nvPr/>
          </p:nvSpPr>
          <p:spPr>
            <a:xfrm>
              <a:off x="204" y="284480"/>
              <a:ext cx="9473686" cy="25400"/>
            </a:xfrm>
            <a:prstGeom prst="line">
              <a:avLst/>
            </a:prstGeom>
            <a:ln cap="flat" w="152400">
              <a:solidFill>
                <a:srgbClr val="9FC3D0"/>
              </a:solidFill>
              <a:prstDash val="solid"/>
              <a:headEnd type="none" len="sm" w="sm"/>
              <a:tailEnd type="none" len="sm" w="sm"/>
            </a:ln>
          </p:spPr>
        </p:sp>
        <p:sp>
          <p:nvSpPr>
            <p:cNvPr name="AutoShape 25" id="25"/>
            <p:cNvSpPr/>
            <p:nvPr/>
          </p:nvSpPr>
          <p:spPr>
            <a:xfrm>
              <a:off x="16685934" y="271780"/>
              <a:ext cx="9473686" cy="25400"/>
            </a:xfrm>
            <a:prstGeom prst="line">
              <a:avLst/>
            </a:prstGeom>
            <a:ln cap="flat" w="152400">
              <a:solidFill>
                <a:srgbClr val="9FC3D0"/>
              </a:solidFill>
              <a:prstDash val="solid"/>
              <a:headEnd type="none" len="sm" w="sm"/>
              <a:tailEnd type="none" len="sm" w="sm"/>
            </a:ln>
          </p:spPr>
        </p:sp>
      </p:grpSp>
      <p:sp>
        <p:nvSpPr>
          <p:cNvPr name="TextBox 26" id="26"/>
          <p:cNvSpPr txBox="true"/>
          <p:nvPr/>
        </p:nvSpPr>
        <p:spPr>
          <a:xfrm rot="0">
            <a:off x="1221986" y="7724480"/>
            <a:ext cx="5055568"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Reference</a:t>
            </a:r>
          </a:p>
        </p:txBody>
      </p:sp>
      <p:sp>
        <p:nvSpPr>
          <p:cNvPr name="TextBox 27" id="27"/>
          <p:cNvSpPr txBox="true"/>
          <p:nvPr/>
        </p:nvSpPr>
        <p:spPr>
          <a:xfrm rot="0">
            <a:off x="11890224" y="6615475"/>
            <a:ext cx="5055568"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Conclusion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Freeform 2" id="2"/>
          <p:cNvSpPr/>
          <p:nvPr/>
        </p:nvSpPr>
        <p:spPr>
          <a:xfrm flipH="false" flipV="false" rot="0">
            <a:off x="12759714"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553980" y="397254"/>
            <a:ext cx="13180039"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INTRODUCTION</a:t>
            </a:r>
          </a:p>
        </p:txBody>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3</a:t>
              </a:r>
            </a:p>
          </p:txBody>
        </p:sp>
      </p:grpSp>
      <p:sp>
        <p:nvSpPr>
          <p:cNvPr name="Freeform 9" id="9"/>
          <p:cNvSpPr/>
          <p:nvPr/>
        </p:nvSpPr>
        <p:spPr>
          <a:xfrm flipH="false" flipV="false" rot="0">
            <a:off x="-3657600" y="-35187"/>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415346" y="2557322"/>
            <a:ext cx="17391160" cy="5180193"/>
          </a:xfrm>
          <a:prstGeom prst="rect">
            <a:avLst/>
          </a:prstGeom>
        </p:spPr>
        <p:txBody>
          <a:bodyPr anchor="t" rtlCol="false" tIns="0" lIns="0" bIns="0" rIns="0">
            <a:spAutoFit/>
          </a:bodyPr>
          <a:lstStyle/>
          <a:p>
            <a:pPr algn="l" marL="902546" indent="-451273" lvl="1">
              <a:lnSpc>
                <a:spcPts val="5852"/>
              </a:lnSpc>
              <a:buFont typeface="Arial"/>
              <a:buChar char="•"/>
            </a:pPr>
            <a:r>
              <a:rPr lang="en-US" sz="4180">
                <a:solidFill>
                  <a:srgbClr val="000000"/>
                </a:solidFill>
                <a:latin typeface="Alatsi Bold"/>
              </a:rPr>
              <a:t>Electricity theft is a very common problem, especially in our country. </a:t>
            </a:r>
          </a:p>
          <a:p>
            <a:pPr algn="l">
              <a:lnSpc>
                <a:spcPts val="5852"/>
              </a:lnSpc>
            </a:pPr>
          </a:p>
          <a:p>
            <a:pPr algn="l" marL="902546" indent="-451273" lvl="1">
              <a:lnSpc>
                <a:spcPts val="5852"/>
              </a:lnSpc>
              <a:buFont typeface="Arial"/>
              <a:buChar char="•"/>
            </a:pPr>
            <a:r>
              <a:rPr lang="en-US" sz="4180">
                <a:solidFill>
                  <a:srgbClr val="000000"/>
                </a:solidFill>
                <a:latin typeface="Alatsi Bold"/>
              </a:rPr>
              <a:t>As our population is high so the use of electricity is tremendously high. </a:t>
            </a:r>
          </a:p>
          <a:p>
            <a:pPr algn="l">
              <a:lnSpc>
                <a:spcPts val="5852"/>
              </a:lnSpc>
            </a:pPr>
          </a:p>
          <a:p>
            <a:pPr algn="l" marL="902546" indent="-451273" lvl="1">
              <a:lnSpc>
                <a:spcPts val="5852"/>
              </a:lnSpc>
              <a:buFont typeface="Arial"/>
              <a:buChar char="•"/>
            </a:pPr>
            <a:r>
              <a:rPr lang="en-US" sz="4180">
                <a:solidFill>
                  <a:srgbClr val="000000"/>
                </a:solidFill>
                <a:latin typeface="Alatsi Bold"/>
              </a:rPr>
              <a:t>There are many operational losses involve in the generation, transmission, and distribution of electrical energy. </a:t>
            </a:r>
          </a:p>
          <a:p>
            <a:pPr algn="l">
              <a:lnSpc>
                <a:spcPts val="5852"/>
              </a:lnSpc>
            </a:pPr>
          </a:p>
        </p:txBody>
      </p:sp>
      <p:grpSp>
        <p:nvGrpSpPr>
          <p:cNvPr name="Group 11" id="11"/>
          <p:cNvGrpSpPr/>
          <p:nvPr/>
        </p:nvGrpSpPr>
        <p:grpSpPr>
          <a:xfrm rot="0">
            <a:off x="-699008" y="9392985"/>
            <a:ext cx="19619868" cy="407670"/>
            <a:chOff x="0" y="0"/>
            <a:chExt cx="26159824" cy="543560"/>
          </a:xfrm>
        </p:grpSpPr>
        <p:sp>
          <p:nvSpPr>
            <p:cNvPr name="TextBox 12" id="12"/>
            <p:cNvSpPr txBox="true"/>
            <p:nvPr/>
          </p:nvSpPr>
          <p:spPr>
            <a:xfrm rot="0">
              <a:off x="8544717" y="-57150"/>
              <a:ext cx="9176144" cy="60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Advanced Power Theft Detection</a:t>
              </a:r>
            </a:p>
          </p:txBody>
        </p:sp>
        <p:sp>
          <p:nvSpPr>
            <p:cNvPr name="AutoShape 13" id="13"/>
            <p:cNvSpPr/>
            <p:nvPr/>
          </p:nvSpPr>
          <p:spPr>
            <a:xfrm>
              <a:off x="204" y="284480"/>
              <a:ext cx="9473686" cy="25400"/>
            </a:xfrm>
            <a:prstGeom prst="line">
              <a:avLst/>
            </a:prstGeom>
            <a:ln cap="flat" w="152400">
              <a:solidFill>
                <a:srgbClr val="9FC3D0"/>
              </a:solidFill>
              <a:prstDash val="solid"/>
              <a:headEnd type="none" len="sm" w="sm"/>
              <a:tailEnd type="none" len="sm" w="sm"/>
            </a:ln>
          </p:spPr>
        </p:sp>
        <p:sp>
          <p:nvSpPr>
            <p:cNvPr name="AutoShape 14" id="14"/>
            <p:cNvSpPr/>
            <p:nvPr/>
          </p:nvSpPr>
          <p:spPr>
            <a:xfrm>
              <a:off x="16685934" y="271780"/>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322263"/>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OBJECTIVES</a:t>
            </a:r>
          </a:p>
        </p:txBody>
      </p:sp>
      <p:sp>
        <p:nvSpPr>
          <p:cNvPr name="Freeform 3" id="3"/>
          <p:cNvSpPr/>
          <p:nvPr/>
        </p:nvSpPr>
        <p:spPr>
          <a:xfrm flipH="false" flipV="false" rot="0">
            <a:off x="13239678"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9979649" y="2317751"/>
            <a:ext cx="7362681" cy="2276599"/>
            <a:chOff x="0" y="0"/>
            <a:chExt cx="1939142" cy="599598"/>
          </a:xfrm>
        </p:grpSpPr>
        <p:sp>
          <p:nvSpPr>
            <p:cNvPr name="Freeform 5" id="5"/>
            <p:cNvSpPr/>
            <p:nvPr/>
          </p:nvSpPr>
          <p:spPr>
            <a:xfrm flipH="false" flipV="false" rot="0">
              <a:off x="0" y="0"/>
              <a:ext cx="1939142" cy="599598"/>
            </a:xfrm>
            <a:custGeom>
              <a:avLst/>
              <a:gdLst/>
              <a:ahLst/>
              <a:cxnLst/>
              <a:rect r="r" b="b" t="t" l="l"/>
              <a:pathLst>
                <a:path h="599598" w="1939142">
                  <a:moveTo>
                    <a:pt x="53627" y="0"/>
                  </a:moveTo>
                  <a:lnTo>
                    <a:pt x="1885515" y="0"/>
                  </a:lnTo>
                  <a:cubicBezTo>
                    <a:pt x="1915133" y="0"/>
                    <a:pt x="1939142" y="24010"/>
                    <a:pt x="1939142" y="53627"/>
                  </a:cubicBezTo>
                  <a:lnTo>
                    <a:pt x="1939142" y="545971"/>
                  </a:lnTo>
                  <a:cubicBezTo>
                    <a:pt x="1939142" y="560194"/>
                    <a:pt x="1933492" y="573834"/>
                    <a:pt x="1923435" y="583891"/>
                  </a:cubicBezTo>
                  <a:cubicBezTo>
                    <a:pt x="1913378" y="593948"/>
                    <a:pt x="1899738" y="599598"/>
                    <a:pt x="1885515" y="599598"/>
                  </a:cubicBezTo>
                  <a:lnTo>
                    <a:pt x="53627" y="599598"/>
                  </a:lnTo>
                  <a:cubicBezTo>
                    <a:pt x="39404" y="599598"/>
                    <a:pt x="25764" y="593948"/>
                    <a:pt x="15707" y="583891"/>
                  </a:cubicBezTo>
                  <a:cubicBezTo>
                    <a:pt x="5650" y="573834"/>
                    <a:pt x="0" y="560194"/>
                    <a:pt x="0" y="545971"/>
                  </a:cubicBezTo>
                  <a:lnTo>
                    <a:pt x="0" y="53627"/>
                  </a:lnTo>
                  <a:cubicBezTo>
                    <a:pt x="0" y="39404"/>
                    <a:pt x="5650" y="25764"/>
                    <a:pt x="15707" y="15707"/>
                  </a:cubicBezTo>
                  <a:cubicBezTo>
                    <a:pt x="25764" y="5650"/>
                    <a:pt x="39404" y="0"/>
                    <a:pt x="53627" y="0"/>
                  </a:cubicBezTo>
                  <a:close/>
                </a:path>
              </a:pathLst>
            </a:custGeom>
            <a:solidFill>
              <a:srgbClr val="E9C7C6"/>
            </a:solidFill>
          </p:spPr>
        </p:sp>
        <p:sp>
          <p:nvSpPr>
            <p:cNvPr name="TextBox 6" id="6"/>
            <p:cNvSpPr txBox="true"/>
            <p:nvPr/>
          </p:nvSpPr>
          <p:spPr>
            <a:xfrm>
              <a:off x="0" y="-38100"/>
              <a:ext cx="1939142" cy="637698"/>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0424702" y="3230563"/>
            <a:ext cx="6472576" cy="941070"/>
          </a:xfrm>
          <a:prstGeom prst="rect">
            <a:avLst/>
          </a:prstGeom>
        </p:spPr>
        <p:txBody>
          <a:bodyPr anchor="t" rtlCol="false" tIns="0" lIns="0" bIns="0" rIns="0">
            <a:spAutoFit/>
          </a:bodyPr>
          <a:lstStyle/>
          <a:p>
            <a:pPr algn="l">
              <a:lnSpc>
                <a:spcPts val="3780"/>
              </a:lnSpc>
            </a:pPr>
            <a:r>
              <a:rPr lang="en-US" sz="2700">
                <a:solidFill>
                  <a:srgbClr val="000000"/>
                </a:solidFill>
                <a:latin typeface="Alatsi Bold"/>
              </a:rPr>
              <a:t>Conduct thorough testing, including simulations and practical implementation</a:t>
            </a:r>
          </a:p>
        </p:txBody>
      </p:sp>
      <p:grpSp>
        <p:nvGrpSpPr>
          <p:cNvPr name="Group 8" id="8"/>
          <p:cNvGrpSpPr/>
          <p:nvPr/>
        </p:nvGrpSpPr>
        <p:grpSpPr>
          <a:xfrm rot="0">
            <a:off x="1075925" y="2317751"/>
            <a:ext cx="7362681" cy="2276599"/>
            <a:chOff x="0" y="0"/>
            <a:chExt cx="9816907" cy="3035465"/>
          </a:xfrm>
        </p:grpSpPr>
        <p:grpSp>
          <p:nvGrpSpPr>
            <p:cNvPr name="Group 9" id="9"/>
            <p:cNvGrpSpPr/>
            <p:nvPr/>
          </p:nvGrpSpPr>
          <p:grpSpPr>
            <a:xfrm rot="0">
              <a:off x="0" y="0"/>
              <a:ext cx="9816907" cy="3035465"/>
              <a:chOff x="0" y="0"/>
              <a:chExt cx="1939142" cy="599598"/>
            </a:xfrm>
          </p:grpSpPr>
          <p:sp>
            <p:nvSpPr>
              <p:cNvPr name="Freeform 10" id="10"/>
              <p:cNvSpPr/>
              <p:nvPr/>
            </p:nvSpPr>
            <p:spPr>
              <a:xfrm flipH="false" flipV="false" rot="0">
                <a:off x="0" y="0"/>
                <a:ext cx="1939142" cy="599598"/>
              </a:xfrm>
              <a:custGeom>
                <a:avLst/>
                <a:gdLst/>
                <a:ahLst/>
                <a:cxnLst/>
                <a:rect r="r" b="b" t="t" l="l"/>
                <a:pathLst>
                  <a:path h="599598" w="1939142">
                    <a:moveTo>
                      <a:pt x="53627" y="0"/>
                    </a:moveTo>
                    <a:lnTo>
                      <a:pt x="1885515" y="0"/>
                    </a:lnTo>
                    <a:cubicBezTo>
                      <a:pt x="1915133" y="0"/>
                      <a:pt x="1939142" y="24010"/>
                      <a:pt x="1939142" y="53627"/>
                    </a:cubicBezTo>
                    <a:lnTo>
                      <a:pt x="1939142" y="545971"/>
                    </a:lnTo>
                    <a:cubicBezTo>
                      <a:pt x="1939142" y="560194"/>
                      <a:pt x="1933492" y="573834"/>
                      <a:pt x="1923435" y="583891"/>
                    </a:cubicBezTo>
                    <a:cubicBezTo>
                      <a:pt x="1913378" y="593948"/>
                      <a:pt x="1899738" y="599598"/>
                      <a:pt x="1885515" y="599598"/>
                    </a:cubicBezTo>
                    <a:lnTo>
                      <a:pt x="53627" y="599598"/>
                    </a:lnTo>
                    <a:cubicBezTo>
                      <a:pt x="39404" y="599598"/>
                      <a:pt x="25764" y="593948"/>
                      <a:pt x="15707" y="583891"/>
                    </a:cubicBezTo>
                    <a:cubicBezTo>
                      <a:pt x="5650" y="573834"/>
                      <a:pt x="0" y="560194"/>
                      <a:pt x="0" y="545971"/>
                    </a:cubicBezTo>
                    <a:lnTo>
                      <a:pt x="0" y="53627"/>
                    </a:lnTo>
                    <a:cubicBezTo>
                      <a:pt x="0" y="39404"/>
                      <a:pt x="5650" y="25764"/>
                      <a:pt x="15707" y="15707"/>
                    </a:cubicBezTo>
                    <a:cubicBezTo>
                      <a:pt x="25764" y="5650"/>
                      <a:pt x="39404" y="0"/>
                      <a:pt x="53627" y="0"/>
                    </a:cubicBezTo>
                    <a:close/>
                  </a:path>
                </a:pathLst>
              </a:custGeom>
              <a:solidFill>
                <a:srgbClr val="E9C7C6"/>
              </a:solidFill>
            </p:spPr>
          </p:sp>
          <p:sp>
            <p:nvSpPr>
              <p:cNvPr name="TextBox 11" id="11"/>
              <p:cNvSpPr txBox="true"/>
              <p:nvPr/>
            </p:nvSpPr>
            <p:spPr>
              <a:xfrm>
                <a:off x="0" y="-38100"/>
                <a:ext cx="1939142" cy="637698"/>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793944" y="1351695"/>
              <a:ext cx="8229019" cy="1282718"/>
            </a:xfrm>
            <a:prstGeom prst="rect">
              <a:avLst/>
            </a:prstGeom>
          </p:spPr>
          <p:txBody>
            <a:bodyPr anchor="t" rtlCol="false" tIns="0" lIns="0" bIns="0" rIns="0">
              <a:spAutoFit/>
            </a:bodyPr>
            <a:lstStyle/>
            <a:p>
              <a:pPr algn="l">
                <a:lnSpc>
                  <a:spcPts val="3936"/>
                </a:lnSpc>
              </a:pPr>
              <a:r>
                <a:rPr lang="en-US" sz="2811">
                  <a:solidFill>
                    <a:srgbClr val="000000"/>
                  </a:solidFill>
                  <a:latin typeface="Alatsi Bold"/>
                </a:rPr>
                <a:t> Develop a system capable of detecting instances of electricity theft</a:t>
              </a:r>
            </a:p>
          </p:txBody>
        </p:sp>
        <p:sp>
          <p:nvSpPr>
            <p:cNvPr name="TextBox 13" id="13"/>
            <p:cNvSpPr txBox="true"/>
            <p:nvPr/>
          </p:nvSpPr>
          <p:spPr>
            <a:xfrm rot="0">
              <a:off x="1127277" y="295424"/>
              <a:ext cx="6079646" cy="770987"/>
            </a:xfrm>
            <a:prstGeom prst="rect">
              <a:avLst/>
            </a:prstGeom>
          </p:spPr>
          <p:txBody>
            <a:bodyPr anchor="t" rtlCol="false" tIns="0" lIns="0" bIns="0" rIns="0">
              <a:spAutoFit/>
            </a:bodyPr>
            <a:lstStyle/>
            <a:p>
              <a:pPr algn="l">
                <a:lnSpc>
                  <a:spcPts val="4928"/>
                </a:lnSpc>
              </a:pPr>
              <a:r>
                <a:rPr lang="en-US" sz="3520">
                  <a:solidFill>
                    <a:srgbClr val="000000"/>
                  </a:solidFill>
                  <a:latin typeface="Alatsi Bold"/>
                </a:rPr>
                <a:t>Detect Electricity Theft</a:t>
              </a:r>
            </a:p>
          </p:txBody>
        </p:sp>
        <p:grpSp>
          <p:nvGrpSpPr>
            <p:cNvPr name="Group 14" id="14"/>
            <p:cNvGrpSpPr/>
            <p:nvPr/>
          </p:nvGrpSpPr>
          <p:grpSpPr>
            <a:xfrm rot="0">
              <a:off x="380138" y="446957"/>
              <a:ext cx="477291" cy="47729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grpSp>
        <p:nvGrpSpPr>
          <p:cNvPr name="Group 17" id="17"/>
          <p:cNvGrpSpPr/>
          <p:nvPr/>
        </p:nvGrpSpPr>
        <p:grpSpPr>
          <a:xfrm rot="0">
            <a:off x="10201552" y="2603948"/>
            <a:ext cx="6695725" cy="531365"/>
            <a:chOff x="0" y="0"/>
            <a:chExt cx="8927634" cy="708487"/>
          </a:xfrm>
        </p:grpSpPr>
        <p:sp>
          <p:nvSpPr>
            <p:cNvPr name="TextBox 18" id="18"/>
            <p:cNvSpPr txBox="true"/>
            <p:nvPr/>
          </p:nvSpPr>
          <p:spPr>
            <a:xfrm rot="0">
              <a:off x="651227" y="-66675"/>
              <a:ext cx="8276406" cy="775162"/>
            </a:xfrm>
            <a:prstGeom prst="rect">
              <a:avLst/>
            </a:prstGeom>
          </p:spPr>
          <p:txBody>
            <a:bodyPr anchor="t" rtlCol="false" tIns="0" lIns="0" bIns="0" rIns="0">
              <a:spAutoFit/>
            </a:bodyPr>
            <a:lstStyle/>
            <a:p>
              <a:pPr algn="l">
                <a:lnSpc>
                  <a:spcPts val="4923"/>
                </a:lnSpc>
              </a:pPr>
              <a:r>
                <a:rPr lang="en-US" sz="3516">
                  <a:solidFill>
                    <a:srgbClr val="000000"/>
                  </a:solidFill>
                  <a:latin typeface="Alatsi Bold"/>
                </a:rPr>
                <a:t>Rigorous Testing and Evaluation</a:t>
              </a:r>
            </a:p>
          </p:txBody>
        </p:sp>
        <p:grpSp>
          <p:nvGrpSpPr>
            <p:cNvPr name="Group 19" id="19"/>
            <p:cNvGrpSpPr/>
            <p:nvPr/>
          </p:nvGrpSpPr>
          <p:grpSpPr>
            <a:xfrm rot="0">
              <a:off x="0" y="86240"/>
              <a:ext cx="536006" cy="53600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grpSp>
        <p:nvGrpSpPr>
          <p:cNvPr name="Group 22" id="22"/>
          <p:cNvGrpSpPr/>
          <p:nvPr/>
        </p:nvGrpSpPr>
        <p:grpSpPr>
          <a:xfrm rot="0">
            <a:off x="15859155" y="0"/>
            <a:ext cx="1562612" cy="1673225"/>
            <a:chOff x="0" y="0"/>
            <a:chExt cx="2083482" cy="2230967"/>
          </a:xfrm>
        </p:grpSpPr>
        <p:grpSp>
          <p:nvGrpSpPr>
            <p:cNvPr name="Group 23" id="23"/>
            <p:cNvGrpSpPr/>
            <p:nvPr/>
          </p:nvGrpSpPr>
          <p:grpSpPr>
            <a:xfrm rot="0">
              <a:off x="75599" y="0"/>
              <a:ext cx="1932284" cy="2230967"/>
              <a:chOff x="0" y="0"/>
              <a:chExt cx="703982" cy="812800"/>
            </a:xfrm>
          </p:grpSpPr>
          <p:sp>
            <p:nvSpPr>
              <p:cNvPr name="Freeform 24" id="24"/>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25" id="25"/>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4</a:t>
              </a:r>
            </a:p>
          </p:txBody>
        </p:sp>
      </p:grpSp>
      <p:sp>
        <p:nvSpPr>
          <p:cNvPr name="Freeform 27" id="27"/>
          <p:cNvSpPr/>
          <p:nvPr/>
        </p:nvSpPr>
        <p:spPr>
          <a:xfrm flipH="false" flipV="false" rot="0">
            <a:off x="-2266878" y="-16003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8" id="28"/>
          <p:cNvGrpSpPr/>
          <p:nvPr/>
        </p:nvGrpSpPr>
        <p:grpSpPr>
          <a:xfrm rot="0">
            <a:off x="-699008" y="9392985"/>
            <a:ext cx="19619868" cy="407670"/>
            <a:chOff x="0" y="0"/>
            <a:chExt cx="26159824" cy="543560"/>
          </a:xfrm>
        </p:grpSpPr>
        <p:sp>
          <p:nvSpPr>
            <p:cNvPr name="TextBox 29" id="29"/>
            <p:cNvSpPr txBox="true"/>
            <p:nvPr/>
          </p:nvSpPr>
          <p:spPr>
            <a:xfrm rot="0">
              <a:off x="8544717" y="-57150"/>
              <a:ext cx="9176144" cy="60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Advanced Power Theft Detection</a:t>
              </a:r>
            </a:p>
          </p:txBody>
        </p:sp>
        <p:sp>
          <p:nvSpPr>
            <p:cNvPr name="AutoShape 30" id="30"/>
            <p:cNvSpPr/>
            <p:nvPr/>
          </p:nvSpPr>
          <p:spPr>
            <a:xfrm>
              <a:off x="204" y="284480"/>
              <a:ext cx="9473686" cy="25400"/>
            </a:xfrm>
            <a:prstGeom prst="line">
              <a:avLst/>
            </a:prstGeom>
            <a:ln cap="flat" w="152400">
              <a:solidFill>
                <a:srgbClr val="9FC3D0"/>
              </a:solidFill>
              <a:prstDash val="solid"/>
              <a:headEnd type="none" len="sm" w="sm"/>
              <a:tailEnd type="none" len="sm" w="sm"/>
            </a:ln>
          </p:spPr>
        </p:sp>
        <p:sp>
          <p:nvSpPr>
            <p:cNvPr name="AutoShape 31" id="31"/>
            <p:cNvSpPr/>
            <p:nvPr/>
          </p:nvSpPr>
          <p:spPr>
            <a:xfrm>
              <a:off x="16685934" y="271780"/>
              <a:ext cx="9473686" cy="25400"/>
            </a:xfrm>
            <a:prstGeom prst="line">
              <a:avLst/>
            </a:prstGeom>
            <a:ln cap="flat" w="152400">
              <a:solidFill>
                <a:srgbClr val="9FC3D0"/>
              </a:solidFill>
              <a:prstDash val="solid"/>
              <a:headEnd type="none" len="sm" w="sm"/>
              <a:tailEnd type="none" len="sm" w="sm"/>
            </a:ln>
          </p:spPr>
        </p:sp>
      </p:grpSp>
      <p:grpSp>
        <p:nvGrpSpPr>
          <p:cNvPr name="Group 32" id="32"/>
          <p:cNvGrpSpPr/>
          <p:nvPr/>
        </p:nvGrpSpPr>
        <p:grpSpPr>
          <a:xfrm rot="0">
            <a:off x="1028700" y="5880453"/>
            <a:ext cx="7409906" cy="1963607"/>
            <a:chOff x="0" y="0"/>
            <a:chExt cx="9879874" cy="2618143"/>
          </a:xfrm>
        </p:grpSpPr>
        <p:grpSp>
          <p:nvGrpSpPr>
            <p:cNvPr name="Group 33" id="33"/>
            <p:cNvGrpSpPr/>
            <p:nvPr/>
          </p:nvGrpSpPr>
          <p:grpSpPr>
            <a:xfrm rot="0">
              <a:off x="0" y="0"/>
              <a:ext cx="9816907" cy="2618143"/>
              <a:chOff x="0" y="0"/>
              <a:chExt cx="1939142" cy="517164"/>
            </a:xfrm>
          </p:grpSpPr>
          <p:sp>
            <p:nvSpPr>
              <p:cNvPr name="Freeform 34" id="34"/>
              <p:cNvSpPr/>
              <p:nvPr/>
            </p:nvSpPr>
            <p:spPr>
              <a:xfrm flipH="false" flipV="false" rot="0">
                <a:off x="0" y="0"/>
                <a:ext cx="1939142" cy="517164"/>
              </a:xfrm>
              <a:custGeom>
                <a:avLst/>
                <a:gdLst/>
                <a:ahLst/>
                <a:cxnLst/>
                <a:rect r="r" b="b" t="t" l="l"/>
                <a:pathLst>
                  <a:path h="517164" w="1939142">
                    <a:moveTo>
                      <a:pt x="53627" y="0"/>
                    </a:moveTo>
                    <a:lnTo>
                      <a:pt x="1885515" y="0"/>
                    </a:lnTo>
                    <a:cubicBezTo>
                      <a:pt x="1915133" y="0"/>
                      <a:pt x="1939142" y="24010"/>
                      <a:pt x="1939142" y="53627"/>
                    </a:cubicBezTo>
                    <a:lnTo>
                      <a:pt x="1939142" y="463537"/>
                    </a:lnTo>
                    <a:cubicBezTo>
                      <a:pt x="1939142" y="477760"/>
                      <a:pt x="1933492" y="491400"/>
                      <a:pt x="1923435" y="501457"/>
                    </a:cubicBezTo>
                    <a:cubicBezTo>
                      <a:pt x="1913378" y="511514"/>
                      <a:pt x="1899738" y="517164"/>
                      <a:pt x="1885515" y="517164"/>
                    </a:cubicBezTo>
                    <a:lnTo>
                      <a:pt x="53627" y="517164"/>
                    </a:lnTo>
                    <a:cubicBezTo>
                      <a:pt x="39404" y="517164"/>
                      <a:pt x="25764" y="511514"/>
                      <a:pt x="15707" y="501457"/>
                    </a:cubicBezTo>
                    <a:cubicBezTo>
                      <a:pt x="5650" y="491400"/>
                      <a:pt x="0" y="477760"/>
                      <a:pt x="0" y="463537"/>
                    </a:cubicBezTo>
                    <a:lnTo>
                      <a:pt x="0" y="53627"/>
                    </a:lnTo>
                    <a:cubicBezTo>
                      <a:pt x="0" y="39404"/>
                      <a:pt x="5650" y="25764"/>
                      <a:pt x="15707" y="15707"/>
                    </a:cubicBezTo>
                    <a:cubicBezTo>
                      <a:pt x="25764" y="5650"/>
                      <a:pt x="39404" y="0"/>
                      <a:pt x="53627" y="0"/>
                    </a:cubicBezTo>
                    <a:close/>
                  </a:path>
                </a:pathLst>
              </a:custGeom>
              <a:solidFill>
                <a:srgbClr val="E9C7C6"/>
              </a:solidFill>
            </p:spPr>
          </p:sp>
          <p:sp>
            <p:nvSpPr>
              <p:cNvPr name="TextBox 35" id="35"/>
              <p:cNvSpPr txBox="true"/>
              <p:nvPr/>
            </p:nvSpPr>
            <p:spPr>
              <a:xfrm>
                <a:off x="0" y="-38100"/>
                <a:ext cx="1939142" cy="555264"/>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862834" y="957609"/>
              <a:ext cx="9017040" cy="1282718"/>
            </a:xfrm>
            <a:prstGeom prst="rect">
              <a:avLst/>
            </a:prstGeom>
          </p:spPr>
          <p:txBody>
            <a:bodyPr anchor="t" rtlCol="false" tIns="0" lIns="0" bIns="0" rIns="0">
              <a:spAutoFit/>
            </a:bodyPr>
            <a:lstStyle/>
            <a:p>
              <a:pPr algn="l">
                <a:lnSpc>
                  <a:spcPts val="3936"/>
                </a:lnSpc>
              </a:pPr>
              <a:r>
                <a:rPr lang="en-US" sz="2811">
                  <a:solidFill>
                    <a:srgbClr val="000000"/>
                  </a:solidFill>
                  <a:latin typeface="Alatsi Bold"/>
                </a:rPr>
                <a:t>Implement continuous monitoring of power consumption in real-time.</a:t>
              </a:r>
            </a:p>
          </p:txBody>
        </p:sp>
        <p:sp>
          <p:nvSpPr>
            <p:cNvPr name="TextBox 37" id="37"/>
            <p:cNvSpPr txBox="true"/>
            <p:nvPr/>
          </p:nvSpPr>
          <p:spPr>
            <a:xfrm rot="0">
              <a:off x="1127277" y="243772"/>
              <a:ext cx="6079646" cy="770987"/>
            </a:xfrm>
            <a:prstGeom prst="rect">
              <a:avLst/>
            </a:prstGeom>
          </p:spPr>
          <p:txBody>
            <a:bodyPr anchor="t" rtlCol="false" tIns="0" lIns="0" bIns="0" rIns="0">
              <a:spAutoFit/>
            </a:bodyPr>
            <a:lstStyle/>
            <a:p>
              <a:pPr algn="l">
                <a:lnSpc>
                  <a:spcPts val="4928"/>
                </a:lnSpc>
              </a:pPr>
              <a:r>
                <a:rPr lang="en-US" sz="3520">
                  <a:solidFill>
                    <a:srgbClr val="000000"/>
                  </a:solidFill>
                  <a:latin typeface="Alatsi Bold"/>
                </a:rPr>
                <a:t>Real-Time Monitoring</a:t>
              </a:r>
            </a:p>
          </p:txBody>
        </p:sp>
        <p:grpSp>
          <p:nvGrpSpPr>
            <p:cNvPr name="Group 38" id="38"/>
            <p:cNvGrpSpPr/>
            <p:nvPr/>
          </p:nvGrpSpPr>
          <p:grpSpPr>
            <a:xfrm rot="0">
              <a:off x="380138" y="395305"/>
              <a:ext cx="477291" cy="477291"/>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grpSp>
        <p:nvGrpSpPr>
          <p:cNvPr name="Group 41" id="41"/>
          <p:cNvGrpSpPr/>
          <p:nvPr/>
        </p:nvGrpSpPr>
        <p:grpSpPr>
          <a:xfrm rot="0">
            <a:off x="9849394" y="5686108"/>
            <a:ext cx="7362681" cy="2352297"/>
            <a:chOff x="0" y="0"/>
            <a:chExt cx="1939142" cy="619535"/>
          </a:xfrm>
        </p:grpSpPr>
        <p:sp>
          <p:nvSpPr>
            <p:cNvPr name="Freeform 42" id="42"/>
            <p:cNvSpPr/>
            <p:nvPr/>
          </p:nvSpPr>
          <p:spPr>
            <a:xfrm flipH="false" flipV="false" rot="0">
              <a:off x="0" y="0"/>
              <a:ext cx="1939142" cy="619535"/>
            </a:xfrm>
            <a:custGeom>
              <a:avLst/>
              <a:gdLst/>
              <a:ahLst/>
              <a:cxnLst/>
              <a:rect r="r" b="b" t="t" l="l"/>
              <a:pathLst>
                <a:path h="619535" w="1939142">
                  <a:moveTo>
                    <a:pt x="53627" y="0"/>
                  </a:moveTo>
                  <a:lnTo>
                    <a:pt x="1885515" y="0"/>
                  </a:lnTo>
                  <a:cubicBezTo>
                    <a:pt x="1915133" y="0"/>
                    <a:pt x="1939142" y="24010"/>
                    <a:pt x="1939142" y="53627"/>
                  </a:cubicBezTo>
                  <a:lnTo>
                    <a:pt x="1939142" y="565908"/>
                  </a:lnTo>
                  <a:cubicBezTo>
                    <a:pt x="1939142" y="580131"/>
                    <a:pt x="1933492" y="593771"/>
                    <a:pt x="1923435" y="603828"/>
                  </a:cubicBezTo>
                  <a:cubicBezTo>
                    <a:pt x="1913378" y="613885"/>
                    <a:pt x="1899738" y="619535"/>
                    <a:pt x="1885515" y="619535"/>
                  </a:cubicBezTo>
                  <a:lnTo>
                    <a:pt x="53627" y="619535"/>
                  </a:lnTo>
                  <a:cubicBezTo>
                    <a:pt x="24010" y="619535"/>
                    <a:pt x="0" y="595525"/>
                    <a:pt x="0" y="565908"/>
                  </a:cubicBezTo>
                  <a:lnTo>
                    <a:pt x="0" y="53627"/>
                  </a:lnTo>
                  <a:cubicBezTo>
                    <a:pt x="0" y="39404"/>
                    <a:pt x="5650" y="25764"/>
                    <a:pt x="15707" y="15707"/>
                  </a:cubicBezTo>
                  <a:cubicBezTo>
                    <a:pt x="25764" y="5650"/>
                    <a:pt x="39404" y="0"/>
                    <a:pt x="53627" y="0"/>
                  </a:cubicBezTo>
                  <a:close/>
                </a:path>
              </a:pathLst>
            </a:custGeom>
            <a:solidFill>
              <a:srgbClr val="E9C7C6"/>
            </a:solidFill>
          </p:spPr>
        </p:sp>
        <p:sp>
          <p:nvSpPr>
            <p:cNvPr name="TextBox 43" id="43"/>
            <p:cNvSpPr txBox="true"/>
            <p:nvPr/>
          </p:nvSpPr>
          <p:spPr>
            <a:xfrm>
              <a:off x="0" y="-38100"/>
              <a:ext cx="1939142" cy="657635"/>
            </a:xfrm>
            <a:prstGeom prst="rect">
              <a:avLst/>
            </a:prstGeom>
          </p:spPr>
          <p:txBody>
            <a:bodyPr anchor="ctr" rtlCol="false" tIns="50800" lIns="50800" bIns="50800" rIns="50800"/>
            <a:lstStyle/>
            <a:p>
              <a:pPr algn="ctr">
                <a:lnSpc>
                  <a:spcPts val="2659"/>
                </a:lnSpc>
              </a:pPr>
            </a:p>
          </p:txBody>
        </p:sp>
      </p:grpSp>
      <p:sp>
        <p:nvSpPr>
          <p:cNvPr name="TextBox 44" id="44"/>
          <p:cNvSpPr txBox="true"/>
          <p:nvPr/>
        </p:nvSpPr>
        <p:spPr>
          <a:xfrm rot="0">
            <a:off x="10496520" y="6390028"/>
            <a:ext cx="6715555" cy="1471626"/>
          </a:xfrm>
          <a:prstGeom prst="rect">
            <a:avLst/>
          </a:prstGeom>
        </p:spPr>
        <p:txBody>
          <a:bodyPr anchor="t" rtlCol="false" tIns="0" lIns="0" bIns="0" rIns="0">
            <a:spAutoFit/>
          </a:bodyPr>
          <a:lstStyle/>
          <a:p>
            <a:pPr algn="l">
              <a:lnSpc>
                <a:spcPts val="3936"/>
              </a:lnSpc>
            </a:pPr>
            <a:r>
              <a:rPr lang="en-US" sz="2811">
                <a:solidFill>
                  <a:srgbClr val="000000"/>
                </a:solidFill>
                <a:latin typeface="Alatsi Bold"/>
              </a:rPr>
              <a:t>Contribute to improving the overall efficiency and reliability of the electrical distribution network </a:t>
            </a:r>
          </a:p>
        </p:txBody>
      </p:sp>
      <p:sp>
        <p:nvSpPr>
          <p:cNvPr name="TextBox 45" id="45"/>
          <p:cNvSpPr txBox="true"/>
          <p:nvPr/>
        </p:nvSpPr>
        <p:spPr>
          <a:xfrm rot="0">
            <a:off x="10532385" y="5871319"/>
            <a:ext cx="6726915" cy="487803"/>
          </a:xfrm>
          <a:prstGeom prst="rect">
            <a:avLst/>
          </a:prstGeom>
        </p:spPr>
        <p:txBody>
          <a:bodyPr anchor="t" rtlCol="false" tIns="0" lIns="0" bIns="0" rIns="0">
            <a:spAutoFit/>
          </a:bodyPr>
          <a:lstStyle/>
          <a:p>
            <a:pPr algn="l">
              <a:lnSpc>
                <a:spcPts val="4088"/>
              </a:lnSpc>
            </a:pPr>
            <a:r>
              <a:rPr lang="en-US" sz="2920">
                <a:solidFill>
                  <a:srgbClr val="000000"/>
                </a:solidFill>
                <a:latin typeface="Alatsi Bold"/>
              </a:rPr>
              <a:t>Contribution to Efficiency and Reliability</a:t>
            </a:r>
          </a:p>
        </p:txBody>
      </p:sp>
      <p:grpSp>
        <p:nvGrpSpPr>
          <p:cNvPr name="Group 46" id="46"/>
          <p:cNvGrpSpPr/>
          <p:nvPr/>
        </p:nvGrpSpPr>
        <p:grpSpPr>
          <a:xfrm rot="0">
            <a:off x="10134498" y="6002186"/>
            <a:ext cx="290204" cy="290204"/>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48" id="4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222250"/>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LITERATURE SURVEY</a:t>
            </a:r>
          </a:p>
        </p:txBody>
      </p:sp>
      <p:grpSp>
        <p:nvGrpSpPr>
          <p:cNvPr name="Group 3" id="3"/>
          <p:cNvGrpSpPr/>
          <p:nvPr/>
        </p:nvGrpSpPr>
        <p:grpSpPr>
          <a:xfrm rot="0">
            <a:off x="15859155" y="0"/>
            <a:ext cx="1562612" cy="1673225"/>
            <a:chOff x="0" y="0"/>
            <a:chExt cx="2083482" cy="2230967"/>
          </a:xfrm>
        </p:grpSpPr>
        <p:grpSp>
          <p:nvGrpSpPr>
            <p:cNvPr name="Group 4" id="4"/>
            <p:cNvGrpSpPr/>
            <p:nvPr/>
          </p:nvGrpSpPr>
          <p:grpSpPr>
            <a:xfrm rot="0">
              <a:off x="75599" y="0"/>
              <a:ext cx="1932284" cy="2230967"/>
              <a:chOff x="0" y="0"/>
              <a:chExt cx="703982" cy="812800"/>
            </a:xfrm>
          </p:grpSpPr>
          <p:sp>
            <p:nvSpPr>
              <p:cNvPr name="Freeform 5" id="5"/>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6" id="6"/>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5</a:t>
              </a:r>
            </a:p>
          </p:txBody>
        </p:sp>
      </p:grpSp>
      <p:sp>
        <p:nvSpPr>
          <p:cNvPr name="Freeform 8" id="8"/>
          <p:cNvSpPr/>
          <p:nvPr/>
        </p:nvSpPr>
        <p:spPr>
          <a:xfrm flipH="false" flipV="false" rot="0">
            <a:off x="12201555" y="721333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56381" y="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699008" y="9392985"/>
            <a:ext cx="19619868" cy="407670"/>
            <a:chOff x="0" y="0"/>
            <a:chExt cx="26159824" cy="543560"/>
          </a:xfrm>
        </p:grpSpPr>
        <p:sp>
          <p:nvSpPr>
            <p:cNvPr name="TextBox 11" id="11"/>
            <p:cNvSpPr txBox="true"/>
            <p:nvPr/>
          </p:nvSpPr>
          <p:spPr>
            <a:xfrm rot="0">
              <a:off x="8544717" y="-57150"/>
              <a:ext cx="9176144" cy="60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Advanced Power Theft Detection</a:t>
              </a:r>
            </a:p>
          </p:txBody>
        </p:sp>
        <p:sp>
          <p:nvSpPr>
            <p:cNvPr name="AutoShape 12" id="12"/>
            <p:cNvSpPr/>
            <p:nvPr/>
          </p:nvSpPr>
          <p:spPr>
            <a:xfrm>
              <a:off x="204" y="284480"/>
              <a:ext cx="9473686" cy="25400"/>
            </a:xfrm>
            <a:prstGeom prst="line">
              <a:avLst/>
            </a:prstGeom>
            <a:ln cap="flat" w="152400">
              <a:solidFill>
                <a:srgbClr val="9FC3D0"/>
              </a:solidFill>
              <a:prstDash val="solid"/>
              <a:headEnd type="none" len="sm" w="sm"/>
              <a:tailEnd type="none" len="sm" w="sm"/>
            </a:ln>
          </p:spPr>
        </p:sp>
        <p:sp>
          <p:nvSpPr>
            <p:cNvPr name="AutoShape 13" id="13"/>
            <p:cNvSpPr/>
            <p:nvPr/>
          </p:nvSpPr>
          <p:spPr>
            <a:xfrm>
              <a:off x="16685934" y="271780"/>
              <a:ext cx="9473686" cy="25400"/>
            </a:xfrm>
            <a:prstGeom prst="line">
              <a:avLst/>
            </a:prstGeom>
            <a:ln cap="flat" w="152400">
              <a:solidFill>
                <a:srgbClr val="9FC3D0"/>
              </a:solidFill>
              <a:prstDash val="solid"/>
              <a:headEnd type="none" len="sm" w="sm"/>
              <a:tailEnd type="none" len="sm" w="sm"/>
            </a:ln>
          </p:spPr>
        </p:sp>
      </p:grpSp>
      <p:sp>
        <p:nvSpPr>
          <p:cNvPr name="Freeform 14" id="14"/>
          <p:cNvSpPr/>
          <p:nvPr/>
        </p:nvSpPr>
        <p:spPr>
          <a:xfrm flipH="false" flipV="false" rot="0">
            <a:off x="1028700" y="1858253"/>
            <a:ext cx="16230600" cy="7349705"/>
          </a:xfrm>
          <a:custGeom>
            <a:avLst/>
            <a:gdLst/>
            <a:ahLst/>
            <a:cxnLst/>
            <a:rect r="r" b="b" t="t" l="l"/>
            <a:pathLst>
              <a:path h="7349705" w="16230600">
                <a:moveTo>
                  <a:pt x="0" y="0"/>
                </a:moveTo>
                <a:lnTo>
                  <a:pt x="16230600" y="0"/>
                </a:lnTo>
                <a:lnTo>
                  <a:pt x="16230600" y="7349704"/>
                </a:lnTo>
                <a:lnTo>
                  <a:pt x="0" y="73497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1564423" y="2022523"/>
            <a:ext cx="3078423" cy="610064"/>
          </a:xfrm>
          <a:prstGeom prst="rect">
            <a:avLst/>
          </a:prstGeom>
        </p:spPr>
        <p:txBody>
          <a:bodyPr anchor="t" rtlCol="false" tIns="0" lIns="0" bIns="0" rIns="0">
            <a:spAutoFit/>
          </a:bodyPr>
          <a:lstStyle/>
          <a:p>
            <a:pPr algn="ctr">
              <a:lnSpc>
                <a:spcPts val="2324"/>
              </a:lnSpc>
            </a:pPr>
            <a:r>
              <a:rPr lang="en-US" sz="1877" spc="1">
                <a:solidFill>
                  <a:srgbClr val="FFFFFF"/>
                </a:solidFill>
                <a:latin typeface="Calibri (MS) Bold"/>
              </a:rPr>
              <a:t>TITLE OF THE PAPER WITH AUTHOR NAME</a:t>
            </a:r>
          </a:p>
        </p:txBody>
      </p:sp>
      <p:sp>
        <p:nvSpPr>
          <p:cNvPr name="TextBox 16" id="16"/>
          <p:cNvSpPr txBox="true"/>
          <p:nvPr/>
        </p:nvSpPr>
        <p:spPr>
          <a:xfrm rot="0">
            <a:off x="5787175" y="2031512"/>
            <a:ext cx="2659228" cy="610064"/>
          </a:xfrm>
          <a:prstGeom prst="rect">
            <a:avLst/>
          </a:prstGeom>
        </p:spPr>
        <p:txBody>
          <a:bodyPr anchor="t" rtlCol="false" tIns="0" lIns="0" bIns="0" rIns="0">
            <a:spAutoFit/>
          </a:bodyPr>
          <a:lstStyle/>
          <a:p>
            <a:pPr algn="ctr">
              <a:lnSpc>
                <a:spcPts val="2324"/>
              </a:lnSpc>
            </a:pPr>
            <a:r>
              <a:rPr lang="en-US" sz="1877" spc="13">
                <a:solidFill>
                  <a:srgbClr val="FFFFFF"/>
                </a:solidFill>
                <a:latin typeface="Calibri (MS) Bold"/>
              </a:rPr>
              <a:t>JOURNAL NAME/YEAR OF PUBLICATION </a:t>
            </a:r>
            <a:r>
              <a:rPr lang="en-US" sz="1877" spc="13">
                <a:solidFill>
                  <a:srgbClr val="000000"/>
                </a:solidFill>
                <a:latin typeface="Calibri (MS)"/>
              </a:rPr>
              <a:t> </a:t>
            </a:r>
          </a:p>
        </p:txBody>
      </p:sp>
      <p:sp>
        <p:nvSpPr>
          <p:cNvPr name="TextBox 17" id="17"/>
          <p:cNvSpPr txBox="true"/>
          <p:nvPr/>
        </p:nvSpPr>
        <p:spPr>
          <a:xfrm rot="0">
            <a:off x="10370453" y="1930508"/>
            <a:ext cx="2642111" cy="547275"/>
          </a:xfrm>
          <a:prstGeom prst="rect">
            <a:avLst/>
          </a:prstGeom>
        </p:spPr>
        <p:txBody>
          <a:bodyPr anchor="t" rtlCol="false" tIns="0" lIns="0" bIns="0" rIns="0">
            <a:spAutoFit/>
          </a:bodyPr>
          <a:lstStyle/>
          <a:p>
            <a:pPr algn="l">
              <a:lnSpc>
                <a:spcPts val="4693"/>
              </a:lnSpc>
            </a:pPr>
            <a:r>
              <a:rPr lang="en-US" sz="1877" spc="7">
                <a:solidFill>
                  <a:srgbClr val="FFFFFF"/>
                </a:solidFill>
                <a:latin typeface="Calibri (MS) Bold"/>
              </a:rPr>
              <a:t>FINDINGS</a:t>
            </a:r>
          </a:p>
        </p:txBody>
      </p:sp>
      <p:sp>
        <p:nvSpPr>
          <p:cNvPr name="TextBox 18" id="18"/>
          <p:cNvSpPr txBox="true"/>
          <p:nvPr/>
        </p:nvSpPr>
        <p:spPr>
          <a:xfrm rot="0">
            <a:off x="14155564" y="1953369"/>
            <a:ext cx="2795778" cy="547275"/>
          </a:xfrm>
          <a:prstGeom prst="rect">
            <a:avLst/>
          </a:prstGeom>
        </p:spPr>
        <p:txBody>
          <a:bodyPr anchor="t" rtlCol="false" tIns="0" lIns="0" bIns="0" rIns="0">
            <a:spAutoFit/>
          </a:bodyPr>
          <a:lstStyle/>
          <a:p>
            <a:pPr algn="l">
              <a:lnSpc>
                <a:spcPts val="4693"/>
              </a:lnSpc>
            </a:pPr>
            <a:r>
              <a:rPr lang="en-US" sz="1877">
                <a:solidFill>
                  <a:srgbClr val="FFFFFF"/>
                </a:solidFill>
                <a:latin typeface="Calibri (MS) Bold"/>
              </a:rPr>
              <a:t>LIMITATIONS </a:t>
            </a:r>
          </a:p>
        </p:txBody>
      </p:sp>
      <p:sp>
        <p:nvSpPr>
          <p:cNvPr name="TextBox 19" id="19"/>
          <p:cNvSpPr txBox="true"/>
          <p:nvPr/>
        </p:nvSpPr>
        <p:spPr>
          <a:xfrm rot="0">
            <a:off x="5262363" y="3013051"/>
            <a:ext cx="3708851" cy="1196608"/>
          </a:xfrm>
          <a:prstGeom prst="rect">
            <a:avLst/>
          </a:prstGeom>
        </p:spPr>
        <p:txBody>
          <a:bodyPr anchor="t" rtlCol="false" tIns="0" lIns="0" bIns="0" rIns="0">
            <a:spAutoFit/>
          </a:bodyPr>
          <a:lstStyle/>
          <a:p>
            <a:pPr algn="ctr">
              <a:lnSpc>
                <a:spcPts val="2367"/>
              </a:lnSpc>
              <a:spcBef>
                <a:spcPct val="0"/>
              </a:spcBef>
            </a:pPr>
            <a:r>
              <a:rPr lang="en-US" sz="1690">
                <a:solidFill>
                  <a:srgbClr val="000000"/>
                </a:solidFill>
                <a:latin typeface="Alatsi Bold"/>
              </a:rPr>
              <a:t>International Advanced Research Journal in Science, Engineering and Technology, Vol. 7, Issue 12, December 2020</a:t>
            </a:r>
          </a:p>
        </p:txBody>
      </p:sp>
      <p:sp>
        <p:nvSpPr>
          <p:cNvPr name="TextBox 20" id="20"/>
          <p:cNvSpPr txBox="true"/>
          <p:nvPr/>
        </p:nvSpPr>
        <p:spPr>
          <a:xfrm rot="0">
            <a:off x="1262989" y="2893468"/>
            <a:ext cx="3631599" cy="1517902"/>
          </a:xfrm>
          <a:prstGeom prst="rect">
            <a:avLst/>
          </a:prstGeom>
        </p:spPr>
        <p:txBody>
          <a:bodyPr anchor="t" rtlCol="false" tIns="0" lIns="0" bIns="0" rIns="0">
            <a:spAutoFit/>
          </a:bodyPr>
          <a:lstStyle/>
          <a:p>
            <a:pPr algn="ctr">
              <a:lnSpc>
                <a:spcPts val="2436"/>
              </a:lnSpc>
              <a:spcBef>
                <a:spcPct val="0"/>
              </a:spcBef>
            </a:pPr>
            <a:r>
              <a:rPr lang="en-US" sz="1740">
                <a:solidFill>
                  <a:srgbClr val="000000"/>
                </a:solidFill>
                <a:latin typeface="Alatsi Bold"/>
              </a:rPr>
              <a:t>Title: A Literature Survey on Techniques of Power Theft Detection</a:t>
            </a:r>
          </a:p>
          <a:p>
            <a:pPr algn="ctr">
              <a:lnSpc>
                <a:spcPts val="2436"/>
              </a:lnSpc>
              <a:spcBef>
                <a:spcPct val="0"/>
              </a:spcBef>
            </a:pPr>
            <a:r>
              <a:rPr lang="en-US" sz="1740">
                <a:solidFill>
                  <a:srgbClr val="000000"/>
                </a:solidFill>
                <a:latin typeface="Alatsi Bold"/>
              </a:rPr>
              <a:t>Authors: Prof. Vaibhav Baburao Magdum and Prof. Ravindra Mukund Malkar</a:t>
            </a:r>
          </a:p>
        </p:txBody>
      </p:sp>
      <p:sp>
        <p:nvSpPr>
          <p:cNvPr name="TextBox 21" id="21"/>
          <p:cNvSpPr txBox="true"/>
          <p:nvPr/>
        </p:nvSpPr>
        <p:spPr>
          <a:xfrm rot="0">
            <a:off x="9342690" y="2816222"/>
            <a:ext cx="3669874" cy="1595148"/>
          </a:xfrm>
          <a:prstGeom prst="rect">
            <a:avLst/>
          </a:prstGeom>
        </p:spPr>
        <p:txBody>
          <a:bodyPr anchor="t" rtlCol="false" tIns="0" lIns="0" bIns="0" rIns="0">
            <a:spAutoFit/>
          </a:bodyPr>
          <a:lstStyle/>
          <a:p>
            <a:pPr algn="ctr">
              <a:lnSpc>
                <a:spcPts val="1853"/>
              </a:lnSpc>
              <a:spcBef>
                <a:spcPct val="0"/>
              </a:spcBef>
            </a:pPr>
            <a:r>
              <a:rPr lang="en-US" sz="1323">
                <a:solidFill>
                  <a:srgbClr val="000000"/>
                </a:solidFill>
                <a:latin typeface="Alatsi Bold"/>
              </a:rPr>
              <a:t>Various methodologies including Support Vector Machine (SVM), Fuzzy C-means Clustering, and genetic algorithms have been explored for electricity theft detection.</a:t>
            </a:r>
          </a:p>
          <a:p>
            <a:pPr algn="ctr">
              <a:lnSpc>
                <a:spcPts val="1853"/>
              </a:lnSpc>
              <a:spcBef>
                <a:spcPct val="0"/>
              </a:spcBef>
            </a:pPr>
            <a:r>
              <a:rPr lang="en-US" sz="1323">
                <a:solidFill>
                  <a:srgbClr val="000000"/>
                </a:solidFill>
                <a:latin typeface="Alatsi Bold"/>
              </a:rPr>
              <a:t>Integration of smart meters and advanced algorithms offers potential solutions to minimize non-technical losses in distribution networks.</a:t>
            </a:r>
          </a:p>
        </p:txBody>
      </p:sp>
      <p:sp>
        <p:nvSpPr>
          <p:cNvPr name="TextBox 22" id="22"/>
          <p:cNvSpPr txBox="true"/>
          <p:nvPr/>
        </p:nvSpPr>
        <p:spPr>
          <a:xfrm rot="0">
            <a:off x="13384039" y="2812972"/>
            <a:ext cx="3567303" cy="1534023"/>
          </a:xfrm>
          <a:prstGeom prst="rect">
            <a:avLst/>
          </a:prstGeom>
        </p:spPr>
        <p:txBody>
          <a:bodyPr anchor="t" rtlCol="false" tIns="0" lIns="0" bIns="0" rIns="0">
            <a:spAutoFit/>
          </a:bodyPr>
          <a:lstStyle/>
          <a:p>
            <a:pPr algn="ctr">
              <a:lnSpc>
                <a:spcPts val="2072"/>
              </a:lnSpc>
              <a:spcBef>
                <a:spcPct val="0"/>
              </a:spcBef>
            </a:pPr>
            <a:r>
              <a:rPr lang="en-US" sz="1480">
                <a:solidFill>
                  <a:srgbClr val="000000"/>
                </a:solidFill>
                <a:latin typeface="Alatsi Bold"/>
              </a:rPr>
              <a:t>Accuracy and infrastructure requirements pose challenges in implementing existing theft detection systems.</a:t>
            </a:r>
          </a:p>
          <a:p>
            <a:pPr algn="ctr">
              <a:lnSpc>
                <a:spcPts val="2072"/>
              </a:lnSpc>
              <a:spcBef>
                <a:spcPct val="0"/>
              </a:spcBef>
            </a:pPr>
            <a:r>
              <a:rPr lang="en-US" sz="1480">
                <a:solidFill>
                  <a:srgbClr val="000000"/>
                </a:solidFill>
                <a:latin typeface="Alatsi Bold"/>
              </a:rPr>
              <a:t>Techniques like SVM may suffer from accuracy issues, especially in classifying data accurately.</a:t>
            </a:r>
          </a:p>
        </p:txBody>
      </p:sp>
      <p:sp>
        <p:nvSpPr>
          <p:cNvPr name="TextBox 23" id="23"/>
          <p:cNvSpPr txBox="true"/>
          <p:nvPr/>
        </p:nvSpPr>
        <p:spPr>
          <a:xfrm rot="0">
            <a:off x="1187800" y="4568217"/>
            <a:ext cx="3840259" cy="1552620"/>
          </a:xfrm>
          <a:prstGeom prst="rect">
            <a:avLst/>
          </a:prstGeom>
        </p:spPr>
        <p:txBody>
          <a:bodyPr anchor="t" rtlCol="false" tIns="0" lIns="0" bIns="0" rIns="0">
            <a:spAutoFit/>
          </a:bodyPr>
          <a:lstStyle/>
          <a:p>
            <a:pPr algn="ctr">
              <a:lnSpc>
                <a:spcPts val="2457"/>
              </a:lnSpc>
              <a:spcBef>
                <a:spcPct val="0"/>
              </a:spcBef>
            </a:pPr>
            <a:r>
              <a:rPr lang="en-US" sz="1755">
                <a:solidFill>
                  <a:srgbClr val="000000"/>
                </a:solidFill>
                <a:latin typeface="Alatsi Bold"/>
              </a:rPr>
              <a:t>Title: Power Theft Detection System (Review Paper)</a:t>
            </a:r>
          </a:p>
          <a:p>
            <a:pPr algn="ctr">
              <a:lnSpc>
                <a:spcPts val="2457"/>
              </a:lnSpc>
              <a:spcBef>
                <a:spcPct val="0"/>
              </a:spcBef>
            </a:pPr>
            <a:r>
              <a:rPr lang="en-US" sz="1755">
                <a:solidFill>
                  <a:srgbClr val="000000"/>
                </a:solidFill>
                <a:latin typeface="Alatsi Bold"/>
              </a:rPr>
              <a:t>Authors: Papai Bhakta, Suman Debnath, Partha Debnath, Paramita Das, Suparna Pal</a:t>
            </a:r>
          </a:p>
        </p:txBody>
      </p:sp>
      <p:sp>
        <p:nvSpPr>
          <p:cNvPr name="TextBox 24" id="24"/>
          <p:cNvSpPr txBox="true"/>
          <p:nvPr/>
        </p:nvSpPr>
        <p:spPr>
          <a:xfrm rot="0">
            <a:off x="5262363" y="4571609"/>
            <a:ext cx="3708851" cy="1480285"/>
          </a:xfrm>
          <a:prstGeom prst="rect">
            <a:avLst/>
          </a:prstGeom>
        </p:spPr>
        <p:txBody>
          <a:bodyPr anchor="t" rtlCol="false" tIns="0" lIns="0" bIns="0" rIns="0">
            <a:spAutoFit/>
          </a:bodyPr>
          <a:lstStyle/>
          <a:p>
            <a:pPr algn="ctr">
              <a:lnSpc>
                <a:spcPts val="2934"/>
              </a:lnSpc>
              <a:spcBef>
                <a:spcPct val="0"/>
              </a:spcBef>
            </a:pPr>
            <a:r>
              <a:rPr lang="en-US" sz="2096">
                <a:solidFill>
                  <a:srgbClr val="000000"/>
                </a:solidFill>
                <a:latin typeface="Alatsi Bold"/>
              </a:rPr>
              <a:t>International Journal of Creative Research Thoughts (IJCRT), Volume 10, Issue 5, May 2022</a:t>
            </a:r>
          </a:p>
        </p:txBody>
      </p:sp>
      <p:sp>
        <p:nvSpPr>
          <p:cNvPr name="TextBox 25" id="25"/>
          <p:cNvSpPr txBox="true"/>
          <p:nvPr/>
        </p:nvSpPr>
        <p:spPr>
          <a:xfrm rot="0">
            <a:off x="9342690" y="4642114"/>
            <a:ext cx="3619750" cy="1478723"/>
          </a:xfrm>
          <a:prstGeom prst="rect">
            <a:avLst/>
          </a:prstGeom>
        </p:spPr>
        <p:txBody>
          <a:bodyPr anchor="t" rtlCol="false" tIns="0" lIns="0" bIns="0" rIns="0">
            <a:spAutoFit/>
          </a:bodyPr>
          <a:lstStyle/>
          <a:p>
            <a:pPr algn="ctr">
              <a:lnSpc>
                <a:spcPts val="1938"/>
              </a:lnSpc>
              <a:spcBef>
                <a:spcPct val="0"/>
              </a:spcBef>
            </a:pPr>
            <a:r>
              <a:rPr lang="en-US" sz="1384">
                <a:solidFill>
                  <a:srgbClr val="000000"/>
                </a:solidFill>
                <a:latin typeface="Alatsi Bold"/>
              </a:rPr>
              <a:t>Electricity theft, in various forms such as meter tampering and illegal connections, poses significant challenges to power utilities.</a:t>
            </a:r>
          </a:p>
          <a:p>
            <a:pPr algn="ctr">
              <a:lnSpc>
                <a:spcPts val="1938"/>
              </a:lnSpc>
              <a:spcBef>
                <a:spcPct val="0"/>
              </a:spcBef>
            </a:pPr>
            <a:r>
              <a:rPr lang="en-US" sz="1384">
                <a:solidFill>
                  <a:srgbClr val="000000"/>
                </a:solidFill>
                <a:latin typeface="Alatsi Bold"/>
              </a:rPr>
              <a:t>Traditional methods of detecting power theft are being replaced by modern technologies like microcontrollers and smart meters.</a:t>
            </a:r>
          </a:p>
        </p:txBody>
      </p:sp>
      <p:sp>
        <p:nvSpPr>
          <p:cNvPr name="TextBox 26" id="26"/>
          <p:cNvSpPr txBox="true"/>
          <p:nvPr/>
        </p:nvSpPr>
        <p:spPr>
          <a:xfrm rot="0">
            <a:off x="13333915" y="4524966"/>
            <a:ext cx="3617427" cy="1648647"/>
          </a:xfrm>
          <a:prstGeom prst="rect">
            <a:avLst/>
          </a:prstGeom>
        </p:spPr>
        <p:txBody>
          <a:bodyPr anchor="t" rtlCol="false" tIns="0" lIns="0" bIns="0" rIns="0">
            <a:spAutoFit/>
          </a:bodyPr>
          <a:lstStyle/>
          <a:p>
            <a:pPr algn="ctr">
              <a:lnSpc>
                <a:spcPts val="1862"/>
              </a:lnSpc>
              <a:spcBef>
                <a:spcPct val="0"/>
              </a:spcBef>
            </a:pPr>
            <a:r>
              <a:rPr lang="en-US" sz="1330">
                <a:solidFill>
                  <a:srgbClr val="000000"/>
                </a:solidFill>
                <a:latin typeface="Alatsi Bold"/>
              </a:rPr>
              <a:t>Detection of power theft using traditional methods relies heavily on manual operations, leading to inefficiencies and inaccuracies.</a:t>
            </a:r>
          </a:p>
          <a:p>
            <a:pPr algn="ctr">
              <a:lnSpc>
                <a:spcPts val="1862"/>
              </a:lnSpc>
              <a:spcBef>
                <a:spcPct val="0"/>
              </a:spcBef>
            </a:pPr>
            <a:r>
              <a:rPr lang="en-US" sz="1330">
                <a:solidFill>
                  <a:srgbClr val="000000"/>
                </a:solidFill>
                <a:latin typeface="Alatsi Bold"/>
              </a:rPr>
              <a:t>The installation and maintenance costs associated with implementing smart meters and advanced detection systems may pose financial challenges for power utilities.</a:t>
            </a:r>
          </a:p>
        </p:txBody>
      </p:sp>
      <p:sp>
        <p:nvSpPr>
          <p:cNvPr name="TextBox 27" id="27"/>
          <p:cNvSpPr txBox="true"/>
          <p:nvPr/>
        </p:nvSpPr>
        <p:spPr>
          <a:xfrm rot="0">
            <a:off x="1262989" y="6387537"/>
            <a:ext cx="3907049" cy="1200600"/>
          </a:xfrm>
          <a:prstGeom prst="rect">
            <a:avLst/>
          </a:prstGeom>
        </p:spPr>
        <p:txBody>
          <a:bodyPr anchor="t" rtlCol="false" tIns="0" lIns="0" bIns="0" rIns="0">
            <a:spAutoFit/>
          </a:bodyPr>
          <a:lstStyle/>
          <a:p>
            <a:pPr algn="ctr">
              <a:lnSpc>
                <a:spcPts val="2394"/>
              </a:lnSpc>
              <a:spcBef>
                <a:spcPct val="0"/>
              </a:spcBef>
            </a:pPr>
            <a:r>
              <a:rPr lang="en-US" sz="1710">
                <a:solidFill>
                  <a:srgbClr val="000000"/>
                </a:solidFill>
                <a:latin typeface="Alatsi Bold"/>
              </a:rPr>
              <a:t>Title: Power Theft Detection using GSM</a:t>
            </a:r>
          </a:p>
          <a:p>
            <a:pPr algn="ctr">
              <a:lnSpc>
                <a:spcPts val="2394"/>
              </a:lnSpc>
              <a:spcBef>
                <a:spcPct val="0"/>
              </a:spcBef>
            </a:pPr>
            <a:r>
              <a:rPr lang="en-US" sz="1710">
                <a:solidFill>
                  <a:srgbClr val="000000"/>
                </a:solidFill>
                <a:latin typeface="Alatsi Bold"/>
              </a:rPr>
              <a:t>Authors: Rekha R. Patil, Shwetha, Thrupthi, Vaishnavi S. Shetty, Sanjeevi Kumar P</a:t>
            </a:r>
          </a:p>
        </p:txBody>
      </p:sp>
      <p:sp>
        <p:nvSpPr>
          <p:cNvPr name="TextBox 28" id="28"/>
          <p:cNvSpPr txBox="true"/>
          <p:nvPr/>
        </p:nvSpPr>
        <p:spPr>
          <a:xfrm rot="0">
            <a:off x="5229289" y="6413844"/>
            <a:ext cx="3881637" cy="1097630"/>
          </a:xfrm>
          <a:prstGeom prst="rect">
            <a:avLst/>
          </a:prstGeom>
        </p:spPr>
        <p:txBody>
          <a:bodyPr anchor="t" rtlCol="false" tIns="0" lIns="0" bIns="0" rIns="0">
            <a:spAutoFit/>
          </a:bodyPr>
          <a:lstStyle/>
          <a:p>
            <a:pPr algn="ctr">
              <a:lnSpc>
                <a:spcPts val="2927"/>
              </a:lnSpc>
              <a:spcBef>
                <a:spcPct val="0"/>
              </a:spcBef>
            </a:pPr>
            <a:r>
              <a:rPr lang="en-US" sz="2091">
                <a:solidFill>
                  <a:srgbClr val="000000"/>
                </a:solidFill>
                <a:latin typeface="Alatsi Bold"/>
              </a:rPr>
              <a:t>International Journal of Engineering Research &amp; Technology (IJERT) / 2019</a:t>
            </a:r>
          </a:p>
        </p:txBody>
      </p:sp>
      <p:sp>
        <p:nvSpPr>
          <p:cNvPr name="TextBox 29" id="29"/>
          <p:cNvSpPr txBox="true"/>
          <p:nvPr/>
        </p:nvSpPr>
        <p:spPr>
          <a:xfrm rot="0">
            <a:off x="9167749" y="6297438"/>
            <a:ext cx="3844815" cy="1312577"/>
          </a:xfrm>
          <a:prstGeom prst="rect">
            <a:avLst/>
          </a:prstGeom>
        </p:spPr>
        <p:txBody>
          <a:bodyPr anchor="t" rtlCol="false" tIns="0" lIns="0" bIns="0" rIns="0">
            <a:spAutoFit/>
          </a:bodyPr>
          <a:lstStyle/>
          <a:p>
            <a:pPr algn="ctr">
              <a:lnSpc>
                <a:spcPts val="1535"/>
              </a:lnSpc>
              <a:spcBef>
                <a:spcPct val="0"/>
              </a:spcBef>
            </a:pPr>
            <a:r>
              <a:rPr lang="en-US" sz="1097">
                <a:solidFill>
                  <a:srgbClr val="000000"/>
                </a:solidFill>
                <a:latin typeface="Alatsi Bold"/>
              </a:rPr>
              <a:t>The proposed system effectively detects and prevents electricity theft by using a combination of hardware components such as leaf switches, current transformers, microcontrollers, relays, LCD displays, and GSM modules.</a:t>
            </a:r>
          </a:p>
          <a:p>
            <a:pPr algn="ctr">
              <a:lnSpc>
                <a:spcPts val="1535"/>
              </a:lnSpc>
              <a:spcBef>
                <a:spcPct val="0"/>
              </a:spcBef>
            </a:pPr>
            <a:r>
              <a:rPr lang="en-US" sz="1097">
                <a:solidFill>
                  <a:srgbClr val="000000"/>
                </a:solidFill>
                <a:latin typeface="Alatsi Bold"/>
              </a:rPr>
              <a:t>The system offers real-time monitoring and notification capabilities, allowing authorities to take necessary action upon detecting theft attempts.</a:t>
            </a:r>
          </a:p>
        </p:txBody>
      </p:sp>
      <p:sp>
        <p:nvSpPr>
          <p:cNvPr name="TextBox 30" id="30"/>
          <p:cNvSpPr txBox="true"/>
          <p:nvPr/>
        </p:nvSpPr>
        <p:spPr>
          <a:xfrm rot="0">
            <a:off x="13343928" y="6365832"/>
            <a:ext cx="3647525" cy="1185313"/>
          </a:xfrm>
          <a:prstGeom prst="rect">
            <a:avLst/>
          </a:prstGeom>
        </p:spPr>
        <p:txBody>
          <a:bodyPr anchor="t" rtlCol="false" tIns="0" lIns="0" bIns="0" rIns="0">
            <a:spAutoFit/>
          </a:bodyPr>
          <a:lstStyle/>
          <a:p>
            <a:pPr algn="ctr">
              <a:lnSpc>
                <a:spcPts val="1582"/>
              </a:lnSpc>
              <a:spcBef>
                <a:spcPct val="0"/>
              </a:spcBef>
            </a:pPr>
            <a:r>
              <a:rPr lang="en-US" sz="1130">
                <a:solidFill>
                  <a:srgbClr val="000000"/>
                </a:solidFill>
                <a:latin typeface="Alatsi Bold"/>
              </a:rPr>
              <a:t>The paper does not extensively discuss the scalability of the proposed system, particularly in larger utility networks or urban areas with high electricity consumption.</a:t>
            </a:r>
          </a:p>
          <a:p>
            <a:pPr algn="ctr">
              <a:lnSpc>
                <a:spcPts val="1582"/>
              </a:lnSpc>
              <a:spcBef>
                <a:spcPct val="0"/>
              </a:spcBef>
            </a:pPr>
            <a:r>
              <a:rPr lang="en-US" sz="1130">
                <a:solidFill>
                  <a:srgbClr val="000000"/>
                </a:solidFill>
                <a:latin typeface="Alatsi Bold"/>
              </a:rPr>
              <a:t>The experimental setup and findings may not fully capture the real-world challenges and complexities associated with electricity theft detection in diverse environments.</a:t>
            </a:r>
          </a:p>
        </p:txBody>
      </p:sp>
      <p:sp>
        <p:nvSpPr>
          <p:cNvPr name="TextBox 31" id="31"/>
          <p:cNvSpPr txBox="true"/>
          <p:nvPr/>
        </p:nvSpPr>
        <p:spPr>
          <a:xfrm rot="0">
            <a:off x="1187800" y="7666425"/>
            <a:ext cx="3706788" cy="1354431"/>
          </a:xfrm>
          <a:prstGeom prst="rect">
            <a:avLst/>
          </a:prstGeom>
        </p:spPr>
        <p:txBody>
          <a:bodyPr anchor="t" rtlCol="false" tIns="0" lIns="0" bIns="0" rIns="0">
            <a:spAutoFit/>
          </a:bodyPr>
          <a:lstStyle/>
          <a:p>
            <a:pPr algn="ctr">
              <a:lnSpc>
                <a:spcPts val="2151"/>
              </a:lnSpc>
              <a:spcBef>
                <a:spcPct val="0"/>
              </a:spcBef>
            </a:pPr>
            <a:r>
              <a:rPr lang="en-US" sz="1536">
                <a:solidFill>
                  <a:srgbClr val="000000"/>
                </a:solidFill>
                <a:latin typeface="Alatsi Bold"/>
              </a:rPr>
              <a:t>Title: Review Paper on Power Theft Detection and Prevention</a:t>
            </a:r>
          </a:p>
          <a:p>
            <a:pPr algn="ctr">
              <a:lnSpc>
                <a:spcPts val="2151"/>
              </a:lnSpc>
              <a:spcBef>
                <a:spcPct val="0"/>
              </a:spcBef>
            </a:pPr>
            <a:r>
              <a:rPr lang="en-US" sz="1536">
                <a:solidFill>
                  <a:srgbClr val="000000"/>
                </a:solidFill>
                <a:latin typeface="Alatsi Bold"/>
              </a:rPr>
              <a:t>Authors: Prof. Rupali Shinde, Prof. Soniya Joshi, Vaibhav Rampure, Rajendra Wagh, Dinesh Potdar, Mohsin Jamadar</a:t>
            </a:r>
          </a:p>
        </p:txBody>
      </p:sp>
      <p:sp>
        <p:nvSpPr>
          <p:cNvPr name="TextBox 32" id="32"/>
          <p:cNvSpPr txBox="true"/>
          <p:nvPr/>
        </p:nvSpPr>
        <p:spPr>
          <a:xfrm rot="0">
            <a:off x="5342677" y="7769963"/>
            <a:ext cx="3548225" cy="1335957"/>
          </a:xfrm>
          <a:prstGeom prst="rect">
            <a:avLst/>
          </a:prstGeom>
        </p:spPr>
        <p:txBody>
          <a:bodyPr anchor="t" rtlCol="false" tIns="0" lIns="0" bIns="0" rIns="0">
            <a:spAutoFit/>
          </a:bodyPr>
          <a:lstStyle/>
          <a:p>
            <a:pPr algn="ctr">
              <a:lnSpc>
                <a:spcPts val="2671"/>
              </a:lnSpc>
              <a:spcBef>
                <a:spcPct val="0"/>
              </a:spcBef>
            </a:pPr>
            <a:r>
              <a:rPr lang="en-US" sz="1908">
                <a:solidFill>
                  <a:srgbClr val="000000"/>
                </a:solidFill>
                <a:latin typeface="Alatsi Bold"/>
              </a:rPr>
              <a:t>International Journal of Advance Research, Ideas and Innovation in Technology (IJARIIE), Volume 6, Issue 5, 2020</a:t>
            </a:r>
          </a:p>
        </p:txBody>
      </p:sp>
      <p:sp>
        <p:nvSpPr>
          <p:cNvPr name="TextBox 33" id="33"/>
          <p:cNvSpPr txBox="true"/>
          <p:nvPr/>
        </p:nvSpPr>
        <p:spPr>
          <a:xfrm rot="0">
            <a:off x="9241101" y="7790990"/>
            <a:ext cx="3848796" cy="1259124"/>
          </a:xfrm>
          <a:prstGeom prst="rect">
            <a:avLst/>
          </a:prstGeom>
        </p:spPr>
        <p:txBody>
          <a:bodyPr anchor="t" rtlCol="false" tIns="0" lIns="0" bIns="0" rIns="0">
            <a:spAutoFit/>
          </a:bodyPr>
          <a:lstStyle/>
          <a:p>
            <a:pPr algn="ctr">
              <a:lnSpc>
                <a:spcPts val="1474"/>
              </a:lnSpc>
              <a:spcBef>
                <a:spcPct val="0"/>
              </a:spcBef>
            </a:pPr>
            <a:r>
              <a:rPr lang="en-US" sz="1053">
                <a:solidFill>
                  <a:srgbClr val="000000"/>
                </a:solidFill>
                <a:latin typeface="Alatsi Bold"/>
              </a:rPr>
              <a:t>Various techniques and systems have been proposed for the detection and prevention of power theft, utilizing components such as IoT, Arduino, GSM, PIC Microcontroller, current sensors, and voltage sensors.</a:t>
            </a:r>
          </a:p>
          <a:p>
            <a:pPr algn="ctr">
              <a:lnSpc>
                <a:spcPts val="1474"/>
              </a:lnSpc>
              <a:spcBef>
                <a:spcPct val="0"/>
              </a:spcBef>
            </a:pPr>
            <a:r>
              <a:rPr lang="en-US" sz="1053">
                <a:solidFill>
                  <a:srgbClr val="000000"/>
                </a:solidFill>
                <a:latin typeface="Alatsi Bold"/>
              </a:rPr>
              <a:t>The reviewed systems aim to minimize the illegal use of electricity, reduce the chances of theft, and take appropriate actions in case of theft detection.</a:t>
            </a:r>
          </a:p>
        </p:txBody>
      </p:sp>
      <p:sp>
        <p:nvSpPr>
          <p:cNvPr name="TextBox 34" id="34"/>
          <p:cNvSpPr txBox="true"/>
          <p:nvPr/>
        </p:nvSpPr>
        <p:spPr>
          <a:xfrm rot="0">
            <a:off x="13220739" y="7870013"/>
            <a:ext cx="3843779" cy="1101078"/>
          </a:xfrm>
          <a:prstGeom prst="rect">
            <a:avLst/>
          </a:prstGeom>
        </p:spPr>
        <p:txBody>
          <a:bodyPr anchor="t" rtlCol="false" tIns="0" lIns="0" bIns="0" rIns="0">
            <a:spAutoFit/>
          </a:bodyPr>
          <a:lstStyle/>
          <a:p>
            <a:pPr algn="ctr">
              <a:lnSpc>
                <a:spcPts val="1456"/>
              </a:lnSpc>
              <a:spcBef>
                <a:spcPct val="0"/>
              </a:spcBef>
            </a:pPr>
            <a:r>
              <a:rPr lang="en-US" sz="1040">
                <a:solidFill>
                  <a:srgbClr val="000000"/>
                </a:solidFill>
                <a:latin typeface="Alatsi Bold"/>
              </a:rPr>
              <a:t>Some systems rely heavily on specific technologies like GSM or IoT, which may have limitations in terms of coverage, reliability, or compatibility with existing infrastructure.</a:t>
            </a:r>
          </a:p>
          <a:p>
            <a:pPr algn="ctr">
              <a:lnSpc>
                <a:spcPts val="1456"/>
              </a:lnSpc>
              <a:spcBef>
                <a:spcPct val="0"/>
              </a:spcBef>
            </a:pPr>
            <a:r>
              <a:rPr lang="en-US" sz="1040">
                <a:solidFill>
                  <a:srgbClr val="000000"/>
                </a:solidFill>
                <a:latin typeface="Alatsi Bold"/>
              </a:rPr>
              <a:t>Practical testing and validation of these systems in diverse environments, including urban, rural, and industrial settings, are essential to assess their effectiveness and address potential issues.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674688"/>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EXISTING SYSTEM</a:t>
            </a:r>
          </a:p>
        </p:txBody>
      </p:sp>
      <p:sp>
        <p:nvSpPr>
          <p:cNvPr name="TextBox 3" id="3"/>
          <p:cNvSpPr txBox="true"/>
          <p:nvPr/>
        </p:nvSpPr>
        <p:spPr>
          <a:xfrm rot="0">
            <a:off x="1028700" y="2415293"/>
            <a:ext cx="16192500" cy="6581452"/>
          </a:xfrm>
          <a:prstGeom prst="rect">
            <a:avLst/>
          </a:prstGeom>
        </p:spPr>
        <p:txBody>
          <a:bodyPr anchor="t" rtlCol="false" tIns="0" lIns="0" bIns="0" rIns="0">
            <a:spAutoFit/>
          </a:bodyPr>
          <a:lstStyle/>
          <a:p>
            <a:pPr algn="l">
              <a:lnSpc>
                <a:spcPts val="4742"/>
              </a:lnSpc>
            </a:pPr>
            <a:r>
              <a:rPr lang="en-US" sz="3387">
                <a:solidFill>
                  <a:srgbClr val="000000"/>
                </a:solidFill>
                <a:latin typeface="Alatsi Bold"/>
              </a:rPr>
              <a:t>In existing systems errors may occur due to less concentration. It requires Huge Man power . </a:t>
            </a:r>
          </a:p>
          <a:p>
            <a:pPr algn="l" marL="731412" indent="-365706" lvl="1">
              <a:lnSpc>
                <a:spcPts val="4742"/>
              </a:lnSpc>
              <a:buFont typeface="Arial"/>
              <a:buChar char="•"/>
            </a:pPr>
            <a:r>
              <a:rPr lang="en-US" sz="3387">
                <a:solidFill>
                  <a:srgbClr val="000000"/>
                </a:solidFill>
                <a:latin typeface="Alatsi Bold"/>
              </a:rPr>
              <a:t>The system monitoring work gets delayed due to external conditions. Due to this Manual operation there is a high wastage of Power. </a:t>
            </a:r>
          </a:p>
          <a:p>
            <a:pPr algn="l">
              <a:lnSpc>
                <a:spcPts val="4742"/>
              </a:lnSpc>
            </a:pPr>
          </a:p>
          <a:p>
            <a:pPr algn="l" marL="731412" indent="-365706" lvl="1">
              <a:lnSpc>
                <a:spcPts val="4742"/>
              </a:lnSpc>
              <a:buFont typeface="Arial"/>
              <a:buChar char="•"/>
            </a:pPr>
            <a:r>
              <a:rPr lang="en-US" sz="3387">
                <a:solidFill>
                  <a:srgbClr val="000000"/>
                </a:solidFill>
                <a:latin typeface="Alatsi Bold"/>
              </a:rPr>
              <a:t>Energy crisis is the main problem that our society faces. A relevant system control and monitor power usage is one of the solutions to this problem. </a:t>
            </a:r>
          </a:p>
          <a:p>
            <a:pPr algn="l">
              <a:lnSpc>
                <a:spcPts val="4742"/>
              </a:lnSpc>
            </a:pPr>
          </a:p>
          <a:p>
            <a:pPr algn="l" marL="731412" indent="-365706" lvl="1">
              <a:lnSpc>
                <a:spcPts val="4742"/>
              </a:lnSpc>
              <a:buFont typeface="Arial"/>
              <a:buChar char="•"/>
            </a:pPr>
            <a:r>
              <a:rPr lang="en-US" sz="3387">
                <a:solidFill>
                  <a:srgbClr val="000000"/>
                </a:solidFill>
                <a:latin typeface="Alatsi"/>
              </a:rPr>
              <a:t>One approach which is today’s energy crisis that can be addressed through </a:t>
            </a:r>
            <a:r>
              <a:rPr lang="en-US" sz="3387">
                <a:solidFill>
                  <a:srgbClr val="000000"/>
                </a:solidFill>
                <a:latin typeface="Alatsi Bold"/>
              </a:rPr>
              <a:t>reduction of power usage </a:t>
            </a:r>
            <a:r>
              <a:rPr lang="en-US" sz="3387">
                <a:solidFill>
                  <a:srgbClr val="000000"/>
                </a:solidFill>
                <a:latin typeface="Alatsi"/>
              </a:rPr>
              <a:t>in households.</a:t>
            </a:r>
          </a:p>
          <a:p>
            <a:pPr algn="l">
              <a:lnSpc>
                <a:spcPts val="4742"/>
              </a:lnSpc>
            </a:pPr>
          </a:p>
        </p:txBody>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6</a:t>
              </a:r>
            </a:p>
          </p:txBody>
        </p:sp>
      </p:grpSp>
      <p:sp>
        <p:nvSpPr>
          <p:cNvPr name="Freeform 9" id="9"/>
          <p:cNvSpPr/>
          <p:nvPr/>
        </p:nvSpPr>
        <p:spPr>
          <a:xfrm flipH="false" flipV="false" rot="0">
            <a:off x="12201555"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657600" y="-35212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699008" y="9392985"/>
            <a:ext cx="19619868" cy="407670"/>
            <a:chOff x="0" y="0"/>
            <a:chExt cx="26159824" cy="543560"/>
          </a:xfrm>
        </p:grpSpPr>
        <p:sp>
          <p:nvSpPr>
            <p:cNvPr name="TextBox 12" id="12"/>
            <p:cNvSpPr txBox="true"/>
            <p:nvPr/>
          </p:nvSpPr>
          <p:spPr>
            <a:xfrm rot="0">
              <a:off x="8544717" y="-57150"/>
              <a:ext cx="9176144" cy="60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Advanced Power Theft Detection</a:t>
              </a:r>
            </a:p>
          </p:txBody>
        </p:sp>
        <p:sp>
          <p:nvSpPr>
            <p:cNvPr name="AutoShape 13" id="13"/>
            <p:cNvSpPr/>
            <p:nvPr/>
          </p:nvSpPr>
          <p:spPr>
            <a:xfrm>
              <a:off x="204" y="284480"/>
              <a:ext cx="9473686" cy="25400"/>
            </a:xfrm>
            <a:prstGeom prst="line">
              <a:avLst/>
            </a:prstGeom>
            <a:ln cap="flat" w="152400">
              <a:solidFill>
                <a:srgbClr val="9FC3D0"/>
              </a:solidFill>
              <a:prstDash val="solid"/>
              <a:headEnd type="none" len="sm" w="sm"/>
              <a:tailEnd type="none" len="sm" w="sm"/>
            </a:ln>
          </p:spPr>
        </p:sp>
        <p:sp>
          <p:nvSpPr>
            <p:cNvPr name="AutoShape 14" id="14"/>
            <p:cNvSpPr/>
            <p:nvPr/>
          </p:nvSpPr>
          <p:spPr>
            <a:xfrm>
              <a:off x="16685934" y="271780"/>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366600"/>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PROPOSED SYSTEM</a:t>
            </a:r>
          </a:p>
        </p:txBody>
      </p:sp>
      <p:grpSp>
        <p:nvGrpSpPr>
          <p:cNvPr name="Group 3" id="3"/>
          <p:cNvGrpSpPr/>
          <p:nvPr/>
        </p:nvGrpSpPr>
        <p:grpSpPr>
          <a:xfrm rot="0">
            <a:off x="15859155" y="0"/>
            <a:ext cx="1562612" cy="1673225"/>
            <a:chOff x="0" y="0"/>
            <a:chExt cx="2083482" cy="2230967"/>
          </a:xfrm>
        </p:grpSpPr>
        <p:grpSp>
          <p:nvGrpSpPr>
            <p:cNvPr name="Group 4" id="4"/>
            <p:cNvGrpSpPr/>
            <p:nvPr/>
          </p:nvGrpSpPr>
          <p:grpSpPr>
            <a:xfrm rot="0">
              <a:off x="75599" y="0"/>
              <a:ext cx="1932284" cy="2230967"/>
              <a:chOff x="0" y="0"/>
              <a:chExt cx="703982" cy="812800"/>
            </a:xfrm>
          </p:grpSpPr>
          <p:sp>
            <p:nvSpPr>
              <p:cNvPr name="Freeform 5" id="5"/>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6" id="6"/>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7</a:t>
              </a:r>
            </a:p>
          </p:txBody>
        </p:sp>
      </p:grpSp>
      <p:sp>
        <p:nvSpPr>
          <p:cNvPr name="Freeform 8" id="8"/>
          <p:cNvSpPr/>
          <p:nvPr/>
        </p:nvSpPr>
        <p:spPr>
          <a:xfrm flipH="false" flipV="false" rot="0">
            <a:off x="11291244"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628900"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699008" y="9392985"/>
            <a:ext cx="19619868" cy="407670"/>
            <a:chOff x="0" y="0"/>
            <a:chExt cx="26159824" cy="543560"/>
          </a:xfrm>
        </p:grpSpPr>
        <p:sp>
          <p:nvSpPr>
            <p:cNvPr name="TextBox 11" id="11"/>
            <p:cNvSpPr txBox="true"/>
            <p:nvPr/>
          </p:nvSpPr>
          <p:spPr>
            <a:xfrm rot="0">
              <a:off x="8544717" y="-57150"/>
              <a:ext cx="9176144" cy="60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Advanced Power Theft Detection</a:t>
              </a:r>
            </a:p>
          </p:txBody>
        </p:sp>
        <p:sp>
          <p:nvSpPr>
            <p:cNvPr name="AutoShape 12" id="12"/>
            <p:cNvSpPr/>
            <p:nvPr/>
          </p:nvSpPr>
          <p:spPr>
            <a:xfrm>
              <a:off x="204" y="284480"/>
              <a:ext cx="9473686" cy="25400"/>
            </a:xfrm>
            <a:prstGeom prst="line">
              <a:avLst/>
            </a:prstGeom>
            <a:ln cap="flat" w="152400">
              <a:solidFill>
                <a:srgbClr val="9FC3D0"/>
              </a:solidFill>
              <a:prstDash val="solid"/>
              <a:headEnd type="none" len="sm" w="sm"/>
              <a:tailEnd type="none" len="sm" w="sm"/>
            </a:ln>
          </p:spPr>
        </p:sp>
        <p:sp>
          <p:nvSpPr>
            <p:cNvPr name="AutoShape 13" id="13"/>
            <p:cNvSpPr/>
            <p:nvPr/>
          </p:nvSpPr>
          <p:spPr>
            <a:xfrm>
              <a:off x="16685934" y="271780"/>
              <a:ext cx="9473686" cy="25400"/>
            </a:xfrm>
            <a:prstGeom prst="line">
              <a:avLst/>
            </a:prstGeom>
            <a:ln cap="flat" w="152400">
              <a:solidFill>
                <a:srgbClr val="9FC3D0"/>
              </a:solidFill>
              <a:prstDash val="solid"/>
              <a:headEnd type="none" len="sm" w="sm"/>
              <a:tailEnd type="none" len="sm" w="sm"/>
            </a:ln>
          </p:spPr>
        </p:sp>
      </p:grpSp>
      <p:grpSp>
        <p:nvGrpSpPr>
          <p:cNvPr name="Group 14" id="14"/>
          <p:cNvGrpSpPr/>
          <p:nvPr/>
        </p:nvGrpSpPr>
        <p:grpSpPr>
          <a:xfrm rot="0">
            <a:off x="1028700" y="2046176"/>
            <a:ext cx="7362681" cy="2197629"/>
            <a:chOff x="0" y="0"/>
            <a:chExt cx="1939142" cy="578799"/>
          </a:xfrm>
        </p:grpSpPr>
        <p:sp>
          <p:nvSpPr>
            <p:cNvPr name="Freeform 15" id="15"/>
            <p:cNvSpPr/>
            <p:nvPr/>
          </p:nvSpPr>
          <p:spPr>
            <a:xfrm flipH="false" flipV="false" rot="0">
              <a:off x="0" y="0"/>
              <a:ext cx="1939142" cy="578799"/>
            </a:xfrm>
            <a:custGeom>
              <a:avLst/>
              <a:gdLst/>
              <a:ahLst/>
              <a:cxnLst/>
              <a:rect r="r" b="b" t="t" l="l"/>
              <a:pathLst>
                <a:path h="578799" w="1939142">
                  <a:moveTo>
                    <a:pt x="53627" y="0"/>
                  </a:moveTo>
                  <a:lnTo>
                    <a:pt x="1885515" y="0"/>
                  </a:lnTo>
                  <a:cubicBezTo>
                    <a:pt x="1915133" y="0"/>
                    <a:pt x="1939142" y="24010"/>
                    <a:pt x="1939142" y="53627"/>
                  </a:cubicBezTo>
                  <a:lnTo>
                    <a:pt x="1939142" y="525173"/>
                  </a:lnTo>
                  <a:cubicBezTo>
                    <a:pt x="1939142" y="539395"/>
                    <a:pt x="1933492" y="553035"/>
                    <a:pt x="1923435" y="563093"/>
                  </a:cubicBezTo>
                  <a:cubicBezTo>
                    <a:pt x="1913378" y="573150"/>
                    <a:pt x="1899738" y="578799"/>
                    <a:pt x="1885515" y="578799"/>
                  </a:cubicBezTo>
                  <a:lnTo>
                    <a:pt x="53627" y="578799"/>
                  </a:lnTo>
                  <a:cubicBezTo>
                    <a:pt x="24010" y="578799"/>
                    <a:pt x="0" y="554790"/>
                    <a:pt x="0" y="525173"/>
                  </a:cubicBezTo>
                  <a:lnTo>
                    <a:pt x="0" y="53627"/>
                  </a:lnTo>
                  <a:cubicBezTo>
                    <a:pt x="0" y="39404"/>
                    <a:pt x="5650" y="25764"/>
                    <a:pt x="15707" y="15707"/>
                  </a:cubicBezTo>
                  <a:cubicBezTo>
                    <a:pt x="25764" y="5650"/>
                    <a:pt x="39404" y="0"/>
                    <a:pt x="53627" y="0"/>
                  </a:cubicBezTo>
                  <a:close/>
                </a:path>
              </a:pathLst>
            </a:custGeom>
            <a:solidFill>
              <a:srgbClr val="E9C7C6"/>
            </a:solidFill>
          </p:spPr>
        </p:sp>
        <p:sp>
          <p:nvSpPr>
            <p:cNvPr name="TextBox 16" id="16"/>
            <p:cNvSpPr txBox="true"/>
            <p:nvPr/>
          </p:nvSpPr>
          <p:spPr>
            <a:xfrm>
              <a:off x="0" y="-38100"/>
              <a:ext cx="1939142" cy="616899"/>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371658" y="3046010"/>
            <a:ext cx="7019723" cy="976326"/>
          </a:xfrm>
          <a:prstGeom prst="rect">
            <a:avLst/>
          </a:prstGeom>
        </p:spPr>
        <p:txBody>
          <a:bodyPr anchor="t" rtlCol="false" tIns="0" lIns="0" bIns="0" rIns="0">
            <a:spAutoFit/>
          </a:bodyPr>
          <a:lstStyle/>
          <a:p>
            <a:pPr algn="l">
              <a:lnSpc>
                <a:spcPts val="3936"/>
              </a:lnSpc>
            </a:pPr>
            <a:r>
              <a:rPr lang="en-US" sz="2811">
                <a:solidFill>
                  <a:srgbClr val="000000"/>
                </a:solidFill>
                <a:latin typeface="Alatsi Bold"/>
              </a:rPr>
              <a:t>The system integrates two ESP8266 modules and two current sensors. </a:t>
            </a:r>
          </a:p>
        </p:txBody>
      </p:sp>
      <p:sp>
        <p:nvSpPr>
          <p:cNvPr name="TextBox 18" id="18"/>
          <p:cNvSpPr txBox="true"/>
          <p:nvPr/>
        </p:nvSpPr>
        <p:spPr>
          <a:xfrm rot="0">
            <a:off x="1874158" y="2251076"/>
            <a:ext cx="4559734" cy="594909"/>
          </a:xfrm>
          <a:prstGeom prst="rect">
            <a:avLst/>
          </a:prstGeom>
        </p:spPr>
        <p:txBody>
          <a:bodyPr anchor="t" rtlCol="false" tIns="0" lIns="0" bIns="0" rIns="0">
            <a:spAutoFit/>
          </a:bodyPr>
          <a:lstStyle/>
          <a:p>
            <a:pPr algn="l">
              <a:lnSpc>
                <a:spcPts val="4928"/>
              </a:lnSpc>
            </a:pPr>
            <a:r>
              <a:rPr lang="en-US" sz="3520">
                <a:solidFill>
                  <a:srgbClr val="000000"/>
                </a:solidFill>
                <a:latin typeface="Alatsi Bold"/>
              </a:rPr>
              <a:t>Hardware Components</a:t>
            </a:r>
          </a:p>
        </p:txBody>
      </p:sp>
      <p:grpSp>
        <p:nvGrpSpPr>
          <p:cNvPr name="Group 19" id="19"/>
          <p:cNvGrpSpPr/>
          <p:nvPr/>
        </p:nvGrpSpPr>
        <p:grpSpPr>
          <a:xfrm rot="0">
            <a:off x="1313804" y="2381394"/>
            <a:ext cx="357969" cy="357969"/>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028700" y="5719580"/>
            <a:ext cx="7362681" cy="2160100"/>
            <a:chOff x="0" y="0"/>
            <a:chExt cx="1939142" cy="568915"/>
          </a:xfrm>
        </p:grpSpPr>
        <p:sp>
          <p:nvSpPr>
            <p:cNvPr name="Freeform 23" id="23"/>
            <p:cNvSpPr/>
            <p:nvPr/>
          </p:nvSpPr>
          <p:spPr>
            <a:xfrm flipH="false" flipV="false" rot="0">
              <a:off x="0" y="0"/>
              <a:ext cx="1939142" cy="568915"/>
            </a:xfrm>
            <a:custGeom>
              <a:avLst/>
              <a:gdLst/>
              <a:ahLst/>
              <a:cxnLst/>
              <a:rect r="r" b="b" t="t" l="l"/>
              <a:pathLst>
                <a:path h="568915" w="1939142">
                  <a:moveTo>
                    <a:pt x="53627" y="0"/>
                  </a:moveTo>
                  <a:lnTo>
                    <a:pt x="1885515" y="0"/>
                  </a:lnTo>
                  <a:cubicBezTo>
                    <a:pt x="1915133" y="0"/>
                    <a:pt x="1939142" y="24010"/>
                    <a:pt x="1939142" y="53627"/>
                  </a:cubicBezTo>
                  <a:lnTo>
                    <a:pt x="1939142" y="515288"/>
                  </a:lnTo>
                  <a:cubicBezTo>
                    <a:pt x="1939142" y="529511"/>
                    <a:pt x="1933492" y="543151"/>
                    <a:pt x="1923435" y="553208"/>
                  </a:cubicBezTo>
                  <a:cubicBezTo>
                    <a:pt x="1913378" y="563265"/>
                    <a:pt x="1899738" y="568915"/>
                    <a:pt x="1885515" y="568915"/>
                  </a:cubicBezTo>
                  <a:lnTo>
                    <a:pt x="53627" y="568915"/>
                  </a:lnTo>
                  <a:cubicBezTo>
                    <a:pt x="24010" y="568915"/>
                    <a:pt x="0" y="544906"/>
                    <a:pt x="0" y="515288"/>
                  </a:cubicBezTo>
                  <a:lnTo>
                    <a:pt x="0" y="53627"/>
                  </a:lnTo>
                  <a:cubicBezTo>
                    <a:pt x="0" y="39404"/>
                    <a:pt x="5650" y="25764"/>
                    <a:pt x="15707" y="15707"/>
                  </a:cubicBezTo>
                  <a:cubicBezTo>
                    <a:pt x="25764" y="5650"/>
                    <a:pt x="39404" y="0"/>
                    <a:pt x="53627" y="0"/>
                  </a:cubicBezTo>
                  <a:close/>
                </a:path>
              </a:pathLst>
            </a:custGeom>
            <a:solidFill>
              <a:srgbClr val="E9C7C6"/>
            </a:solidFill>
          </p:spPr>
        </p:sp>
        <p:sp>
          <p:nvSpPr>
            <p:cNvPr name="TextBox 24" id="24"/>
            <p:cNvSpPr txBox="true"/>
            <p:nvPr/>
          </p:nvSpPr>
          <p:spPr>
            <a:xfrm>
              <a:off x="0" y="-38100"/>
              <a:ext cx="1939142" cy="607015"/>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1371658" y="6719064"/>
            <a:ext cx="6898593" cy="976326"/>
          </a:xfrm>
          <a:prstGeom prst="rect">
            <a:avLst/>
          </a:prstGeom>
        </p:spPr>
        <p:txBody>
          <a:bodyPr anchor="t" rtlCol="false" tIns="0" lIns="0" bIns="0" rIns="0">
            <a:spAutoFit/>
          </a:bodyPr>
          <a:lstStyle/>
          <a:p>
            <a:pPr algn="l">
              <a:lnSpc>
                <a:spcPts val="3936"/>
              </a:lnSpc>
            </a:pPr>
            <a:r>
              <a:rPr lang="en-US" sz="2811">
                <a:solidFill>
                  <a:srgbClr val="000000"/>
                </a:solidFill>
                <a:latin typeface="Alatsi Bold"/>
              </a:rPr>
              <a:t>The system utilizes the Blynk app for remote monitoring and control.</a:t>
            </a:r>
          </a:p>
        </p:txBody>
      </p:sp>
      <p:sp>
        <p:nvSpPr>
          <p:cNvPr name="TextBox 26" id="26"/>
          <p:cNvSpPr txBox="true"/>
          <p:nvPr/>
        </p:nvSpPr>
        <p:spPr>
          <a:xfrm rot="0">
            <a:off x="1874158" y="5924480"/>
            <a:ext cx="4559734" cy="594909"/>
          </a:xfrm>
          <a:prstGeom prst="rect">
            <a:avLst/>
          </a:prstGeom>
        </p:spPr>
        <p:txBody>
          <a:bodyPr anchor="t" rtlCol="false" tIns="0" lIns="0" bIns="0" rIns="0">
            <a:spAutoFit/>
          </a:bodyPr>
          <a:lstStyle/>
          <a:p>
            <a:pPr algn="l">
              <a:lnSpc>
                <a:spcPts val="4928"/>
              </a:lnSpc>
            </a:pPr>
            <a:r>
              <a:rPr lang="en-US" sz="3520">
                <a:solidFill>
                  <a:srgbClr val="000000"/>
                </a:solidFill>
                <a:latin typeface="Alatsi Bold"/>
              </a:rPr>
              <a:t>Blynk IoT Platform</a:t>
            </a:r>
          </a:p>
        </p:txBody>
      </p:sp>
      <p:grpSp>
        <p:nvGrpSpPr>
          <p:cNvPr name="Group 27" id="27"/>
          <p:cNvGrpSpPr/>
          <p:nvPr/>
        </p:nvGrpSpPr>
        <p:grpSpPr>
          <a:xfrm rot="0">
            <a:off x="1313804" y="6054798"/>
            <a:ext cx="357969" cy="357969"/>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9" id="2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9896619" y="5719580"/>
            <a:ext cx="7362681" cy="2160100"/>
            <a:chOff x="0" y="0"/>
            <a:chExt cx="1939142" cy="568915"/>
          </a:xfrm>
        </p:grpSpPr>
        <p:sp>
          <p:nvSpPr>
            <p:cNvPr name="Freeform 31" id="31"/>
            <p:cNvSpPr/>
            <p:nvPr/>
          </p:nvSpPr>
          <p:spPr>
            <a:xfrm flipH="false" flipV="false" rot="0">
              <a:off x="0" y="0"/>
              <a:ext cx="1939142" cy="568915"/>
            </a:xfrm>
            <a:custGeom>
              <a:avLst/>
              <a:gdLst/>
              <a:ahLst/>
              <a:cxnLst/>
              <a:rect r="r" b="b" t="t" l="l"/>
              <a:pathLst>
                <a:path h="568915" w="1939142">
                  <a:moveTo>
                    <a:pt x="53627" y="0"/>
                  </a:moveTo>
                  <a:lnTo>
                    <a:pt x="1885515" y="0"/>
                  </a:lnTo>
                  <a:cubicBezTo>
                    <a:pt x="1915133" y="0"/>
                    <a:pt x="1939142" y="24010"/>
                    <a:pt x="1939142" y="53627"/>
                  </a:cubicBezTo>
                  <a:lnTo>
                    <a:pt x="1939142" y="515288"/>
                  </a:lnTo>
                  <a:cubicBezTo>
                    <a:pt x="1939142" y="529511"/>
                    <a:pt x="1933492" y="543151"/>
                    <a:pt x="1923435" y="553208"/>
                  </a:cubicBezTo>
                  <a:cubicBezTo>
                    <a:pt x="1913378" y="563265"/>
                    <a:pt x="1899738" y="568915"/>
                    <a:pt x="1885515" y="568915"/>
                  </a:cubicBezTo>
                  <a:lnTo>
                    <a:pt x="53627" y="568915"/>
                  </a:lnTo>
                  <a:cubicBezTo>
                    <a:pt x="24010" y="568915"/>
                    <a:pt x="0" y="544906"/>
                    <a:pt x="0" y="515288"/>
                  </a:cubicBezTo>
                  <a:lnTo>
                    <a:pt x="0" y="53627"/>
                  </a:lnTo>
                  <a:cubicBezTo>
                    <a:pt x="0" y="39404"/>
                    <a:pt x="5650" y="25764"/>
                    <a:pt x="15707" y="15707"/>
                  </a:cubicBezTo>
                  <a:cubicBezTo>
                    <a:pt x="25764" y="5650"/>
                    <a:pt x="39404" y="0"/>
                    <a:pt x="53627" y="0"/>
                  </a:cubicBezTo>
                  <a:close/>
                </a:path>
              </a:pathLst>
            </a:custGeom>
            <a:solidFill>
              <a:srgbClr val="E9C7C6"/>
            </a:solidFill>
          </p:spPr>
        </p:sp>
        <p:sp>
          <p:nvSpPr>
            <p:cNvPr name="TextBox 32" id="32"/>
            <p:cNvSpPr txBox="true"/>
            <p:nvPr/>
          </p:nvSpPr>
          <p:spPr>
            <a:xfrm>
              <a:off x="0" y="-38100"/>
              <a:ext cx="1939142" cy="607015"/>
            </a:xfrm>
            <a:prstGeom prst="rect">
              <a:avLst/>
            </a:prstGeom>
          </p:spPr>
          <p:txBody>
            <a:bodyPr anchor="ctr" rtlCol="false" tIns="50800" lIns="50800" bIns="50800" rIns="50800"/>
            <a:lstStyle/>
            <a:p>
              <a:pPr algn="ctr">
                <a:lnSpc>
                  <a:spcPts val="2659"/>
                </a:lnSpc>
              </a:pPr>
            </a:p>
          </p:txBody>
        </p:sp>
      </p:grpSp>
      <p:sp>
        <p:nvSpPr>
          <p:cNvPr name="TextBox 33" id="33"/>
          <p:cNvSpPr txBox="true"/>
          <p:nvPr/>
        </p:nvSpPr>
        <p:spPr>
          <a:xfrm rot="0">
            <a:off x="10181723" y="6573649"/>
            <a:ext cx="6929690" cy="895681"/>
          </a:xfrm>
          <a:prstGeom prst="rect">
            <a:avLst/>
          </a:prstGeom>
        </p:spPr>
        <p:txBody>
          <a:bodyPr anchor="t" rtlCol="false" tIns="0" lIns="0" bIns="0" rIns="0">
            <a:spAutoFit/>
          </a:bodyPr>
          <a:lstStyle/>
          <a:p>
            <a:pPr algn="l">
              <a:lnSpc>
                <a:spcPts val="3656"/>
              </a:lnSpc>
            </a:pPr>
            <a:r>
              <a:rPr lang="en-US" sz="2611">
                <a:solidFill>
                  <a:srgbClr val="000000"/>
                </a:solidFill>
                <a:latin typeface="Alatsi Bold"/>
              </a:rPr>
              <a:t> This enables to  detect and respond to instances of unauthorized power consumption.</a:t>
            </a:r>
          </a:p>
        </p:txBody>
      </p:sp>
      <p:sp>
        <p:nvSpPr>
          <p:cNvPr name="TextBox 34" id="34"/>
          <p:cNvSpPr txBox="true"/>
          <p:nvPr/>
        </p:nvSpPr>
        <p:spPr>
          <a:xfrm rot="0">
            <a:off x="10742077" y="5924480"/>
            <a:ext cx="4559734" cy="594909"/>
          </a:xfrm>
          <a:prstGeom prst="rect">
            <a:avLst/>
          </a:prstGeom>
        </p:spPr>
        <p:txBody>
          <a:bodyPr anchor="t" rtlCol="false" tIns="0" lIns="0" bIns="0" rIns="0">
            <a:spAutoFit/>
          </a:bodyPr>
          <a:lstStyle/>
          <a:p>
            <a:pPr algn="l">
              <a:lnSpc>
                <a:spcPts val="4928"/>
              </a:lnSpc>
            </a:pPr>
            <a:r>
              <a:rPr lang="en-US" sz="3520">
                <a:solidFill>
                  <a:srgbClr val="000000"/>
                </a:solidFill>
                <a:latin typeface="Alatsi Bold"/>
              </a:rPr>
              <a:t>Theft Load</a:t>
            </a:r>
          </a:p>
        </p:txBody>
      </p:sp>
      <p:grpSp>
        <p:nvGrpSpPr>
          <p:cNvPr name="Group 35" id="35"/>
          <p:cNvGrpSpPr/>
          <p:nvPr/>
        </p:nvGrpSpPr>
        <p:grpSpPr>
          <a:xfrm rot="0">
            <a:off x="10181723" y="6054798"/>
            <a:ext cx="357969" cy="357969"/>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37" id="3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8" id="38"/>
          <p:cNvGrpSpPr/>
          <p:nvPr/>
        </p:nvGrpSpPr>
        <p:grpSpPr>
          <a:xfrm rot="0">
            <a:off x="9896619" y="2125663"/>
            <a:ext cx="7362681" cy="2118142"/>
            <a:chOff x="0" y="0"/>
            <a:chExt cx="1939142" cy="557865"/>
          </a:xfrm>
        </p:grpSpPr>
        <p:sp>
          <p:nvSpPr>
            <p:cNvPr name="Freeform 39" id="39"/>
            <p:cNvSpPr/>
            <p:nvPr/>
          </p:nvSpPr>
          <p:spPr>
            <a:xfrm flipH="false" flipV="false" rot="0">
              <a:off x="0" y="0"/>
              <a:ext cx="1939142" cy="557865"/>
            </a:xfrm>
            <a:custGeom>
              <a:avLst/>
              <a:gdLst/>
              <a:ahLst/>
              <a:cxnLst/>
              <a:rect r="r" b="b" t="t" l="l"/>
              <a:pathLst>
                <a:path h="557865" w="1939142">
                  <a:moveTo>
                    <a:pt x="53627" y="0"/>
                  </a:moveTo>
                  <a:lnTo>
                    <a:pt x="1885515" y="0"/>
                  </a:lnTo>
                  <a:cubicBezTo>
                    <a:pt x="1915133" y="0"/>
                    <a:pt x="1939142" y="24010"/>
                    <a:pt x="1939142" y="53627"/>
                  </a:cubicBezTo>
                  <a:lnTo>
                    <a:pt x="1939142" y="504238"/>
                  </a:lnTo>
                  <a:cubicBezTo>
                    <a:pt x="1939142" y="518460"/>
                    <a:pt x="1933492" y="532101"/>
                    <a:pt x="1923435" y="542158"/>
                  </a:cubicBezTo>
                  <a:cubicBezTo>
                    <a:pt x="1913378" y="552215"/>
                    <a:pt x="1899738" y="557865"/>
                    <a:pt x="1885515" y="557865"/>
                  </a:cubicBezTo>
                  <a:lnTo>
                    <a:pt x="53627" y="557865"/>
                  </a:lnTo>
                  <a:cubicBezTo>
                    <a:pt x="39404" y="557865"/>
                    <a:pt x="25764" y="552215"/>
                    <a:pt x="15707" y="542158"/>
                  </a:cubicBezTo>
                  <a:cubicBezTo>
                    <a:pt x="5650" y="532101"/>
                    <a:pt x="0" y="518460"/>
                    <a:pt x="0" y="504238"/>
                  </a:cubicBezTo>
                  <a:lnTo>
                    <a:pt x="0" y="53627"/>
                  </a:lnTo>
                  <a:cubicBezTo>
                    <a:pt x="0" y="39404"/>
                    <a:pt x="5650" y="25764"/>
                    <a:pt x="15707" y="15707"/>
                  </a:cubicBezTo>
                  <a:cubicBezTo>
                    <a:pt x="25764" y="5650"/>
                    <a:pt x="39404" y="0"/>
                    <a:pt x="53627" y="0"/>
                  </a:cubicBezTo>
                  <a:close/>
                </a:path>
              </a:pathLst>
            </a:custGeom>
            <a:solidFill>
              <a:srgbClr val="E9C7C6"/>
            </a:solidFill>
          </p:spPr>
        </p:sp>
        <p:sp>
          <p:nvSpPr>
            <p:cNvPr name="TextBox 40" id="40"/>
            <p:cNvSpPr txBox="true"/>
            <p:nvPr/>
          </p:nvSpPr>
          <p:spPr>
            <a:xfrm>
              <a:off x="0" y="-38100"/>
              <a:ext cx="1939142" cy="595965"/>
            </a:xfrm>
            <a:prstGeom prst="rect">
              <a:avLst/>
            </a:prstGeom>
          </p:spPr>
          <p:txBody>
            <a:bodyPr anchor="ctr" rtlCol="false" tIns="50800" lIns="50800" bIns="50800" rIns="50800"/>
            <a:lstStyle/>
            <a:p>
              <a:pPr algn="ctr">
                <a:lnSpc>
                  <a:spcPts val="2659"/>
                </a:lnSpc>
              </a:pPr>
            </a:p>
          </p:txBody>
        </p:sp>
      </p:grpSp>
      <p:sp>
        <p:nvSpPr>
          <p:cNvPr name="TextBox 41" id="41"/>
          <p:cNvSpPr txBox="true"/>
          <p:nvPr/>
        </p:nvSpPr>
        <p:spPr>
          <a:xfrm rot="0">
            <a:off x="10181723" y="2877847"/>
            <a:ext cx="6908149" cy="931241"/>
          </a:xfrm>
          <a:prstGeom prst="rect">
            <a:avLst/>
          </a:prstGeom>
        </p:spPr>
        <p:txBody>
          <a:bodyPr anchor="t" rtlCol="false" tIns="0" lIns="0" bIns="0" rIns="0">
            <a:spAutoFit/>
          </a:bodyPr>
          <a:lstStyle/>
          <a:p>
            <a:pPr algn="l">
              <a:lnSpc>
                <a:spcPts val="3796"/>
              </a:lnSpc>
            </a:pPr>
            <a:r>
              <a:rPr lang="en-US" sz="2711">
                <a:solidFill>
                  <a:srgbClr val="000000"/>
                </a:solidFill>
                <a:latin typeface="Alatsi Bold"/>
              </a:rPr>
              <a:t>The System sends the notification when the theft is done.</a:t>
            </a:r>
          </a:p>
        </p:txBody>
      </p:sp>
      <p:sp>
        <p:nvSpPr>
          <p:cNvPr name="TextBox 42" id="42"/>
          <p:cNvSpPr txBox="true"/>
          <p:nvPr/>
        </p:nvSpPr>
        <p:spPr>
          <a:xfrm rot="0">
            <a:off x="10739717" y="2251076"/>
            <a:ext cx="4559734" cy="594909"/>
          </a:xfrm>
          <a:prstGeom prst="rect">
            <a:avLst/>
          </a:prstGeom>
        </p:spPr>
        <p:txBody>
          <a:bodyPr anchor="t" rtlCol="false" tIns="0" lIns="0" bIns="0" rIns="0">
            <a:spAutoFit/>
          </a:bodyPr>
          <a:lstStyle/>
          <a:p>
            <a:pPr algn="l">
              <a:lnSpc>
                <a:spcPts val="4928"/>
              </a:lnSpc>
            </a:pPr>
            <a:r>
              <a:rPr lang="en-US" sz="3520">
                <a:solidFill>
                  <a:srgbClr val="000000"/>
                </a:solidFill>
                <a:latin typeface="Alatsi Bold"/>
              </a:rPr>
              <a:t>Notification System</a:t>
            </a:r>
          </a:p>
        </p:txBody>
      </p:sp>
      <p:grpSp>
        <p:nvGrpSpPr>
          <p:cNvPr name="Group 43" id="43"/>
          <p:cNvGrpSpPr/>
          <p:nvPr/>
        </p:nvGrpSpPr>
        <p:grpSpPr>
          <a:xfrm rot="0">
            <a:off x="10181723" y="2402883"/>
            <a:ext cx="357969" cy="357969"/>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45" id="4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674688"/>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BLOCK DIAGRAM</a:t>
            </a:r>
          </a:p>
        </p:txBody>
      </p:sp>
      <p:grpSp>
        <p:nvGrpSpPr>
          <p:cNvPr name="Group 3" id="3"/>
          <p:cNvGrpSpPr/>
          <p:nvPr/>
        </p:nvGrpSpPr>
        <p:grpSpPr>
          <a:xfrm rot="0">
            <a:off x="15859155" y="0"/>
            <a:ext cx="1562612" cy="1673225"/>
            <a:chOff x="0" y="0"/>
            <a:chExt cx="2083482" cy="2230967"/>
          </a:xfrm>
        </p:grpSpPr>
        <p:grpSp>
          <p:nvGrpSpPr>
            <p:cNvPr name="Group 4" id="4"/>
            <p:cNvGrpSpPr/>
            <p:nvPr/>
          </p:nvGrpSpPr>
          <p:grpSpPr>
            <a:xfrm rot="0">
              <a:off x="75599" y="0"/>
              <a:ext cx="1932284" cy="2230967"/>
              <a:chOff x="0" y="0"/>
              <a:chExt cx="703982" cy="812800"/>
            </a:xfrm>
          </p:grpSpPr>
          <p:sp>
            <p:nvSpPr>
              <p:cNvPr name="Freeform 5" id="5"/>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6" id="6"/>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8</a:t>
              </a:r>
            </a:p>
          </p:txBody>
        </p:sp>
      </p:grpSp>
      <p:sp>
        <p:nvSpPr>
          <p:cNvPr name="Freeform 8" id="8"/>
          <p:cNvSpPr/>
          <p:nvPr/>
        </p:nvSpPr>
        <p:spPr>
          <a:xfrm flipH="false" flipV="false" rot="0">
            <a:off x="12982861"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835308"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699008" y="9392985"/>
            <a:ext cx="19619868" cy="407670"/>
            <a:chOff x="0" y="0"/>
            <a:chExt cx="26159824" cy="543560"/>
          </a:xfrm>
        </p:grpSpPr>
        <p:sp>
          <p:nvSpPr>
            <p:cNvPr name="TextBox 11" id="11"/>
            <p:cNvSpPr txBox="true"/>
            <p:nvPr/>
          </p:nvSpPr>
          <p:spPr>
            <a:xfrm rot="0">
              <a:off x="8544717" y="-57150"/>
              <a:ext cx="9176144" cy="60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Advanced Power Theft Detection</a:t>
              </a:r>
            </a:p>
          </p:txBody>
        </p:sp>
        <p:sp>
          <p:nvSpPr>
            <p:cNvPr name="AutoShape 12" id="12"/>
            <p:cNvSpPr/>
            <p:nvPr/>
          </p:nvSpPr>
          <p:spPr>
            <a:xfrm>
              <a:off x="204" y="284480"/>
              <a:ext cx="9473686" cy="25400"/>
            </a:xfrm>
            <a:prstGeom prst="line">
              <a:avLst/>
            </a:prstGeom>
            <a:ln cap="flat" w="152400">
              <a:solidFill>
                <a:srgbClr val="9FC3D0"/>
              </a:solidFill>
              <a:prstDash val="solid"/>
              <a:headEnd type="none" len="sm" w="sm"/>
              <a:tailEnd type="none" len="sm" w="sm"/>
            </a:ln>
          </p:spPr>
        </p:sp>
        <p:sp>
          <p:nvSpPr>
            <p:cNvPr name="AutoShape 13" id="13"/>
            <p:cNvSpPr/>
            <p:nvPr/>
          </p:nvSpPr>
          <p:spPr>
            <a:xfrm>
              <a:off x="16685934" y="271780"/>
              <a:ext cx="9473686" cy="25400"/>
            </a:xfrm>
            <a:prstGeom prst="line">
              <a:avLst/>
            </a:prstGeom>
            <a:ln cap="flat" w="152400">
              <a:solidFill>
                <a:srgbClr val="9FC3D0"/>
              </a:solidFill>
              <a:prstDash val="solid"/>
              <a:headEnd type="none" len="sm" w="sm"/>
              <a:tailEnd type="none" len="sm" w="sm"/>
            </a:ln>
          </p:spPr>
        </p:sp>
      </p:grpSp>
      <p:sp>
        <p:nvSpPr>
          <p:cNvPr name="Freeform 14" id="14"/>
          <p:cNvSpPr/>
          <p:nvPr/>
        </p:nvSpPr>
        <p:spPr>
          <a:xfrm flipH="false" flipV="false" rot="0">
            <a:off x="2549521" y="2125663"/>
            <a:ext cx="13188958" cy="7028662"/>
          </a:xfrm>
          <a:custGeom>
            <a:avLst/>
            <a:gdLst/>
            <a:ahLst/>
            <a:cxnLst/>
            <a:rect r="r" b="b" t="t" l="l"/>
            <a:pathLst>
              <a:path h="7028662" w="13188958">
                <a:moveTo>
                  <a:pt x="0" y="0"/>
                </a:moveTo>
                <a:lnTo>
                  <a:pt x="13188958" y="0"/>
                </a:lnTo>
                <a:lnTo>
                  <a:pt x="13188958" y="7028662"/>
                </a:lnTo>
                <a:lnTo>
                  <a:pt x="0" y="7028662"/>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320979"/>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COMPONENTS</a:t>
            </a:r>
          </a:p>
        </p:txBody>
      </p:sp>
      <p:grpSp>
        <p:nvGrpSpPr>
          <p:cNvPr name="Group 3" id="3"/>
          <p:cNvGrpSpPr/>
          <p:nvPr/>
        </p:nvGrpSpPr>
        <p:grpSpPr>
          <a:xfrm rot="0">
            <a:off x="15859155" y="0"/>
            <a:ext cx="1562612" cy="1673225"/>
            <a:chOff x="0" y="0"/>
            <a:chExt cx="2083482" cy="2230967"/>
          </a:xfrm>
        </p:grpSpPr>
        <p:grpSp>
          <p:nvGrpSpPr>
            <p:cNvPr name="Group 4" id="4"/>
            <p:cNvGrpSpPr/>
            <p:nvPr/>
          </p:nvGrpSpPr>
          <p:grpSpPr>
            <a:xfrm rot="0">
              <a:off x="75599" y="0"/>
              <a:ext cx="1932284" cy="2230967"/>
              <a:chOff x="0" y="0"/>
              <a:chExt cx="703982" cy="812800"/>
            </a:xfrm>
          </p:grpSpPr>
          <p:sp>
            <p:nvSpPr>
              <p:cNvPr name="Freeform 5" id="5"/>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6" id="6"/>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9</a:t>
              </a:r>
            </a:p>
          </p:txBody>
        </p:sp>
      </p:grpSp>
      <p:sp>
        <p:nvSpPr>
          <p:cNvPr name="Freeform 8" id="8"/>
          <p:cNvSpPr/>
          <p:nvPr/>
        </p:nvSpPr>
        <p:spPr>
          <a:xfrm flipH="false" flipV="false" rot="0">
            <a:off x="12982861"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360711" y="-284687"/>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699008" y="9392985"/>
            <a:ext cx="19619868" cy="407670"/>
            <a:chOff x="0" y="0"/>
            <a:chExt cx="26159824" cy="543560"/>
          </a:xfrm>
        </p:grpSpPr>
        <p:sp>
          <p:nvSpPr>
            <p:cNvPr name="TextBox 11" id="11"/>
            <p:cNvSpPr txBox="true"/>
            <p:nvPr/>
          </p:nvSpPr>
          <p:spPr>
            <a:xfrm rot="0">
              <a:off x="8544717" y="-57150"/>
              <a:ext cx="9176144" cy="60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Advanced Power Theft Detection</a:t>
              </a:r>
            </a:p>
          </p:txBody>
        </p:sp>
        <p:sp>
          <p:nvSpPr>
            <p:cNvPr name="AutoShape 12" id="12"/>
            <p:cNvSpPr/>
            <p:nvPr/>
          </p:nvSpPr>
          <p:spPr>
            <a:xfrm>
              <a:off x="204" y="284480"/>
              <a:ext cx="9473686" cy="25400"/>
            </a:xfrm>
            <a:prstGeom prst="line">
              <a:avLst/>
            </a:prstGeom>
            <a:ln cap="flat" w="152400">
              <a:solidFill>
                <a:srgbClr val="9FC3D0"/>
              </a:solidFill>
              <a:prstDash val="solid"/>
              <a:headEnd type="none" len="sm" w="sm"/>
              <a:tailEnd type="none" len="sm" w="sm"/>
            </a:ln>
          </p:spPr>
        </p:sp>
        <p:sp>
          <p:nvSpPr>
            <p:cNvPr name="AutoShape 13" id="13"/>
            <p:cNvSpPr/>
            <p:nvPr/>
          </p:nvSpPr>
          <p:spPr>
            <a:xfrm>
              <a:off x="16685934" y="271780"/>
              <a:ext cx="9473686" cy="25400"/>
            </a:xfrm>
            <a:prstGeom prst="line">
              <a:avLst/>
            </a:prstGeom>
            <a:ln cap="flat" w="152400">
              <a:solidFill>
                <a:srgbClr val="9FC3D0"/>
              </a:solidFill>
              <a:prstDash val="solid"/>
              <a:headEnd type="none" len="sm" w="sm"/>
              <a:tailEnd type="none" len="sm" w="sm"/>
            </a:ln>
          </p:spPr>
        </p:sp>
      </p:grpSp>
      <p:grpSp>
        <p:nvGrpSpPr>
          <p:cNvPr name="Group 14" id="14"/>
          <p:cNvGrpSpPr/>
          <p:nvPr/>
        </p:nvGrpSpPr>
        <p:grpSpPr>
          <a:xfrm rot="0">
            <a:off x="1167750" y="2368286"/>
            <a:ext cx="7724747" cy="1607400"/>
            <a:chOff x="0" y="0"/>
            <a:chExt cx="2034501" cy="423348"/>
          </a:xfrm>
        </p:grpSpPr>
        <p:sp>
          <p:nvSpPr>
            <p:cNvPr name="Freeform 15" id="15"/>
            <p:cNvSpPr/>
            <p:nvPr/>
          </p:nvSpPr>
          <p:spPr>
            <a:xfrm flipH="false" flipV="false" rot="0">
              <a:off x="0" y="0"/>
              <a:ext cx="2034501" cy="423348"/>
            </a:xfrm>
            <a:custGeom>
              <a:avLst/>
              <a:gdLst/>
              <a:ahLst/>
              <a:cxnLst/>
              <a:rect r="r" b="b" t="t" l="l"/>
              <a:pathLst>
                <a:path h="423348" w="2034501">
                  <a:moveTo>
                    <a:pt x="51113" y="0"/>
                  </a:moveTo>
                  <a:lnTo>
                    <a:pt x="1983388" y="0"/>
                  </a:lnTo>
                  <a:cubicBezTo>
                    <a:pt x="1996944" y="0"/>
                    <a:pt x="2009945" y="5385"/>
                    <a:pt x="2019531" y="14971"/>
                  </a:cubicBezTo>
                  <a:cubicBezTo>
                    <a:pt x="2029116" y="24556"/>
                    <a:pt x="2034501" y="37557"/>
                    <a:pt x="2034501" y="51113"/>
                  </a:cubicBezTo>
                  <a:lnTo>
                    <a:pt x="2034501" y="372235"/>
                  </a:lnTo>
                  <a:cubicBezTo>
                    <a:pt x="2034501" y="400464"/>
                    <a:pt x="2011617" y="423348"/>
                    <a:pt x="1983388" y="423348"/>
                  </a:cubicBezTo>
                  <a:lnTo>
                    <a:pt x="51113" y="423348"/>
                  </a:lnTo>
                  <a:cubicBezTo>
                    <a:pt x="37557" y="423348"/>
                    <a:pt x="24556" y="417963"/>
                    <a:pt x="14971" y="408377"/>
                  </a:cubicBezTo>
                  <a:cubicBezTo>
                    <a:pt x="5385" y="398792"/>
                    <a:pt x="0" y="385791"/>
                    <a:pt x="0" y="372235"/>
                  </a:cubicBezTo>
                  <a:lnTo>
                    <a:pt x="0" y="51113"/>
                  </a:lnTo>
                  <a:cubicBezTo>
                    <a:pt x="0" y="22884"/>
                    <a:pt x="22884" y="0"/>
                    <a:pt x="51113" y="0"/>
                  </a:cubicBezTo>
                  <a:close/>
                </a:path>
              </a:pathLst>
            </a:custGeom>
            <a:solidFill>
              <a:srgbClr val="E9C7C6"/>
            </a:solidFill>
          </p:spPr>
        </p:sp>
        <p:sp>
          <p:nvSpPr>
            <p:cNvPr name="TextBox 16" id="16"/>
            <p:cNvSpPr txBox="true"/>
            <p:nvPr/>
          </p:nvSpPr>
          <p:spPr>
            <a:xfrm>
              <a:off x="0" y="-38100"/>
              <a:ext cx="2034501" cy="461448"/>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028700" y="1819580"/>
            <a:ext cx="6590020" cy="670833"/>
          </a:xfrm>
          <a:prstGeom prst="rect">
            <a:avLst/>
          </a:prstGeom>
        </p:spPr>
        <p:txBody>
          <a:bodyPr anchor="t" rtlCol="false" tIns="0" lIns="0" bIns="0" rIns="0">
            <a:spAutoFit/>
          </a:bodyPr>
          <a:lstStyle/>
          <a:p>
            <a:pPr algn="l">
              <a:lnSpc>
                <a:spcPts val="5487"/>
              </a:lnSpc>
            </a:pPr>
            <a:r>
              <a:rPr lang="en-US" sz="3919">
                <a:solidFill>
                  <a:srgbClr val="000000"/>
                </a:solidFill>
                <a:latin typeface="Alatsi Bold"/>
              </a:rPr>
              <a:t>ESP8266</a:t>
            </a:r>
          </a:p>
        </p:txBody>
      </p:sp>
      <p:sp>
        <p:nvSpPr>
          <p:cNvPr name="TextBox 18" id="18"/>
          <p:cNvSpPr txBox="true"/>
          <p:nvPr/>
        </p:nvSpPr>
        <p:spPr>
          <a:xfrm rot="0">
            <a:off x="1365858" y="2547562"/>
            <a:ext cx="7328531" cy="860547"/>
          </a:xfrm>
          <a:prstGeom prst="rect">
            <a:avLst/>
          </a:prstGeom>
        </p:spPr>
        <p:txBody>
          <a:bodyPr anchor="t" rtlCol="false" tIns="0" lIns="0" bIns="0" rIns="0">
            <a:spAutoFit/>
          </a:bodyPr>
          <a:lstStyle/>
          <a:p>
            <a:pPr algn="l">
              <a:lnSpc>
                <a:spcPts val="3493"/>
              </a:lnSpc>
            </a:pPr>
            <a:r>
              <a:rPr lang="en-US" sz="2495">
                <a:solidFill>
                  <a:srgbClr val="000000"/>
                </a:solidFill>
                <a:latin typeface="Alatsi Bold"/>
              </a:rPr>
              <a:t>The ESP8266 is a Wi-Fi module that enables wireless communication and data transmission. </a:t>
            </a:r>
          </a:p>
        </p:txBody>
      </p:sp>
      <p:grpSp>
        <p:nvGrpSpPr>
          <p:cNvPr name="Group 19" id="19"/>
          <p:cNvGrpSpPr/>
          <p:nvPr/>
        </p:nvGrpSpPr>
        <p:grpSpPr>
          <a:xfrm rot="0">
            <a:off x="9943105" y="2368286"/>
            <a:ext cx="7724747" cy="1607400"/>
            <a:chOff x="0" y="0"/>
            <a:chExt cx="2034501" cy="423348"/>
          </a:xfrm>
        </p:grpSpPr>
        <p:sp>
          <p:nvSpPr>
            <p:cNvPr name="Freeform 20" id="20"/>
            <p:cNvSpPr/>
            <p:nvPr/>
          </p:nvSpPr>
          <p:spPr>
            <a:xfrm flipH="false" flipV="false" rot="0">
              <a:off x="0" y="0"/>
              <a:ext cx="2034501" cy="423348"/>
            </a:xfrm>
            <a:custGeom>
              <a:avLst/>
              <a:gdLst/>
              <a:ahLst/>
              <a:cxnLst/>
              <a:rect r="r" b="b" t="t" l="l"/>
              <a:pathLst>
                <a:path h="423348" w="2034501">
                  <a:moveTo>
                    <a:pt x="51113" y="0"/>
                  </a:moveTo>
                  <a:lnTo>
                    <a:pt x="1983388" y="0"/>
                  </a:lnTo>
                  <a:cubicBezTo>
                    <a:pt x="1996944" y="0"/>
                    <a:pt x="2009945" y="5385"/>
                    <a:pt x="2019531" y="14971"/>
                  </a:cubicBezTo>
                  <a:cubicBezTo>
                    <a:pt x="2029116" y="24556"/>
                    <a:pt x="2034501" y="37557"/>
                    <a:pt x="2034501" y="51113"/>
                  </a:cubicBezTo>
                  <a:lnTo>
                    <a:pt x="2034501" y="372235"/>
                  </a:lnTo>
                  <a:cubicBezTo>
                    <a:pt x="2034501" y="400464"/>
                    <a:pt x="2011617" y="423348"/>
                    <a:pt x="1983388" y="423348"/>
                  </a:cubicBezTo>
                  <a:lnTo>
                    <a:pt x="51113" y="423348"/>
                  </a:lnTo>
                  <a:cubicBezTo>
                    <a:pt x="37557" y="423348"/>
                    <a:pt x="24556" y="417963"/>
                    <a:pt x="14971" y="408377"/>
                  </a:cubicBezTo>
                  <a:cubicBezTo>
                    <a:pt x="5385" y="398792"/>
                    <a:pt x="0" y="385791"/>
                    <a:pt x="0" y="372235"/>
                  </a:cubicBezTo>
                  <a:lnTo>
                    <a:pt x="0" y="51113"/>
                  </a:lnTo>
                  <a:cubicBezTo>
                    <a:pt x="0" y="22884"/>
                    <a:pt x="22884" y="0"/>
                    <a:pt x="51113" y="0"/>
                  </a:cubicBezTo>
                  <a:close/>
                </a:path>
              </a:pathLst>
            </a:custGeom>
            <a:solidFill>
              <a:srgbClr val="E9C7C6"/>
            </a:solidFill>
          </p:spPr>
        </p:sp>
        <p:sp>
          <p:nvSpPr>
            <p:cNvPr name="TextBox 21" id="21"/>
            <p:cNvSpPr txBox="true"/>
            <p:nvPr/>
          </p:nvSpPr>
          <p:spPr>
            <a:xfrm>
              <a:off x="0" y="-38100"/>
              <a:ext cx="2034501" cy="461448"/>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9804055" y="1819580"/>
            <a:ext cx="6590020" cy="670833"/>
          </a:xfrm>
          <a:prstGeom prst="rect">
            <a:avLst/>
          </a:prstGeom>
        </p:spPr>
        <p:txBody>
          <a:bodyPr anchor="t" rtlCol="false" tIns="0" lIns="0" bIns="0" rIns="0">
            <a:spAutoFit/>
          </a:bodyPr>
          <a:lstStyle/>
          <a:p>
            <a:pPr algn="l">
              <a:lnSpc>
                <a:spcPts val="5487"/>
              </a:lnSpc>
            </a:pPr>
            <a:r>
              <a:rPr lang="en-US" sz="3919">
                <a:solidFill>
                  <a:srgbClr val="000000"/>
                </a:solidFill>
                <a:latin typeface="Alatsi Bold"/>
              </a:rPr>
              <a:t>Current Sensors (ACS712)</a:t>
            </a:r>
          </a:p>
        </p:txBody>
      </p:sp>
      <p:sp>
        <p:nvSpPr>
          <p:cNvPr name="TextBox 23" id="23"/>
          <p:cNvSpPr txBox="true"/>
          <p:nvPr/>
        </p:nvSpPr>
        <p:spPr>
          <a:xfrm rot="0">
            <a:off x="10141214" y="2547562"/>
            <a:ext cx="7328531" cy="860547"/>
          </a:xfrm>
          <a:prstGeom prst="rect">
            <a:avLst/>
          </a:prstGeom>
        </p:spPr>
        <p:txBody>
          <a:bodyPr anchor="t" rtlCol="false" tIns="0" lIns="0" bIns="0" rIns="0">
            <a:spAutoFit/>
          </a:bodyPr>
          <a:lstStyle/>
          <a:p>
            <a:pPr algn="l">
              <a:lnSpc>
                <a:spcPts val="3493"/>
              </a:lnSpc>
            </a:pPr>
            <a:r>
              <a:rPr lang="en-US" sz="2495">
                <a:solidFill>
                  <a:srgbClr val="000000"/>
                </a:solidFill>
                <a:latin typeface="Alatsi Bold"/>
              </a:rPr>
              <a:t>The ACS712 is a Hall effect-based current sensor capable of measuring both AC and DC currents.</a:t>
            </a:r>
          </a:p>
        </p:txBody>
      </p:sp>
      <p:sp>
        <p:nvSpPr>
          <p:cNvPr name="Freeform 24" id="24"/>
          <p:cNvSpPr/>
          <p:nvPr/>
        </p:nvSpPr>
        <p:spPr>
          <a:xfrm flipH="true" flipV="false" rot="-1117344">
            <a:off x="7677036" y="2864729"/>
            <a:ext cx="1876528" cy="1876528"/>
          </a:xfrm>
          <a:custGeom>
            <a:avLst/>
            <a:gdLst/>
            <a:ahLst/>
            <a:cxnLst/>
            <a:rect r="r" b="b" t="t" l="l"/>
            <a:pathLst>
              <a:path h="1876528" w="1876528">
                <a:moveTo>
                  <a:pt x="1876528" y="0"/>
                </a:moveTo>
                <a:lnTo>
                  <a:pt x="0" y="0"/>
                </a:lnTo>
                <a:lnTo>
                  <a:pt x="0" y="1876528"/>
                </a:lnTo>
                <a:lnTo>
                  <a:pt x="1876528" y="1876528"/>
                </a:lnTo>
                <a:lnTo>
                  <a:pt x="1876528" y="0"/>
                </a:lnTo>
                <a:close/>
              </a:path>
            </a:pathLst>
          </a:custGeom>
          <a:blipFill>
            <a:blip r:embed="rId4"/>
            <a:stretch>
              <a:fillRect l="0" t="0" r="0" b="0"/>
            </a:stretch>
          </a:blipFill>
        </p:spPr>
      </p:sp>
      <p:sp>
        <p:nvSpPr>
          <p:cNvPr name="Freeform 25" id="25"/>
          <p:cNvSpPr/>
          <p:nvPr/>
        </p:nvSpPr>
        <p:spPr>
          <a:xfrm flipH="false" flipV="false" rot="0">
            <a:off x="15707943" y="2817872"/>
            <a:ext cx="2898501" cy="2173876"/>
          </a:xfrm>
          <a:custGeom>
            <a:avLst/>
            <a:gdLst/>
            <a:ahLst/>
            <a:cxnLst/>
            <a:rect r="r" b="b" t="t" l="l"/>
            <a:pathLst>
              <a:path h="2173876" w="2898501">
                <a:moveTo>
                  <a:pt x="0" y="0"/>
                </a:moveTo>
                <a:lnTo>
                  <a:pt x="2898501" y="0"/>
                </a:lnTo>
                <a:lnTo>
                  <a:pt x="2898501" y="2173876"/>
                </a:lnTo>
                <a:lnTo>
                  <a:pt x="0" y="2173876"/>
                </a:lnTo>
                <a:lnTo>
                  <a:pt x="0" y="0"/>
                </a:lnTo>
                <a:close/>
              </a:path>
            </a:pathLst>
          </a:custGeom>
          <a:blipFill>
            <a:blip r:embed="rId5"/>
            <a:stretch>
              <a:fillRect l="0" t="0" r="0" b="0"/>
            </a:stretch>
          </a:blipFill>
        </p:spPr>
      </p:sp>
      <p:grpSp>
        <p:nvGrpSpPr>
          <p:cNvPr name="Group 26" id="26"/>
          <p:cNvGrpSpPr/>
          <p:nvPr/>
        </p:nvGrpSpPr>
        <p:grpSpPr>
          <a:xfrm rot="0">
            <a:off x="10085145" y="6149221"/>
            <a:ext cx="7724747" cy="1704425"/>
            <a:chOff x="0" y="0"/>
            <a:chExt cx="2034501" cy="448902"/>
          </a:xfrm>
        </p:grpSpPr>
        <p:sp>
          <p:nvSpPr>
            <p:cNvPr name="Freeform 27" id="27"/>
            <p:cNvSpPr/>
            <p:nvPr/>
          </p:nvSpPr>
          <p:spPr>
            <a:xfrm flipH="false" flipV="false" rot="0">
              <a:off x="0" y="0"/>
              <a:ext cx="2034501" cy="448902"/>
            </a:xfrm>
            <a:custGeom>
              <a:avLst/>
              <a:gdLst/>
              <a:ahLst/>
              <a:cxnLst/>
              <a:rect r="r" b="b" t="t" l="l"/>
              <a:pathLst>
                <a:path h="448902" w="2034501">
                  <a:moveTo>
                    <a:pt x="51113" y="0"/>
                  </a:moveTo>
                  <a:lnTo>
                    <a:pt x="1983388" y="0"/>
                  </a:lnTo>
                  <a:cubicBezTo>
                    <a:pt x="1996944" y="0"/>
                    <a:pt x="2009945" y="5385"/>
                    <a:pt x="2019531" y="14971"/>
                  </a:cubicBezTo>
                  <a:cubicBezTo>
                    <a:pt x="2029116" y="24556"/>
                    <a:pt x="2034501" y="37557"/>
                    <a:pt x="2034501" y="51113"/>
                  </a:cubicBezTo>
                  <a:lnTo>
                    <a:pt x="2034501" y="397789"/>
                  </a:lnTo>
                  <a:cubicBezTo>
                    <a:pt x="2034501" y="426018"/>
                    <a:pt x="2011617" y="448902"/>
                    <a:pt x="1983388" y="448902"/>
                  </a:cubicBezTo>
                  <a:lnTo>
                    <a:pt x="51113" y="448902"/>
                  </a:lnTo>
                  <a:cubicBezTo>
                    <a:pt x="37557" y="448902"/>
                    <a:pt x="24556" y="443517"/>
                    <a:pt x="14971" y="433931"/>
                  </a:cubicBezTo>
                  <a:cubicBezTo>
                    <a:pt x="5385" y="424346"/>
                    <a:pt x="0" y="411345"/>
                    <a:pt x="0" y="397789"/>
                  </a:cubicBezTo>
                  <a:lnTo>
                    <a:pt x="0" y="51113"/>
                  </a:lnTo>
                  <a:cubicBezTo>
                    <a:pt x="0" y="22884"/>
                    <a:pt x="22884" y="0"/>
                    <a:pt x="51113" y="0"/>
                  </a:cubicBezTo>
                  <a:close/>
                </a:path>
              </a:pathLst>
            </a:custGeom>
            <a:solidFill>
              <a:srgbClr val="E9C7C6"/>
            </a:solidFill>
          </p:spPr>
        </p:sp>
        <p:sp>
          <p:nvSpPr>
            <p:cNvPr name="TextBox 28" id="28"/>
            <p:cNvSpPr txBox="true"/>
            <p:nvPr/>
          </p:nvSpPr>
          <p:spPr>
            <a:xfrm>
              <a:off x="0" y="-38100"/>
              <a:ext cx="2034501" cy="487002"/>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9946095" y="5600515"/>
            <a:ext cx="6590020" cy="670833"/>
          </a:xfrm>
          <a:prstGeom prst="rect">
            <a:avLst/>
          </a:prstGeom>
        </p:spPr>
        <p:txBody>
          <a:bodyPr anchor="t" rtlCol="false" tIns="0" lIns="0" bIns="0" rIns="0">
            <a:spAutoFit/>
          </a:bodyPr>
          <a:lstStyle/>
          <a:p>
            <a:pPr algn="l">
              <a:lnSpc>
                <a:spcPts val="5487"/>
              </a:lnSpc>
            </a:pPr>
            <a:r>
              <a:rPr lang="en-US" sz="3919">
                <a:solidFill>
                  <a:srgbClr val="000000"/>
                </a:solidFill>
                <a:latin typeface="Alatsi Bold"/>
              </a:rPr>
              <a:t>Theft Load </a:t>
            </a:r>
          </a:p>
        </p:txBody>
      </p:sp>
      <p:sp>
        <p:nvSpPr>
          <p:cNvPr name="TextBox 30" id="30"/>
          <p:cNvSpPr txBox="true"/>
          <p:nvPr/>
        </p:nvSpPr>
        <p:spPr>
          <a:xfrm rot="0">
            <a:off x="10283253" y="6328498"/>
            <a:ext cx="7328531" cy="1298697"/>
          </a:xfrm>
          <a:prstGeom prst="rect">
            <a:avLst/>
          </a:prstGeom>
        </p:spPr>
        <p:txBody>
          <a:bodyPr anchor="t" rtlCol="false" tIns="0" lIns="0" bIns="0" rIns="0">
            <a:spAutoFit/>
          </a:bodyPr>
          <a:lstStyle/>
          <a:p>
            <a:pPr algn="l">
              <a:lnSpc>
                <a:spcPts val="3493"/>
              </a:lnSpc>
            </a:pPr>
            <a:r>
              <a:rPr lang="en-US" sz="2495">
                <a:solidFill>
                  <a:srgbClr val="000000"/>
                </a:solidFill>
                <a:latin typeface="Alatsi Bold"/>
              </a:rPr>
              <a:t>This load is deliberately introduced to mimic scenarios where unauthorized devices or connections draw power from the distribution system.</a:t>
            </a:r>
          </a:p>
        </p:txBody>
      </p:sp>
      <p:grpSp>
        <p:nvGrpSpPr>
          <p:cNvPr name="Group 31" id="31"/>
          <p:cNvGrpSpPr/>
          <p:nvPr/>
        </p:nvGrpSpPr>
        <p:grpSpPr>
          <a:xfrm rot="0">
            <a:off x="1167750" y="6084556"/>
            <a:ext cx="7724747" cy="1769091"/>
            <a:chOff x="0" y="0"/>
            <a:chExt cx="2034501" cy="465934"/>
          </a:xfrm>
        </p:grpSpPr>
        <p:sp>
          <p:nvSpPr>
            <p:cNvPr name="Freeform 32" id="32"/>
            <p:cNvSpPr/>
            <p:nvPr/>
          </p:nvSpPr>
          <p:spPr>
            <a:xfrm flipH="false" flipV="false" rot="0">
              <a:off x="0" y="0"/>
              <a:ext cx="2034501" cy="465934"/>
            </a:xfrm>
            <a:custGeom>
              <a:avLst/>
              <a:gdLst/>
              <a:ahLst/>
              <a:cxnLst/>
              <a:rect r="r" b="b" t="t" l="l"/>
              <a:pathLst>
                <a:path h="465934" w="2034501">
                  <a:moveTo>
                    <a:pt x="51113" y="0"/>
                  </a:moveTo>
                  <a:lnTo>
                    <a:pt x="1983388" y="0"/>
                  </a:lnTo>
                  <a:cubicBezTo>
                    <a:pt x="1996944" y="0"/>
                    <a:pt x="2009945" y="5385"/>
                    <a:pt x="2019531" y="14971"/>
                  </a:cubicBezTo>
                  <a:cubicBezTo>
                    <a:pt x="2029116" y="24556"/>
                    <a:pt x="2034501" y="37557"/>
                    <a:pt x="2034501" y="51113"/>
                  </a:cubicBezTo>
                  <a:lnTo>
                    <a:pt x="2034501" y="414820"/>
                  </a:lnTo>
                  <a:cubicBezTo>
                    <a:pt x="2034501" y="443049"/>
                    <a:pt x="2011617" y="465934"/>
                    <a:pt x="1983388" y="465934"/>
                  </a:cubicBezTo>
                  <a:lnTo>
                    <a:pt x="51113" y="465934"/>
                  </a:lnTo>
                  <a:cubicBezTo>
                    <a:pt x="37557" y="465934"/>
                    <a:pt x="24556" y="460548"/>
                    <a:pt x="14971" y="450963"/>
                  </a:cubicBezTo>
                  <a:cubicBezTo>
                    <a:pt x="5385" y="441377"/>
                    <a:pt x="0" y="428376"/>
                    <a:pt x="0" y="414820"/>
                  </a:cubicBezTo>
                  <a:lnTo>
                    <a:pt x="0" y="51113"/>
                  </a:lnTo>
                  <a:cubicBezTo>
                    <a:pt x="0" y="22884"/>
                    <a:pt x="22884" y="0"/>
                    <a:pt x="51113" y="0"/>
                  </a:cubicBezTo>
                  <a:close/>
                </a:path>
              </a:pathLst>
            </a:custGeom>
            <a:solidFill>
              <a:srgbClr val="E9C7C6"/>
            </a:solidFill>
          </p:spPr>
        </p:sp>
        <p:sp>
          <p:nvSpPr>
            <p:cNvPr name="TextBox 33" id="33"/>
            <p:cNvSpPr txBox="true"/>
            <p:nvPr/>
          </p:nvSpPr>
          <p:spPr>
            <a:xfrm>
              <a:off x="0" y="-38100"/>
              <a:ext cx="2034501" cy="504034"/>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1028700" y="5535849"/>
            <a:ext cx="6590020" cy="670833"/>
          </a:xfrm>
          <a:prstGeom prst="rect">
            <a:avLst/>
          </a:prstGeom>
        </p:spPr>
        <p:txBody>
          <a:bodyPr anchor="t" rtlCol="false" tIns="0" lIns="0" bIns="0" rIns="0">
            <a:spAutoFit/>
          </a:bodyPr>
          <a:lstStyle/>
          <a:p>
            <a:pPr algn="l">
              <a:lnSpc>
                <a:spcPts val="5487"/>
              </a:lnSpc>
            </a:pPr>
            <a:r>
              <a:rPr lang="en-US" sz="3919">
                <a:solidFill>
                  <a:srgbClr val="000000"/>
                </a:solidFill>
                <a:latin typeface="Alatsi Bold"/>
              </a:rPr>
              <a:t>Blynk IoT Platform</a:t>
            </a:r>
          </a:p>
        </p:txBody>
      </p:sp>
      <p:sp>
        <p:nvSpPr>
          <p:cNvPr name="TextBox 35" id="35"/>
          <p:cNvSpPr txBox="true"/>
          <p:nvPr/>
        </p:nvSpPr>
        <p:spPr>
          <a:xfrm rot="0">
            <a:off x="1365858" y="6254307"/>
            <a:ext cx="7526639" cy="1389694"/>
          </a:xfrm>
          <a:prstGeom prst="rect">
            <a:avLst/>
          </a:prstGeom>
        </p:spPr>
        <p:txBody>
          <a:bodyPr anchor="t" rtlCol="false" tIns="0" lIns="0" bIns="0" rIns="0">
            <a:spAutoFit/>
          </a:bodyPr>
          <a:lstStyle/>
          <a:p>
            <a:pPr algn="l">
              <a:lnSpc>
                <a:spcPts val="3727"/>
              </a:lnSpc>
            </a:pPr>
            <a:r>
              <a:rPr lang="en-US" sz="2662">
                <a:solidFill>
                  <a:srgbClr val="000000"/>
                </a:solidFill>
                <a:latin typeface="Alatsi Bold"/>
              </a:rPr>
              <a:t>Blynk is a popular IoT platform that allows users to control and monitor connected devices remotely through a mobile app.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674688"/>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FEATURES</a:t>
            </a:r>
          </a:p>
        </p:txBody>
      </p:sp>
      <p:sp>
        <p:nvSpPr>
          <p:cNvPr name="TextBox 3" id="3"/>
          <p:cNvSpPr txBox="true"/>
          <p:nvPr/>
        </p:nvSpPr>
        <p:spPr>
          <a:xfrm rot="0">
            <a:off x="1066800" y="2915024"/>
            <a:ext cx="16192500" cy="4204012"/>
          </a:xfrm>
          <a:prstGeom prst="rect">
            <a:avLst/>
          </a:prstGeom>
        </p:spPr>
        <p:txBody>
          <a:bodyPr anchor="t" rtlCol="false" tIns="0" lIns="0" bIns="0" rIns="0">
            <a:spAutoFit/>
          </a:bodyPr>
          <a:lstStyle/>
          <a:p>
            <a:pPr algn="l">
              <a:lnSpc>
                <a:spcPts val="5582"/>
              </a:lnSpc>
            </a:pPr>
            <a:r>
              <a:rPr lang="en-US" sz="3987">
                <a:solidFill>
                  <a:srgbClr val="000000"/>
                </a:solidFill>
                <a:latin typeface="Alatsi Bold"/>
              </a:rPr>
              <a:t>The system features:</a:t>
            </a:r>
          </a:p>
          <a:p>
            <a:pPr algn="l" marL="860949" indent="-430474" lvl="1">
              <a:lnSpc>
                <a:spcPts val="5582"/>
              </a:lnSpc>
              <a:buFont typeface="Arial"/>
              <a:buChar char="•"/>
            </a:pPr>
            <a:r>
              <a:rPr lang="en-US" sz="3987">
                <a:solidFill>
                  <a:srgbClr val="000000"/>
                </a:solidFill>
                <a:latin typeface="Alatsi Bold"/>
              </a:rPr>
              <a:t>Real-time monitoring of power consumption.</a:t>
            </a:r>
          </a:p>
          <a:p>
            <a:pPr algn="l" marL="860949" indent="-430474" lvl="1">
              <a:lnSpc>
                <a:spcPts val="5582"/>
              </a:lnSpc>
              <a:buFont typeface="Arial"/>
              <a:buChar char="•"/>
            </a:pPr>
            <a:r>
              <a:rPr lang="en-US" sz="3987">
                <a:solidFill>
                  <a:srgbClr val="000000"/>
                </a:solidFill>
                <a:latin typeface="Alatsi Bold"/>
              </a:rPr>
              <a:t>Anomaly detection for potential theft.</a:t>
            </a:r>
          </a:p>
          <a:p>
            <a:pPr algn="l" marL="860949" indent="-430474" lvl="1">
              <a:lnSpc>
                <a:spcPts val="5582"/>
              </a:lnSpc>
              <a:buFont typeface="Arial"/>
              <a:buChar char="•"/>
            </a:pPr>
            <a:r>
              <a:rPr lang="en-US" sz="3987">
                <a:solidFill>
                  <a:srgbClr val="000000"/>
                </a:solidFill>
                <a:latin typeface="Alatsi Bold"/>
              </a:rPr>
              <a:t>Integration with the Blynk IoT platform for remote access.</a:t>
            </a:r>
          </a:p>
          <a:p>
            <a:pPr algn="l" marL="860949" indent="-430474" lvl="1">
              <a:lnSpc>
                <a:spcPts val="5582"/>
              </a:lnSpc>
              <a:buFont typeface="Arial"/>
              <a:buChar char="•"/>
            </a:pPr>
            <a:r>
              <a:rPr lang="en-US" sz="3987">
                <a:solidFill>
                  <a:srgbClr val="000000"/>
                </a:solidFill>
                <a:latin typeface="Alatsi Bold"/>
              </a:rPr>
              <a:t>Alert notifications for prompt action.</a:t>
            </a:r>
          </a:p>
          <a:p>
            <a:pPr algn="l" marL="860949" indent="-430474" lvl="1">
              <a:lnSpc>
                <a:spcPts val="5582"/>
              </a:lnSpc>
              <a:buFont typeface="Arial"/>
              <a:buChar char="•"/>
            </a:pPr>
            <a:r>
              <a:rPr lang="en-US" sz="3987">
                <a:solidFill>
                  <a:srgbClr val="000000"/>
                </a:solidFill>
                <a:latin typeface="Alatsi Bold"/>
              </a:rPr>
              <a:t>Scalability for deployment across diverse networks.</a:t>
            </a:r>
          </a:p>
        </p:txBody>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10</a:t>
              </a:r>
            </a:p>
          </p:txBody>
        </p:sp>
      </p:grpSp>
      <p:sp>
        <p:nvSpPr>
          <p:cNvPr name="Freeform 9" id="9"/>
          <p:cNvSpPr/>
          <p:nvPr/>
        </p:nvSpPr>
        <p:spPr>
          <a:xfrm flipH="false" flipV="false" rot="0">
            <a:off x="12773631"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379475"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699008" y="9392985"/>
            <a:ext cx="19619868" cy="407670"/>
            <a:chOff x="0" y="0"/>
            <a:chExt cx="26159824" cy="543560"/>
          </a:xfrm>
        </p:grpSpPr>
        <p:sp>
          <p:nvSpPr>
            <p:cNvPr name="TextBox 12" id="12"/>
            <p:cNvSpPr txBox="true"/>
            <p:nvPr/>
          </p:nvSpPr>
          <p:spPr>
            <a:xfrm rot="0">
              <a:off x="8544717" y="-57150"/>
              <a:ext cx="9176144" cy="60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Advanced Power Theft Detection</a:t>
              </a:r>
            </a:p>
          </p:txBody>
        </p:sp>
        <p:sp>
          <p:nvSpPr>
            <p:cNvPr name="AutoShape 13" id="13"/>
            <p:cNvSpPr/>
            <p:nvPr/>
          </p:nvSpPr>
          <p:spPr>
            <a:xfrm>
              <a:off x="204" y="284480"/>
              <a:ext cx="9473686" cy="25400"/>
            </a:xfrm>
            <a:prstGeom prst="line">
              <a:avLst/>
            </a:prstGeom>
            <a:ln cap="flat" w="152400">
              <a:solidFill>
                <a:srgbClr val="9FC3D0"/>
              </a:solidFill>
              <a:prstDash val="solid"/>
              <a:headEnd type="none" len="sm" w="sm"/>
              <a:tailEnd type="none" len="sm" w="sm"/>
            </a:ln>
          </p:spPr>
        </p:sp>
        <p:sp>
          <p:nvSpPr>
            <p:cNvPr name="AutoShape 14" id="14"/>
            <p:cNvSpPr/>
            <p:nvPr/>
          </p:nvSpPr>
          <p:spPr>
            <a:xfrm>
              <a:off x="16685934" y="271780"/>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674688"/>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APPLICATION</a:t>
            </a:r>
          </a:p>
        </p:txBody>
      </p:sp>
      <p:sp>
        <p:nvSpPr>
          <p:cNvPr name="TextBox 3" id="3"/>
          <p:cNvSpPr txBox="true"/>
          <p:nvPr/>
        </p:nvSpPr>
        <p:spPr>
          <a:xfrm rot="0">
            <a:off x="1028700" y="2396243"/>
            <a:ext cx="16192500" cy="6159177"/>
          </a:xfrm>
          <a:prstGeom prst="rect">
            <a:avLst/>
          </a:prstGeom>
        </p:spPr>
        <p:txBody>
          <a:bodyPr anchor="t" rtlCol="false" tIns="0" lIns="0" bIns="0" rIns="0">
            <a:spAutoFit/>
          </a:bodyPr>
          <a:lstStyle/>
          <a:p>
            <a:pPr algn="l" marL="839359" indent="-419680" lvl="1">
              <a:lnSpc>
                <a:spcPts val="5442"/>
              </a:lnSpc>
              <a:buFont typeface="Arial"/>
              <a:buChar char="•"/>
            </a:pPr>
            <a:r>
              <a:rPr lang="en-US" sz="3887">
                <a:solidFill>
                  <a:srgbClr val="000000"/>
                </a:solidFill>
                <a:latin typeface="Alatsi Bold"/>
              </a:rPr>
              <a:t>Utility companies: Combat electricity theft, reduce revenue losses.</a:t>
            </a:r>
          </a:p>
          <a:p>
            <a:pPr algn="l" marL="839359" indent="-419680" lvl="1">
              <a:lnSpc>
                <a:spcPts val="5442"/>
              </a:lnSpc>
              <a:buFont typeface="Arial"/>
              <a:buChar char="•"/>
            </a:pPr>
            <a:r>
              <a:rPr lang="en-US" sz="3887">
                <a:solidFill>
                  <a:srgbClr val="000000"/>
                </a:solidFill>
                <a:latin typeface="Alatsi Bold"/>
              </a:rPr>
              <a:t>Government agencies: Enforce energy regulations, prevent illegal activities.</a:t>
            </a:r>
          </a:p>
          <a:p>
            <a:pPr algn="l" marL="839359" indent="-419680" lvl="1">
              <a:lnSpc>
                <a:spcPts val="5442"/>
              </a:lnSpc>
              <a:buFont typeface="Arial"/>
              <a:buChar char="•"/>
            </a:pPr>
            <a:r>
              <a:rPr lang="en-US" sz="3887">
                <a:solidFill>
                  <a:srgbClr val="000000"/>
                </a:solidFill>
                <a:latin typeface="Alatsi Bold"/>
              </a:rPr>
              <a:t>Smart cities: Ensure efficient, secure electricity distribution.</a:t>
            </a:r>
          </a:p>
          <a:p>
            <a:pPr algn="l" marL="839359" indent="-419680" lvl="1">
              <a:lnSpc>
                <a:spcPts val="5442"/>
              </a:lnSpc>
              <a:buFont typeface="Arial"/>
              <a:buChar char="•"/>
            </a:pPr>
            <a:r>
              <a:rPr lang="en-US" sz="3887">
                <a:solidFill>
                  <a:srgbClr val="000000"/>
                </a:solidFill>
                <a:latin typeface="Alatsi Bold"/>
              </a:rPr>
              <a:t>Industrial facilities: Optimize energy usage, minimize costs.</a:t>
            </a:r>
          </a:p>
          <a:p>
            <a:pPr algn="l" marL="839359" indent="-419680" lvl="1">
              <a:lnSpc>
                <a:spcPts val="5442"/>
              </a:lnSpc>
              <a:buFont typeface="Arial"/>
              <a:buChar char="•"/>
            </a:pPr>
            <a:r>
              <a:rPr lang="en-US" sz="3887">
                <a:solidFill>
                  <a:srgbClr val="000000"/>
                </a:solidFill>
                <a:latin typeface="Alatsi Bold"/>
              </a:rPr>
              <a:t>Residential/commercial buildings: Monitor electricity usage, detect inefficiencies.</a:t>
            </a:r>
          </a:p>
          <a:p>
            <a:pPr algn="l" marL="839359" indent="-419680" lvl="1">
              <a:lnSpc>
                <a:spcPts val="5442"/>
              </a:lnSpc>
              <a:buFont typeface="Arial"/>
              <a:buChar char="•"/>
            </a:pPr>
            <a:r>
              <a:rPr lang="en-US" sz="3887">
                <a:solidFill>
                  <a:srgbClr val="000000"/>
                </a:solidFill>
                <a:latin typeface="Alatsi Bold"/>
              </a:rPr>
              <a:t>Renewable energy projects: Ensure integrity, reliability of energy sources.</a:t>
            </a:r>
          </a:p>
        </p:txBody>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11</a:t>
              </a:r>
            </a:p>
          </p:txBody>
        </p:sp>
      </p:grpSp>
      <p:sp>
        <p:nvSpPr>
          <p:cNvPr name="Freeform 9" id="9"/>
          <p:cNvSpPr/>
          <p:nvPr/>
        </p:nvSpPr>
        <p:spPr>
          <a:xfrm flipH="false" flipV="false" rot="0">
            <a:off x="12642280"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360711"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699008" y="9392985"/>
            <a:ext cx="19619868" cy="407670"/>
            <a:chOff x="0" y="0"/>
            <a:chExt cx="26159824" cy="543560"/>
          </a:xfrm>
        </p:grpSpPr>
        <p:sp>
          <p:nvSpPr>
            <p:cNvPr name="TextBox 12" id="12"/>
            <p:cNvSpPr txBox="true"/>
            <p:nvPr/>
          </p:nvSpPr>
          <p:spPr>
            <a:xfrm rot="0">
              <a:off x="8544717" y="-57150"/>
              <a:ext cx="9176144" cy="60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Advanced Power Theft Detection</a:t>
              </a:r>
            </a:p>
          </p:txBody>
        </p:sp>
        <p:sp>
          <p:nvSpPr>
            <p:cNvPr name="AutoShape 13" id="13"/>
            <p:cNvSpPr/>
            <p:nvPr/>
          </p:nvSpPr>
          <p:spPr>
            <a:xfrm>
              <a:off x="204" y="284480"/>
              <a:ext cx="9473686" cy="25400"/>
            </a:xfrm>
            <a:prstGeom prst="line">
              <a:avLst/>
            </a:prstGeom>
            <a:ln cap="flat" w="152400">
              <a:solidFill>
                <a:srgbClr val="9FC3D0"/>
              </a:solidFill>
              <a:prstDash val="solid"/>
              <a:headEnd type="none" len="sm" w="sm"/>
              <a:tailEnd type="none" len="sm" w="sm"/>
            </a:ln>
          </p:spPr>
        </p:sp>
        <p:sp>
          <p:nvSpPr>
            <p:cNvPr name="AutoShape 14" id="14"/>
            <p:cNvSpPr/>
            <p:nvPr/>
          </p:nvSpPr>
          <p:spPr>
            <a:xfrm>
              <a:off x="16685934" y="271780"/>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674688"/>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PARAMETERS</a:t>
            </a:r>
          </a:p>
        </p:txBody>
      </p:sp>
      <p:sp>
        <p:nvSpPr>
          <p:cNvPr name="TextBox 3" id="3"/>
          <p:cNvSpPr txBox="true"/>
          <p:nvPr/>
        </p:nvSpPr>
        <p:spPr>
          <a:xfrm rot="0">
            <a:off x="1798274" y="2552182"/>
            <a:ext cx="8621990" cy="6328558"/>
          </a:xfrm>
          <a:prstGeom prst="rect">
            <a:avLst/>
          </a:prstGeom>
        </p:spPr>
        <p:txBody>
          <a:bodyPr anchor="t" rtlCol="false" tIns="0" lIns="0" bIns="0" rIns="0">
            <a:spAutoFit/>
          </a:bodyPr>
          <a:lstStyle/>
          <a:p>
            <a:pPr algn="l">
              <a:lnSpc>
                <a:spcPts val="6477"/>
              </a:lnSpc>
            </a:pPr>
            <a:r>
              <a:rPr lang="en-US" sz="4626">
                <a:solidFill>
                  <a:srgbClr val="000000"/>
                </a:solidFill>
                <a:latin typeface="Alatsi Bold"/>
              </a:rPr>
              <a:t>HARDWARE DESCRIPTION</a:t>
            </a:r>
          </a:p>
          <a:p>
            <a:pPr algn="l" marL="827896" indent="-413948" lvl="1">
              <a:lnSpc>
                <a:spcPts val="5368"/>
              </a:lnSpc>
              <a:buFont typeface="Arial"/>
              <a:buChar char="•"/>
            </a:pPr>
            <a:r>
              <a:rPr lang="en-US" sz="3834">
                <a:solidFill>
                  <a:srgbClr val="000000"/>
                </a:solidFill>
                <a:latin typeface="Alatsi Bold"/>
              </a:rPr>
              <a:t>ESP8266</a:t>
            </a:r>
          </a:p>
          <a:p>
            <a:pPr algn="l" marL="827896" indent="-413948" lvl="1">
              <a:lnSpc>
                <a:spcPts val="5368"/>
              </a:lnSpc>
              <a:buFont typeface="Arial"/>
              <a:buChar char="•"/>
            </a:pPr>
            <a:r>
              <a:rPr lang="en-US" sz="3834">
                <a:solidFill>
                  <a:srgbClr val="000000"/>
                </a:solidFill>
                <a:latin typeface="Alatsi"/>
              </a:rPr>
              <a:t>Current Sensor(ACS712)</a:t>
            </a:r>
          </a:p>
          <a:p>
            <a:pPr algn="l" marL="827896" indent="-413948" lvl="1">
              <a:lnSpc>
                <a:spcPts val="5368"/>
              </a:lnSpc>
              <a:buFont typeface="Arial"/>
              <a:buChar char="•"/>
            </a:pPr>
            <a:r>
              <a:rPr lang="en-US" sz="3834">
                <a:solidFill>
                  <a:srgbClr val="000000"/>
                </a:solidFill>
                <a:latin typeface="Alatsi"/>
              </a:rPr>
              <a:t>Additional Load for detection</a:t>
            </a:r>
          </a:p>
          <a:p>
            <a:pPr algn="l">
              <a:lnSpc>
                <a:spcPts val="6160"/>
              </a:lnSpc>
            </a:pPr>
            <a:r>
              <a:rPr lang="en-US" sz="4400">
                <a:solidFill>
                  <a:srgbClr val="000000"/>
                </a:solidFill>
                <a:latin typeface="Alatsi Bold"/>
              </a:rPr>
              <a:t>SOFTWARE DESCRIPTION</a:t>
            </a:r>
          </a:p>
          <a:p>
            <a:pPr algn="l" marL="827896" indent="-413948" lvl="1">
              <a:lnSpc>
                <a:spcPts val="5368"/>
              </a:lnSpc>
              <a:buFont typeface="Arial"/>
              <a:buChar char="•"/>
            </a:pPr>
            <a:r>
              <a:rPr lang="en-US" sz="3834">
                <a:solidFill>
                  <a:srgbClr val="000000"/>
                </a:solidFill>
                <a:latin typeface="Alatsi Bold"/>
              </a:rPr>
              <a:t>Arduino IDE</a:t>
            </a:r>
          </a:p>
          <a:p>
            <a:pPr algn="l" marL="827896" indent="-413948" lvl="1">
              <a:lnSpc>
                <a:spcPts val="5368"/>
              </a:lnSpc>
              <a:buFont typeface="Arial"/>
              <a:buChar char="•"/>
            </a:pPr>
            <a:r>
              <a:rPr lang="en-US" sz="3834">
                <a:solidFill>
                  <a:srgbClr val="000000"/>
                </a:solidFill>
                <a:latin typeface="Alatsi"/>
              </a:rPr>
              <a:t>B</a:t>
            </a:r>
            <a:r>
              <a:rPr lang="en-US" sz="3834">
                <a:solidFill>
                  <a:srgbClr val="000000"/>
                </a:solidFill>
                <a:latin typeface="Alatsi Bold"/>
              </a:rPr>
              <a:t>lynk application</a:t>
            </a:r>
          </a:p>
          <a:p>
            <a:pPr algn="l" marL="827896" indent="-413948" lvl="1">
              <a:lnSpc>
                <a:spcPts val="5368"/>
              </a:lnSpc>
              <a:buFont typeface="Arial"/>
              <a:buChar char="•"/>
            </a:pPr>
            <a:r>
              <a:rPr lang="en-US" sz="3834">
                <a:solidFill>
                  <a:srgbClr val="000000"/>
                </a:solidFill>
                <a:latin typeface="Alatsi Bold"/>
              </a:rPr>
              <a:t>Pushbullet</a:t>
            </a:r>
          </a:p>
          <a:p>
            <a:pPr algn="l">
              <a:lnSpc>
                <a:spcPts val="5368"/>
              </a:lnSpc>
            </a:pPr>
          </a:p>
        </p:txBody>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12</a:t>
              </a:r>
            </a:p>
          </p:txBody>
        </p:sp>
      </p:grpSp>
      <p:sp>
        <p:nvSpPr>
          <p:cNvPr name="Freeform 9" id="9"/>
          <p:cNvSpPr/>
          <p:nvPr/>
        </p:nvSpPr>
        <p:spPr>
          <a:xfrm flipH="false" flipV="false" rot="0">
            <a:off x="12473400"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191831"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699008" y="9392985"/>
            <a:ext cx="19619868" cy="407670"/>
            <a:chOff x="0" y="0"/>
            <a:chExt cx="26159824" cy="543560"/>
          </a:xfrm>
        </p:grpSpPr>
        <p:sp>
          <p:nvSpPr>
            <p:cNvPr name="TextBox 12" id="12"/>
            <p:cNvSpPr txBox="true"/>
            <p:nvPr/>
          </p:nvSpPr>
          <p:spPr>
            <a:xfrm rot="0">
              <a:off x="8544717" y="-57150"/>
              <a:ext cx="9176144" cy="60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Advanced Power Theft Detection</a:t>
              </a:r>
            </a:p>
          </p:txBody>
        </p:sp>
        <p:sp>
          <p:nvSpPr>
            <p:cNvPr name="AutoShape 13" id="13"/>
            <p:cNvSpPr/>
            <p:nvPr/>
          </p:nvSpPr>
          <p:spPr>
            <a:xfrm>
              <a:off x="204" y="284480"/>
              <a:ext cx="9473686" cy="25400"/>
            </a:xfrm>
            <a:prstGeom prst="line">
              <a:avLst/>
            </a:prstGeom>
            <a:ln cap="flat" w="152400">
              <a:solidFill>
                <a:srgbClr val="9FC3D0"/>
              </a:solidFill>
              <a:prstDash val="solid"/>
              <a:headEnd type="none" len="sm" w="sm"/>
              <a:tailEnd type="none" len="sm" w="sm"/>
            </a:ln>
          </p:spPr>
        </p:sp>
        <p:sp>
          <p:nvSpPr>
            <p:cNvPr name="AutoShape 14" id="14"/>
            <p:cNvSpPr/>
            <p:nvPr/>
          </p:nvSpPr>
          <p:spPr>
            <a:xfrm>
              <a:off x="16685934" y="271780"/>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Freeform 2" id="2"/>
          <p:cNvSpPr/>
          <p:nvPr/>
        </p:nvSpPr>
        <p:spPr>
          <a:xfrm flipH="false" flipV="false" rot="0">
            <a:off x="12982861"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859155" y="0"/>
            <a:ext cx="1562612" cy="1673225"/>
            <a:chOff x="0" y="0"/>
            <a:chExt cx="2083482" cy="2230967"/>
          </a:xfrm>
        </p:grpSpPr>
        <p:grpSp>
          <p:nvGrpSpPr>
            <p:cNvPr name="Group 4" id="4"/>
            <p:cNvGrpSpPr/>
            <p:nvPr/>
          </p:nvGrpSpPr>
          <p:grpSpPr>
            <a:xfrm rot="0">
              <a:off x="75599" y="0"/>
              <a:ext cx="1932284" cy="2230967"/>
              <a:chOff x="0" y="0"/>
              <a:chExt cx="703982" cy="812800"/>
            </a:xfrm>
          </p:grpSpPr>
          <p:sp>
            <p:nvSpPr>
              <p:cNvPr name="Freeform 5" id="5"/>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6" id="6"/>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13</a:t>
              </a:r>
            </a:p>
          </p:txBody>
        </p:sp>
      </p:grpSp>
      <p:sp>
        <p:nvSpPr>
          <p:cNvPr name="TextBox 8" id="8"/>
          <p:cNvSpPr txBox="true"/>
          <p:nvPr/>
        </p:nvSpPr>
        <p:spPr>
          <a:xfrm rot="0">
            <a:off x="3679044" y="866775"/>
            <a:ext cx="10929913"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OUTPUT AND RESULT</a:t>
            </a:r>
          </a:p>
        </p:txBody>
      </p:sp>
      <p:sp>
        <p:nvSpPr>
          <p:cNvPr name="Freeform 9" id="9"/>
          <p:cNvSpPr/>
          <p:nvPr/>
        </p:nvSpPr>
        <p:spPr>
          <a:xfrm flipH="false" flipV="false" rot="0">
            <a:off x="-3515963"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699008" y="9392985"/>
            <a:ext cx="19619868" cy="407670"/>
            <a:chOff x="0" y="0"/>
            <a:chExt cx="26159824" cy="543560"/>
          </a:xfrm>
        </p:grpSpPr>
        <p:sp>
          <p:nvSpPr>
            <p:cNvPr name="TextBox 11" id="11"/>
            <p:cNvSpPr txBox="true"/>
            <p:nvPr/>
          </p:nvSpPr>
          <p:spPr>
            <a:xfrm rot="0">
              <a:off x="8544717" y="-57150"/>
              <a:ext cx="9176144" cy="60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Advanced Power Theft Detection</a:t>
              </a:r>
            </a:p>
          </p:txBody>
        </p:sp>
        <p:sp>
          <p:nvSpPr>
            <p:cNvPr name="AutoShape 12" id="12"/>
            <p:cNvSpPr/>
            <p:nvPr/>
          </p:nvSpPr>
          <p:spPr>
            <a:xfrm>
              <a:off x="204" y="284480"/>
              <a:ext cx="9473686" cy="25400"/>
            </a:xfrm>
            <a:prstGeom prst="line">
              <a:avLst/>
            </a:prstGeom>
            <a:ln cap="flat" w="152400">
              <a:solidFill>
                <a:srgbClr val="9FC3D0"/>
              </a:solidFill>
              <a:prstDash val="solid"/>
              <a:headEnd type="none" len="sm" w="sm"/>
              <a:tailEnd type="none" len="sm" w="sm"/>
            </a:ln>
          </p:spPr>
        </p:sp>
        <p:sp>
          <p:nvSpPr>
            <p:cNvPr name="AutoShape 13" id="13"/>
            <p:cNvSpPr/>
            <p:nvPr/>
          </p:nvSpPr>
          <p:spPr>
            <a:xfrm>
              <a:off x="16685934" y="271780"/>
              <a:ext cx="9473686" cy="25400"/>
            </a:xfrm>
            <a:prstGeom prst="line">
              <a:avLst/>
            </a:prstGeom>
            <a:ln cap="flat" w="152400">
              <a:solidFill>
                <a:srgbClr val="9FC3D0"/>
              </a:solidFill>
              <a:prstDash val="solid"/>
              <a:headEnd type="none" len="sm" w="sm"/>
              <a:tailEnd type="none" len="sm" w="sm"/>
            </a:ln>
          </p:spPr>
        </p:sp>
      </p:grpSp>
      <p:sp>
        <p:nvSpPr>
          <p:cNvPr name="Freeform 14" id="14"/>
          <p:cNvSpPr/>
          <p:nvPr/>
        </p:nvSpPr>
        <p:spPr>
          <a:xfrm flipH="false" flipV="false" rot="0">
            <a:off x="707049" y="3443018"/>
            <a:ext cx="9733901" cy="4513445"/>
          </a:xfrm>
          <a:custGeom>
            <a:avLst/>
            <a:gdLst/>
            <a:ahLst/>
            <a:cxnLst/>
            <a:rect r="r" b="b" t="t" l="l"/>
            <a:pathLst>
              <a:path h="4513445" w="9733901">
                <a:moveTo>
                  <a:pt x="0" y="0"/>
                </a:moveTo>
                <a:lnTo>
                  <a:pt x="9733901" y="0"/>
                </a:lnTo>
                <a:lnTo>
                  <a:pt x="9733901" y="4513445"/>
                </a:lnTo>
                <a:lnTo>
                  <a:pt x="0" y="4513445"/>
                </a:lnTo>
                <a:lnTo>
                  <a:pt x="0" y="0"/>
                </a:lnTo>
                <a:close/>
              </a:path>
            </a:pathLst>
          </a:custGeom>
          <a:blipFill>
            <a:blip r:embed="rId4"/>
            <a:stretch>
              <a:fillRect l="0" t="0" r="0" b="0"/>
            </a:stretch>
          </a:blipFill>
          <a:ln cap="sq">
            <a:noFill/>
            <a:prstDash val="solid"/>
            <a:miter/>
          </a:ln>
        </p:spPr>
      </p:sp>
      <p:sp>
        <p:nvSpPr>
          <p:cNvPr name="Freeform 15" id="15"/>
          <p:cNvSpPr/>
          <p:nvPr/>
        </p:nvSpPr>
        <p:spPr>
          <a:xfrm flipH="false" flipV="false" rot="0">
            <a:off x="7965957" y="4479729"/>
            <a:ext cx="9603301" cy="4492320"/>
          </a:xfrm>
          <a:custGeom>
            <a:avLst/>
            <a:gdLst/>
            <a:ahLst/>
            <a:cxnLst/>
            <a:rect r="r" b="b" t="t" l="l"/>
            <a:pathLst>
              <a:path h="4492320" w="9603301">
                <a:moveTo>
                  <a:pt x="0" y="0"/>
                </a:moveTo>
                <a:lnTo>
                  <a:pt x="9603302" y="0"/>
                </a:lnTo>
                <a:lnTo>
                  <a:pt x="9603302" y="4492320"/>
                </a:lnTo>
                <a:lnTo>
                  <a:pt x="0" y="4492320"/>
                </a:lnTo>
                <a:lnTo>
                  <a:pt x="0" y="0"/>
                </a:lnTo>
                <a:close/>
              </a:path>
            </a:pathLst>
          </a:custGeom>
          <a:blipFill>
            <a:blip r:embed="rId5"/>
            <a:stretch>
              <a:fillRect l="0" t="0" r="0" b="0"/>
            </a:stretch>
          </a:blipFill>
        </p:spPr>
      </p:sp>
      <p:sp>
        <p:nvSpPr>
          <p:cNvPr name="TextBox 16" id="16"/>
          <p:cNvSpPr txBox="true"/>
          <p:nvPr/>
        </p:nvSpPr>
        <p:spPr>
          <a:xfrm rot="0">
            <a:off x="707049" y="2446206"/>
            <a:ext cx="16552251" cy="825362"/>
          </a:xfrm>
          <a:prstGeom prst="rect">
            <a:avLst/>
          </a:prstGeom>
        </p:spPr>
        <p:txBody>
          <a:bodyPr anchor="t" rtlCol="false" tIns="0" lIns="0" bIns="0" rIns="0">
            <a:spAutoFit/>
          </a:bodyPr>
          <a:lstStyle/>
          <a:p>
            <a:pPr algn="l">
              <a:lnSpc>
                <a:spcPts val="3332"/>
              </a:lnSpc>
            </a:pPr>
            <a:r>
              <a:rPr lang="en-US" sz="2380">
                <a:solidFill>
                  <a:srgbClr val="000000"/>
                </a:solidFill>
                <a:latin typeface="Alatsi Bold"/>
              </a:rPr>
              <a:t>The system accurately identifies irregularities in power consumption patterns, such as sudden spikes or drops, signaling potential electricity theft. </a:t>
            </a:r>
          </a:p>
        </p:txBody>
      </p:sp>
      <p:sp>
        <p:nvSpPr>
          <p:cNvPr name="AutoShape 17" id="17"/>
          <p:cNvSpPr/>
          <p:nvPr/>
        </p:nvSpPr>
        <p:spPr>
          <a:xfrm>
            <a:off x="2346815" y="6457007"/>
            <a:ext cx="5122626" cy="0"/>
          </a:xfrm>
          <a:prstGeom prst="line">
            <a:avLst/>
          </a:prstGeom>
          <a:ln cap="flat" w="76200">
            <a:solidFill>
              <a:srgbClr val="000000"/>
            </a:solidFill>
            <a:prstDash val="solid"/>
            <a:headEnd type="none" len="sm" w="sm"/>
            <a:tailEnd type="none" len="sm" w="sm"/>
          </a:ln>
        </p:spPr>
      </p:sp>
      <p:sp>
        <p:nvSpPr>
          <p:cNvPr name="AutoShape 18" id="18"/>
          <p:cNvSpPr/>
          <p:nvPr/>
        </p:nvSpPr>
        <p:spPr>
          <a:xfrm>
            <a:off x="2346815" y="5718790"/>
            <a:ext cx="5122626" cy="0"/>
          </a:xfrm>
          <a:prstGeom prst="line">
            <a:avLst/>
          </a:prstGeom>
          <a:ln cap="flat" w="76200">
            <a:solidFill>
              <a:srgbClr val="000000"/>
            </a:solidFill>
            <a:prstDash val="solid"/>
            <a:headEnd type="none" len="sm" w="sm"/>
            <a:tailEnd type="none" len="sm" w="sm"/>
          </a:ln>
        </p:spPr>
      </p:sp>
      <p:sp>
        <p:nvSpPr>
          <p:cNvPr name="AutoShape 19" id="19"/>
          <p:cNvSpPr/>
          <p:nvPr/>
        </p:nvSpPr>
        <p:spPr>
          <a:xfrm>
            <a:off x="9486331" y="6744939"/>
            <a:ext cx="5122626" cy="0"/>
          </a:xfrm>
          <a:prstGeom prst="line">
            <a:avLst/>
          </a:prstGeom>
          <a:ln cap="flat" w="76200">
            <a:solidFill>
              <a:srgbClr val="000000"/>
            </a:solidFill>
            <a:prstDash val="solid"/>
            <a:headEnd type="none" len="sm" w="sm"/>
            <a:tailEnd type="none" len="sm" w="sm"/>
          </a:ln>
        </p:spPr>
      </p:sp>
      <p:sp>
        <p:nvSpPr>
          <p:cNvPr name="AutoShape 20" id="20"/>
          <p:cNvSpPr/>
          <p:nvPr/>
        </p:nvSpPr>
        <p:spPr>
          <a:xfrm>
            <a:off x="9467281" y="7521255"/>
            <a:ext cx="5122626" cy="0"/>
          </a:xfrm>
          <a:prstGeom prst="line">
            <a:avLst/>
          </a:prstGeom>
          <a:ln cap="flat" w="76200">
            <a:solidFill>
              <a:srgbClr val="000000"/>
            </a:solidFill>
            <a:prstDash val="solid"/>
            <a:headEnd type="none" len="sm" w="sm"/>
            <a:tailEnd type="none" len="sm" w="sm"/>
          </a:ln>
        </p:spPr>
      </p:sp>
      <p:sp>
        <p:nvSpPr>
          <p:cNvPr name="AutoShape 21" id="21"/>
          <p:cNvSpPr/>
          <p:nvPr/>
        </p:nvSpPr>
        <p:spPr>
          <a:xfrm>
            <a:off x="2346815" y="5699740"/>
            <a:ext cx="0" cy="757266"/>
          </a:xfrm>
          <a:prstGeom prst="line">
            <a:avLst/>
          </a:prstGeom>
          <a:ln cap="flat" w="38100">
            <a:solidFill>
              <a:srgbClr val="000000"/>
            </a:solidFill>
            <a:prstDash val="solid"/>
            <a:headEnd type="none" len="sm" w="sm"/>
            <a:tailEnd type="none" len="sm" w="sm"/>
          </a:ln>
        </p:spPr>
      </p:sp>
      <p:sp>
        <p:nvSpPr>
          <p:cNvPr name="AutoShape 22" id="22"/>
          <p:cNvSpPr/>
          <p:nvPr/>
        </p:nvSpPr>
        <p:spPr>
          <a:xfrm>
            <a:off x="7450391" y="5718790"/>
            <a:ext cx="0" cy="757266"/>
          </a:xfrm>
          <a:prstGeom prst="line">
            <a:avLst/>
          </a:prstGeom>
          <a:ln cap="flat" w="38100">
            <a:solidFill>
              <a:srgbClr val="000000"/>
            </a:solidFill>
            <a:prstDash val="solid"/>
            <a:headEnd type="none" len="sm" w="sm"/>
            <a:tailEnd type="none" len="sm" w="sm"/>
          </a:ln>
        </p:spPr>
      </p:sp>
      <p:sp>
        <p:nvSpPr>
          <p:cNvPr name="AutoShape 23" id="23"/>
          <p:cNvSpPr/>
          <p:nvPr/>
        </p:nvSpPr>
        <p:spPr>
          <a:xfrm>
            <a:off x="9467281" y="6744939"/>
            <a:ext cx="0" cy="757266"/>
          </a:xfrm>
          <a:prstGeom prst="line">
            <a:avLst/>
          </a:prstGeom>
          <a:ln cap="flat" w="38100">
            <a:solidFill>
              <a:srgbClr val="000000"/>
            </a:solidFill>
            <a:prstDash val="solid"/>
            <a:headEnd type="none" len="sm" w="sm"/>
            <a:tailEnd type="none" len="sm" w="sm"/>
          </a:ln>
        </p:spPr>
      </p:sp>
      <p:sp>
        <p:nvSpPr>
          <p:cNvPr name="AutoShape 24" id="24"/>
          <p:cNvSpPr/>
          <p:nvPr/>
        </p:nvSpPr>
        <p:spPr>
          <a:xfrm>
            <a:off x="14608956" y="6763989"/>
            <a:ext cx="0" cy="757266"/>
          </a:xfrm>
          <a:prstGeom prst="line">
            <a:avLst/>
          </a:prstGeom>
          <a:ln cap="flat" w="38100">
            <a:solidFill>
              <a:srgbClr val="000000"/>
            </a:solidFill>
            <a:prstDash val="solid"/>
            <a:headEnd type="none" len="sm" w="sm"/>
            <a:tailEnd type="none" len="sm" w="sm"/>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Freeform 2" id="2"/>
          <p:cNvSpPr/>
          <p:nvPr/>
        </p:nvSpPr>
        <p:spPr>
          <a:xfrm flipH="false" flipV="false" rot="0">
            <a:off x="12982861"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859155" y="0"/>
            <a:ext cx="1562612" cy="1673225"/>
            <a:chOff x="0" y="0"/>
            <a:chExt cx="2083482" cy="2230967"/>
          </a:xfrm>
        </p:grpSpPr>
        <p:grpSp>
          <p:nvGrpSpPr>
            <p:cNvPr name="Group 4" id="4"/>
            <p:cNvGrpSpPr/>
            <p:nvPr/>
          </p:nvGrpSpPr>
          <p:grpSpPr>
            <a:xfrm rot="0">
              <a:off x="75599" y="0"/>
              <a:ext cx="1932284" cy="2230967"/>
              <a:chOff x="0" y="0"/>
              <a:chExt cx="703982" cy="812800"/>
            </a:xfrm>
          </p:grpSpPr>
          <p:sp>
            <p:nvSpPr>
              <p:cNvPr name="Freeform 5" id="5"/>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6" id="6"/>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14</a:t>
              </a:r>
            </a:p>
          </p:txBody>
        </p:sp>
      </p:grpSp>
      <p:sp>
        <p:nvSpPr>
          <p:cNvPr name="TextBox 8" id="8"/>
          <p:cNvSpPr txBox="true"/>
          <p:nvPr/>
        </p:nvSpPr>
        <p:spPr>
          <a:xfrm rot="0">
            <a:off x="3679044" y="866775"/>
            <a:ext cx="10929913"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CONCLUSION</a:t>
            </a:r>
          </a:p>
        </p:txBody>
      </p:sp>
      <p:sp>
        <p:nvSpPr>
          <p:cNvPr name="TextBox 9" id="9"/>
          <p:cNvSpPr txBox="true"/>
          <p:nvPr/>
        </p:nvSpPr>
        <p:spPr>
          <a:xfrm rot="0">
            <a:off x="1858657" y="3929766"/>
            <a:ext cx="14504538" cy="2370317"/>
          </a:xfrm>
          <a:prstGeom prst="rect">
            <a:avLst/>
          </a:prstGeom>
        </p:spPr>
        <p:txBody>
          <a:bodyPr anchor="t" rtlCol="false" tIns="0" lIns="0" bIns="0" rIns="0">
            <a:spAutoFit/>
          </a:bodyPr>
          <a:lstStyle/>
          <a:p>
            <a:pPr algn="l">
              <a:lnSpc>
                <a:spcPts val="3752"/>
              </a:lnSpc>
            </a:pPr>
            <a:r>
              <a:rPr lang="en-US" sz="2680">
                <a:solidFill>
                  <a:srgbClr val="000000"/>
                </a:solidFill>
                <a:latin typeface="Alatsi Bold"/>
              </a:rPr>
              <a:t>This initiative is geared towards boosting IoT connectivity and networking within the realm of smart city evolution. We're deploying sensors to detect facility theft, pinpoint faults, and track the fault area for necessary actions. The proposed system addresses key challenges in India's current grid setup, such as energy wastage, power theft, and cable faults. Moreover, it helps curb factors prompting electricity theft, contributing to a more robust and accountable energy framework.</a:t>
            </a:r>
          </a:p>
        </p:txBody>
      </p:sp>
      <p:sp>
        <p:nvSpPr>
          <p:cNvPr name="Freeform 10" id="10"/>
          <p:cNvSpPr/>
          <p:nvPr/>
        </p:nvSpPr>
        <p:spPr>
          <a:xfrm flipH="false" flipV="false" rot="0">
            <a:off x="-2990560" y="-16003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699008" y="9392985"/>
            <a:ext cx="19619868" cy="407670"/>
            <a:chOff x="0" y="0"/>
            <a:chExt cx="26159824" cy="543560"/>
          </a:xfrm>
        </p:grpSpPr>
        <p:sp>
          <p:nvSpPr>
            <p:cNvPr name="TextBox 12" id="12"/>
            <p:cNvSpPr txBox="true"/>
            <p:nvPr/>
          </p:nvSpPr>
          <p:spPr>
            <a:xfrm rot="0">
              <a:off x="8544717" y="-57150"/>
              <a:ext cx="9176144" cy="60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Advanced Power Theft Detection</a:t>
              </a:r>
            </a:p>
          </p:txBody>
        </p:sp>
        <p:sp>
          <p:nvSpPr>
            <p:cNvPr name="AutoShape 13" id="13"/>
            <p:cNvSpPr/>
            <p:nvPr/>
          </p:nvSpPr>
          <p:spPr>
            <a:xfrm>
              <a:off x="204" y="284480"/>
              <a:ext cx="9473686" cy="25400"/>
            </a:xfrm>
            <a:prstGeom prst="line">
              <a:avLst/>
            </a:prstGeom>
            <a:ln cap="flat" w="152400">
              <a:solidFill>
                <a:srgbClr val="9FC3D0"/>
              </a:solidFill>
              <a:prstDash val="solid"/>
              <a:headEnd type="none" len="sm" w="sm"/>
              <a:tailEnd type="none" len="sm" w="sm"/>
            </a:ln>
          </p:spPr>
        </p:sp>
        <p:sp>
          <p:nvSpPr>
            <p:cNvPr name="AutoShape 14" id="14"/>
            <p:cNvSpPr/>
            <p:nvPr/>
          </p:nvSpPr>
          <p:spPr>
            <a:xfrm>
              <a:off x="16685934" y="271780"/>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Freeform 2" id="2"/>
          <p:cNvSpPr/>
          <p:nvPr/>
        </p:nvSpPr>
        <p:spPr>
          <a:xfrm flipH="false" flipV="false" rot="0">
            <a:off x="12982861"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859155" y="0"/>
            <a:ext cx="1562612" cy="1673225"/>
            <a:chOff x="0" y="0"/>
            <a:chExt cx="2083482" cy="2230967"/>
          </a:xfrm>
        </p:grpSpPr>
        <p:grpSp>
          <p:nvGrpSpPr>
            <p:cNvPr name="Group 4" id="4"/>
            <p:cNvGrpSpPr/>
            <p:nvPr/>
          </p:nvGrpSpPr>
          <p:grpSpPr>
            <a:xfrm rot="0">
              <a:off x="75599" y="0"/>
              <a:ext cx="1932284" cy="2230967"/>
              <a:chOff x="0" y="0"/>
              <a:chExt cx="703982" cy="812800"/>
            </a:xfrm>
          </p:grpSpPr>
          <p:sp>
            <p:nvSpPr>
              <p:cNvPr name="Freeform 5" id="5"/>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6" id="6"/>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15</a:t>
              </a:r>
            </a:p>
          </p:txBody>
        </p:sp>
      </p:grpSp>
      <p:sp>
        <p:nvSpPr>
          <p:cNvPr name="TextBox 8" id="8"/>
          <p:cNvSpPr txBox="true"/>
          <p:nvPr/>
        </p:nvSpPr>
        <p:spPr>
          <a:xfrm rot="0">
            <a:off x="3679044" y="586429"/>
            <a:ext cx="10929913"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REFERENCE</a:t>
            </a:r>
          </a:p>
        </p:txBody>
      </p:sp>
      <p:sp>
        <p:nvSpPr>
          <p:cNvPr name="TextBox 9" id="9"/>
          <p:cNvSpPr txBox="true"/>
          <p:nvPr/>
        </p:nvSpPr>
        <p:spPr>
          <a:xfrm rot="0">
            <a:off x="724180" y="2504470"/>
            <a:ext cx="16959251" cy="7132854"/>
          </a:xfrm>
          <a:prstGeom prst="rect">
            <a:avLst/>
          </a:prstGeom>
        </p:spPr>
        <p:txBody>
          <a:bodyPr anchor="t" rtlCol="false" tIns="0" lIns="0" bIns="0" rIns="0">
            <a:spAutoFit/>
          </a:bodyPr>
          <a:lstStyle/>
          <a:p>
            <a:pPr algn="l">
              <a:lnSpc>
                <a:spcPts val="3750"/>
              </a:lnSpc>
            </a:pPr>
            <a:r>
              <a:rPr lang="en-US" sz="2678">
                <a:solidFill>
                  <a:srgbClr val="000000"/>
                </a:solidFill>
                <a:latin typeface="Alatsi Bold"/>
              </a:rPr>
              <a:t>1]Ajay Mahato, A. N. (2018). Electric Power Theft Detection And Location Tracking Using IoT. International Journal of Scientific Research in Computer Science, Engineering and Information Technology(IJSRCSEIT) | Volume 4 | Issue 5 | ISSN : 2456-3307, </a:t>
            </a:r>
          </a:p>
          <a:p>
            <a:pPr algn="l">
              <a:lnSpc>
                <a:spcPts val="3750"/>
              </a:lnSpc>
            </a:pPr>
            <a:r>
              <a:rPr lang="en-US" sz="2678">
                <a:solidFill>
                  <a:srgbClr val="000000"/>
                </a:solidFill>
                <a:latin typeface="Alatsi Bold"/>
              </a:rPr>
              <a:t>2]Guhesh Swaminathan, M. S. (n.d.). Distribution Line Monitoring System For The Detection Of Power Theft Using Power Line Communication.</a:t>
            </a:r>
          </a:p>
          <a:p>
            <a:pPr algn="l">
              <a:lnSpc>
                <a:spcPts val="3750"/>
              </a:lnSpc>
            </a:pPr>
            <a:r>
              <a:rPr lang="en-US" sz="2678">
                <a:solidFill>
                  <a:srgbClr val="000000"/>
                </a:solidFill>
                <a:latin typeface="Alatsi Bold"/>
              </a:rPr>
              <a:t> 3]N Kunan, P. B. (2017). IoT Based Power Theft Detection And Monitoring System (IJIREICE 2017). International Journal of Innovative Research in Electrical, Electronics, Instrumentation and Control Engineering ISO 3297:2007 Certified Vol. 5, </a:t>
            </a:r>
          </a:p>
          <a:p>
            <a:pPr algn="l">
              <a:lnSpc>
                <a:spcPts val="3750"/>
              </a:lnSpc>
            </a:pPr>
            <a:r>
              <a:rPr lang="en-US" sz="2678">
                <a:solidFill>
                  <a:srgbClr val="000000"/>
                </a:solidFill>
                <a:latin typeface="Alatsi Bold"/>
              </a:rPr>
              <a:t>4] Karthikeya S, Bhuvaneswari P.T.V,"IoT Based Real-Time Residential Energy Meter Monitoring System",IEEE Trends in Industrial Measurement and Automation (TIMA),Electronic ISBN: 978-1-5090- 3001-9 ISBN: 978-1-5090-3002-6, (2017).</a:t>
            </a:r>
          </a:p>
          <a:p>
            <a:pPr algn="l">
              <a:lnSpc>
                <a:spcPts val="3750"/>
              </a:lnSpc>
            </a:pPr>
            <a:r>
              <a:rPr lang="en-US" sz="2678">
                <a:solidFill>
                  <a:srgbClr val="000000"/>
                </a:solidFill>
                <a:latin typeface="Alatsi Bold"/>
              </a:rPr>
              <a:t> 5] Harsha Khandel , Suchitra Pandey and D. Reynolds, “A Review on IOT Based Power Theft Detection and Control Systems”, International Journal of Innovative Research in Electrical, Electronics, Instrumentation and Control Engineering, Vol. 5, Issue 9, ISSN (Online) 2321 – 2004 ISSN (Print) 2321 – 5526 , (2017)..</a:t>
            </a:r>
          </a:p>
          <a:p>
            <a:pPr algn="l">
              <a:lnSpc>
                <a:spcPts val="3750"/>
              </a:lnSpc>
            </a:pPr>
          </a:p>
        </p:txBody>
      </p:sp>
      <p:sp>
        <p:nvSpPr>
          <p:cNvPr name="Freeform 10" id="10"/>
          <p:cNvSpPr/>
          <p:nvPr/>
        </p:nvSpPr>
        <p:spPr>
          <a:xfrm flipH="false" flipV="false" rot="0">
            <a:off x="-3009325"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699008" y="9392985"/>
            <a:ext cx="19619868" cy="407670"/>
            <a:chOff x="0" y="0"/>
            <a:chExt cx="26159824" cy="543560"/>
          </a:xfrm>
        </p:grpSpPr>
        <p:sp>
          <p:nvSpPr>
            <p:cNvPr name="TextBox 12" id="12"/>
            <p:cNvSpPr txBox="true"/>
            <p:nvPr/>
          </p:nvSpPr>
          <p:spPr>
            <a:xfrm rot="0">
              <a:off x="8544717" y="-57150"/>
              <a:ext cx="9176144" cy="60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Advanced Power Theft Detection</a:t>
              </a:r>
            </a:p>
          </p:txBody>
        </p:sp>
        <p:sp>
          <p:nvSpPr>
            <p:cNvPr name="AutoShape 13" id="13"/>
            <p:cNvSpPr/>
            <p:nvPr/>
          </p:nvSpPr>
          <p:spPr>
            <a:xfrm>
              <a:off x="204" y="284480"/>
              <a:ext cx="9473686" cy="25400"/>
            </a:xfrm>
            <a:prstGeom prst="line">
              <a:avLst/>
            </a:prstGeom>
            <a:ln cap="flat" w="152400">
              <a:solidFill>
                <a:srgbClr val="9FC3D0"/>
              </a:solidFill>
              <a:prstDash val="solid"/>
              <a:headEnd type="none" len="sm" w="sm"/>
              <a:tailEnd type="none" len="sm" w="sm"/>
            </a:ln>
          </p:spPr>
        </p:sp>
        <p:sp>
          <p:nvSpPr>
            <p:cNvPr name="AutoShape 14" id="14"/>
            <p:cNvSpPr/>
            <p:nvPr/>
          </p:nvSpPr>
          <p:spPr>
            <a:xfrm>
              <a:off x="16685934" y="271780"/>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Freeform 2" id="2"/>
          <p:cNvSpPr/>
          <p:nvPr/>
        </p:nvSpPr>
        <p:spPr>
          <a:xfrm flipH="false" flipV="false" rot="0">
            <a:off x="12982861"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859155" y="0"/>
            <a:ext cx="1562612" cy="1673225"/>
            <a:chOff x="0" y="0"/>
            <a:chExt cx="2083482" cy="2230967"/>
          </a:xfrm>
        </p:grpSpPr>
        <p:grpSp>
          <p:nvGrpSpPr>
            <p:cNvPr name="Group 4" id="4"/>
            <p:cNvGrpSpPr/>
            <p:nvPr/>
          </p:nvGrpSpPr>
          <p:grpSpPr>
            <a:xfrm rot="0">
              <a:off x="75599" y="0"/>
              <a:ext cx="1932284" cy="2230967"/>
              <a:chOff x="0" y="0"/>
              <a:chExt cx="703982" cy="812800"/>
            </a:xfrm>
          </p:grpSpPr>
          <p:sp>
            <p:nvSpPr>
              <p:cNvPr name="Freeform 5" id="5"/>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6" id="6"/>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16</a:t>
              </a:r>
            </a:p>
          </p:txBody>
        </p:sp>
      </p:grpSp>
      <p:sp>
        <p:nvSpPr>
          <p:cNvPr name="TextBox 8" id="8"/>
          <p:cNvSpPr txBox="true"/>
          <p:nvPr/>
        </p:nvSpPr>
        <p:spPr>
          <a:xfrm rot="0">
            <a:off x="664374" y="1791424"/>
            <a:ext cx="16959251" cy="7132854"/>
          </a:xfrm>
          <a:prstGeom prst="rect">
            <a:avLst/>
          </a:prstGeom>
        </p:spPr>
        <p:txBody>
          <a:bodyPr anchor="t" rtlCol="false" tIns="0" lIns="0" bIns="0" rIns="0">
            <a:spAutoFit/>
          </a:bodyPr>
          <a:lstStyle/>
          <a:p>
            <a:pPr algn="l" marL="578391" indent="-289196" lvl="1">
              <a:lnSpc>
                <a:spcPts val="3750"/>
              </a:lnSpc>
              <a:buFont typeface="Arial"/>
              <a:buChar char="•"/>
            </a:pPr>
            <a:r>
              <a:rPr lang="en-US" sz="2678">
                <a:solidFill>
                  <a:srgbClr val="000000"/>
                </a:solidFill>
                <a:latin typeface="Alatsi Bold"/>
              </a:rPr>
              <a:t>Mishra, P., Mishra, A., &amp; Gupta, S. (2019). IoT-Based Power Theft Detection and Control System. International Journal of Advanced Research in Computer Engineering &amp; Technology (IJARCET), 8(7), 467-472. [12] </a:t>
            </a:r>
          </a:p>
          <a:p>
            <a:pPr algn="l" marL="578391" indent="-289196" lvl="1">
              <a:lnSpc>
                <a:spcPts val="3750"/>
              </a:lnSpc>
              <a:buFont typeface="Arial"/>
              <a:buChar char="•"/>
            </a:pPr>
            <a:r>
              <a:rPr lang="en-US" sz="2678">
                <a:solidFill>
                  <a:srgbClr val="000000"/>
                </a:solidFill>
                <a:latin typeface="Alatsi Bold"/>
              </a:rPr>
              <a:t>Nath, D., &amp; Dutta, S. (2020). IoT-Based Smart Energy Metering System for Power Theft Detection. IEEE Transactions on Industrial Informatics, 16(9), 5577-5586. [13] </a:t>
            </a:r>
          </a:p>
          <a:p>
            <a:pPr algn="l" marL="578391" indent="-289196" lvl="1">
              <a:lnSpc>
                <a:spcPts val="3750"/>
              </a:lnSpc>
              <a:buFont typeface="Arial"/>
              <a:buChar char="•"/>
            </a:pPr>
            <a:r>
              <a:rPr lang="en-US" sz="2678">
                <a:solidFill>
                  <a:srgbClr val="000000"/>
                </a:solidFill>
                <a:latin typeface="Alatsi Bold"/>
              </a:rPr>
              <a:t>Patel, H., Patel, P., &amp; Patel, K. (2018). Smart Metering and Power Theft Detection Techniques Using IoT. International Journal of Innovative Research in Computer and Communication Engineering, 6(6), 9485-9491. [14] </a:t>
            </a:r>
          </a:p>
          <a:p>
            <a:pPr algn="l" marL="578391" indent="-289196" lvl="1">
              <a:lnSpc>
                <a:spcPts val="3750"/>
              </a:lnSpc>
              <a:buFont typeface="Arial"/>
              <a:buChar char="•"/>
            </a:pPr>
            <a:r>
              <a:rPr lang="en-US" sz="2678">
                <a:solidFill>
                  <a:srgbClr val="000000"/>
                </a:solidFill>
                <a:latin typeface="Alatsi Bold"/>
              </a:rPr>
              <a:t>Qureshi, M. A., &amp; Khan, F. (2019). IoT-Based Power Theft Detection and Control System. International Journal of Electrical, Electronics and Computer Systems, 8(5), 15-21. [15] </a:t>
            </a:r>
          </a:p>
          <a:p>
            <a:pPr algn="l" marL="578391" indent="-289196" lvl="1">
              <a:lnSpc>
                <a:spcPts val="3750"/>
              </a:lnSpc>
              <a:buFont typeface="Arial"/>
              <a:buChar char="•"/>
            </a:pPr>
            <a:r>
              <a:rPr lang="en-US" sz="2678">
                <a:solidFill>
                  <a:srgbClr val="000000"/>
                </a:solidFill>
                <a:latin typeface="Alatsi Bold"/>
              </a:rPr>
              <a:t>Rahman, M. A., Islam, M. S., &amp; Hasan, M. R. (2017). Smart Grid with Power Theft Detection Using IoT and Blockchain Technology. IEEE Transactions on Smart Grid, 6(3), 1259-1268. [16] </a:t>
            </a:r>
          </a:p>
          <a:p>
            <a:pPr algn="l" marL="578391" indent="-289196" lvl="1">
              <a:lnSpc>
                <a:spcPts val="3750"/>
              </a:lnSpc>
              <a:buFont typeface="Arial"/>
              <a:buChar char="•"/>
            </a:pPr>
            <a:r>
              <a:rPr lang="en-US" sz="2678">
                <a:solidFill>
                  <a:srgbClr val="000000"/>
                </a:solidFill>
                <a:latin typeface="Alatsi Bold"/>
              </a:rPr>
              <a:t>Singh, R., Kaur, A., &amp; Kumar, P. (2020). Power Theft Detection and Control Using IoT and Machine Learning. International Journal of Scientific &amp; Engineering Research, 11(6), 980-985. [17] </a:t>
            </a:r>
          </a:p>
          <a:p>
            <a:pPr algn="l" marL="578391" indent="-289196" lvl="1">
              <a:lnSpc>
                <a:spcPts val="3750"/>
              </a:lnSpc>
              <a:buFont typeface="Arial"/>
              <a:buChar char="•"/>
            </a:pPr>
            <a:r>
              <a:rPr lang="en-US" sz="2678">
                <a:solidFill>
                  <a:srgbClr val="000000"/>
                </a:solidFill>
                <a:latin typeface="Alatsi Bold"/>
              </a:rPr>
              <a:t>Tripathi, S., Yadav, R., &amp; Tiwari, S. (2021). IoT-Based Smart Power Theft Detection System Using Machine Learning. IEEE Transactions on Industrial Informatics, 17(8), 5648-5656</a:t>
            </a:r>
          </a:p>
        </p:txBody>
      </p:sp>
      <p:sp>
        <p:nvSpPr>
          <p:cNvPr name="Freeform 9" id="9"/>
          <p:cNvSpPr/>
          <p:nvPr/>
        </p:nvSpPr>
        <p:spPr>
          <a:xfrm flipH="false" flipV="false" rot="0">
            <a:off x="-3009325"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699008" y="9392985"/>
            <a:ext cx="19619868" cy="407670"/>
            <a:chOff x="0" y="0"/>
            <a:chExt cx="26159824" cy="543560"/>
          </a:xfrm>
        </p:grpSpPr>
        <p:sp>
          <p:nvSpPr>
            <p:cNvPr name="TextBox 11" id="11"/>
            <p:cNvSpPr txBox="true"/>
            <p:nvPr/>
          </p:nvSpPr>
          <p:spPr>
            <a:xfrm rot="0">
              <a:off x="8544717" y="-57150"/>
              <a:ext cx="9176144" cy="60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Advanced Power Theft Detection</a:t>
              </a:r>
            </a:p>
          </p:txBody>
        </p:sp>
        <p:sp>
          <p:nvSpPr>
            <p:cNvPr name="AutoShape 12" id="12"/>
            <p:cNvSpPr/>
            <p:nvPr/>
          </p:nvSpPr>
          <p:spPr>
            <a:xfrm>
              <a:off x="204" y="284480"/>
              <a:ext cx="9473686" cy="25400"/>
            </a:xfrm>
            <a:prstGeom prst="line">
              <a:avLst/>
            </a:prstGeom>
            <a:ln cap="flat" w="152400">
              <a:solidFill>
                <a:srgbClr val="9FC3D0"/>
              </a:solidFill>
              <a:prstDash val="solid"/>
              <a:headEnd type="none" len="sm" w="sm"/>
              <a:tailEnd type="none" len="sm" w="sm"/>
            </a:ln>
          </p:spPr>
        </p:sp>
        <p:sp>
          <p:nvSpPr>
            <p:cNvPr name="AutoShape 13" id="13"/>
            <p:cNvSpPr/>
            <p:nvPr/>
          </p:nvSpPr>
          <p:spPr>
            <a:xfrm>
              <a:off x="16685934" y="271780"/>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554977" y="3748035"/>
            <a:ext cx="11627497" cy="2514704"/>
          </a:xfrm>
          <a:prstGeom prst="rect">
            <a:avLst/>
          </a:prstGeom>
        </p:spPr>
        <p:txBody>
          <a:bodyPr anchor="t" rtlCol="false" tIns="0" lIns="0" bIns="0" rIns="0">
            <a:spAutoFit/>
          </a:bodyPr>
          <a:lstStyle/>
          <a:p>
            <a:pPr algn="ctr">
              <a:lnSpc>
                <a:spcPts val="20573"/>
              </a:lnSpc>
            </a:pPr>
            <a:r>
              <a:rPr lang="en-US" sz="14695">
                <a:solidFill>
                  <a:srgbClr val="000000"/>
                </a:solidFill>
                <a:latin typeface="Alatsi Bold"/>
              </a:rPr>
              <a:t>THANK YOU</a:t>
            </a:r>
          </a:p>
        </p:txBody>
      </p:sp>
      <p:grpSp>
        <p:nvGrpSpPr>
          <p:cNvPr name="Group 3" id="3"/>
          <p:cNvGrpSpPr/>
          <p:nvPr/>
        </p:nvGrpSpPr>
        <p:grpSpPr>
          <a:xfrm rot="0">
            <a:off x="-31071" y="0"/>
            <a:ext cx="4239083" cy="10287000"/>
            <a:chOff x="0" y="0"/>
            <a:chExt cx="5652111" cy="13716000"/>
          </a:xfrm>
        </p:grpSpPr>
        <p:grpSp>
          <p:nvGrpSpPr>
            <p:cNvPr name="Group 4" id="4"/>
            <p:cNvGrpSpPr/>
            <p:nvPr/>
          </p:nvGrpSpPr>
          <p:grpSpPr>
            <a:xfrm rot="0">
              <a:off x="2826056" y="0"/>
              <a:ext cx="2826056" cy="13716000"/>
              <a:chOff x="0" y="0"/>
              <a:chExt cx="558233" cy="2709333"/>
            </a:xfrm>
          </p:grpSpPr>
          <p:sp>
            <p:nvSpPr>
              <p:cNvPr name="Freeform 5" id="5"/>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6" id="6"/>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413028" y="0"/>
              <a:ext cx="2826056" cy="13716000"/>
              <a:chOff x="0" y="0"/>
              <a:chExt cx="558233" cy="2709333"/>
            </a:xfrm>
          </p:grpSpPr>
          <p:sp>
            <p:nvSpPr>
              <p:cNvPr name="Freeform 8" id="8"/>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9" id="9"/>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0" y="0"/>
              <a:ext cx="2826056" cy="13716000"/>
              <a:chOff x="0" y="0"/>
              <a:chExt cx="558233" cy="2709333"/>
            </a:xfrm>
          </p:grpSpPr>
          <p:sp>
            <p:nvSpPr>
              <p:cNvPr name="Freeform 11" id="11"/>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2" id="12"/>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sp>
        <p:nvSpPr>
          <p:cNvPr name="Freeform 13" id="13"/>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5" id="15"/>
          <p:cNvGrpSpPr/>
          <p:nvPr/>
        </p:nvGrpSpPr>
        <p:grpSpPr>
          <a:xfrm rot="0">
            <a:off x="-699008" y="9392985"/>
            <a:ext cx="19619868" cy="407670"/>
            <a:chOff x="0" y="0"/>
            <a:chExt cx="26159824" cy="543560"/>
          </a:xfrm>
        </p:grpSpPr>
        <p:sp>
          <p:nvSpPr>
            <p:cNvPr name="TextBox 16" id="16"/>
            <p:cNvSpPr txBox="true"/>
            <p:nvPr/>
          </p:nvSpPr>
          <p:spPr>
            <a:xfrm rot="0">
              <a:off x="8544717" y="-57150"/>
              <a:ext cx="9176144" cy="60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Advanced Power Theft Detection</a:t>
              </a:r>
            </a:p>
          </p:txBody>
        </p:sp>
        <p:sp>
          <p:nvSpPr>
            <p:cNvPr name="AutoShape 17" id="17"/>
            <p:cNvSpPr/>
            <p:nvPr/>
          </p:nvSpPr>
          <p:spPr>
            <a:xfrm>
              <a:off x="204" y="284480"/>
              <a:ext cx="9473686" cy="25400"/>
            </a:xfrm>
            <a:prstGeom prst="line">
              <a:avLst/>
            </a:prstGeom>
            <a:ln cap="flat" w="152400">
              <a:solidFill>
                <a:srgbClr val="9FC3D0"/>
              </a:solidFill>
              <a:prstDash val="solid"/>
              <a:headEnd type="none" len="sm" w="sm"/>
              <a:tailEnd type="none" len="sm" w="sm"/>
            </a:ln>
          </p:spPr>
        </p:sp>
        <p:sp>
          <p:nvSpPr>
            <p:cNvPr name="AutoShape 18" id="18"/>
            <p:cNvSpPr/>
            <p:nvPr/>
          </p:nvSpPr>
          <p:spPr>
            <a:xfrm>
              <a:off x="16685934" y="271780"/>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DAGCjJcg2W0</dc:identifier>
  <dcterms:modified xsi:type="dcterms:W3CDTF">2011-08-01T06:04:30Z</dcterms:modified>
  <cp:revision>1</cp:revision>
  <dc:title>Theft Detection</dc:title>
</cp:coreProperties>
</file>