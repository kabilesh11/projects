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TT Rounds Condensed Bold" charset="1" panose="02000806030000020003"/>
      <p:regular r:id="rId23"/>
    </p:embeddedFont>
    <p:embeddedFont>
      <p:font typeface="TT Rounds Condensed" charset="1" panose="02000506030000020003"/>
      <p:regular r:id="rId24"/>
    </p:embeddedFont>
    <p:embeddedFont>
      <p:font typeface="TT Rounds Condensed Bold Italics" charset="1" panose="02000806030000090003"/>
      <p:regular r:id="rId25"/>
    </p:embeddedFont>
    <p:embeddedFont>
      <p:font typeface="Alatsi" charset="1" panose="00000500000000000000"/>
      <p:regular r:id="rId26"/>
    </p:embeddedFont>
    <p:embeddedFont>
      <p:font typeface="Open Sans Bold" charset="1" panose="020B0806030504020204"/>
      <p:regular r:id="rId27"/>
    </p:embeddedFont>
    <p:embeddedFont>
      <p:font typeface="Calibri (MS) Bold" charset="1" panose="020F0702030404030204"/>
      <p:regular r:id="rId28"/>
    </p:embeddedFont>
    <p:embeddedFont>
      <p:font typeface="Calibri (MS)" charset="1" panose="020F050202020403020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Freeform 2" id="2" descr="Rohini College of Engineering &amp; Technology"/>
          <p:cNvSpPr/>
          <p:nvPr/>
        </p:nvSpPr>
        <p:spPr>
          <a:xfrm flipH="false" flipV="false" rot="0">
            <a:off x="8329327" y="7416639"/>
            <a:ext cx="1629345" cy="1524000"/>
          </a:xfrm>
          <a:custGeom>
            <a:avLst/>
            <a:gdLst/>
            <a:ahLst/>
            <a:cxnLst/>
            <a:rect r="r" b="b" t="t" l="l"/>
            <a:pathLst>
              <a:path h="1524000" w="1629345">
                <a:moveTo>
                  <a:pt x="0" y="0"/>
                </a:moveTo>
                <a:lnTo>
                  <a:pt x="1629346" y="0"/>
                </a:lnTo>
                <a:lnTo>
                  <a:pt x="1629346" y="1524000"/>
                </a:lnTo>
                <a:lnTo>
                  <a:pt x="0" y="1524000"/>
                </a:lnTo>
                <a:lnTo>
                  <a:pt x="0" y="0"/>
                </a:lnTo>
                <a:close/>
              </a:path>
            </a:pathLst>
          </a:custGeom>
          <a:blipFill>
            <a:blip r:embed="rId2"/>
            <a:stretch>
              <a:fillRect l="0" t="0" r="0" b="0"/>
            </a:stretch>
          </a:blipFill>
        </p:spPr>
      </p:sp>
      <p:grpSp>
        <p:nvGrpSpPr>
          <p:cNvPr name="Group 3" id="3"/>
          <p:cNvGrpSpPr/>
          <p:nvPr/>
        </p:nvGrpSpPr>
        <p:grpSpPr>
          <a:xfrm rot="0">
            <a:off x="416642" y="201589"/>
            <a:ext cx="17454716" cy="1654222"/>
            <a:chOff x="0" y="0"/>
            <a:chExt cx="4597127" cy="435680"/>
          </a:xfrm>
        </p:grpSpPr>
        <p:sp>
          <p:nvSpPr>
            <p:cNvPr name="Freeform 4" id="4"/>
            <p:cNvSpPr/>
            <p:nvPr/>
          </p:nvSpPr>
          <p:spPr>
            <a:xfrm flipH="false" flipV="false" rot="0">
              <a:off x="0" y="0"/>
              <a:ext cx="4597127" cy="435680"/>
            </a:xfrm>
            <a:custGeom>
              <a:avLst/>
              <a:gdLst/>
              <a:ahLst/>
              <a:cxnLst/>
              <a:rect r="r" b="b" t="t" l="l"/>
              <a:pathLst>
                <a:path h="435680" w="4597127">
                  <a:moveTo>
                    <a:pt x="22621" y="0"/>
                  </a:moveTo>
                  <a:lnTo>
                    <a:pt x="4574506" y="0"/>
                  </a:lnTo>
                  <a:cubicBezTo>
                    <a:pt x="4580505" y="0"/>
                    <a:pt x="4586259" y="2383"/>
                    <a:pt x="4590501" y="6625"/>
                  </a:cubicBezTo>
                  <a:cubicBezTo>
                    <a:pt x="4594744" y="10868"/>
                    <a:pt x="4597127" y="16621"/>
                    <a:pt x="4597127" y="22621"/>
                  </a:cubicBezTo>
                  <a:lnTo>
                    <a:pt x="4597127" y="413059"/>
                  </a:lnTo>
                  <a:cubicBezTo>
                    <a:pt x="4597127" y="425552"/>
                    <a:pt x="4586999" y="435680"/>
                    <a:pt x="4574506" y="435680"/>
                  </a:cubicBezTo>
                  <a:lnTo>
                    <a:pt x="22621" y="435680"/>
                  </a:lnTo>
                  <a:cubicBezTo>
                    <a:pt x="10128" y="435680"/>
                    <a:pt x="0" y="425552"/>
                    <a:pt x="0" y="413059"/>
                  </a:cubicBezTo>
                  <a:lnTo>
                    <a:pt x="0" y="22621"/>
                  </a:lnTo>
                  <a:cubicBezTo>
                    <a:pt x="0" y="10128"/>
                    <a:pt x="10128" y="0"/>
                    <a:pt x="22621" y="0"/>
                  </a:cubicBezTo>
                  <a:close/>
                </a:path>
              </a:pathLst>
            </a:custGeom>
            <a:solidFill>
              <a:srgbClr val="1F4E79"/>
            </a:solidFill>
          </p:spPr>
        </p:sp>
        <p:sp>
          <p:nvSpPr>
            <p:cNvPr name="TextBox 5" id="5"/>
            <p:cNvSpPr txBox="true"/>
            <p:nvPr/>
          </p:nvSpPr>
          <p:spPr>
            <a:xfrm>
              <a:off x="0" y="-38100"/>
              <a:ext cx="4597127" cy="47378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3817710" y="2515044"/>
            <a:ext cx="2938183" cy="1259221"/>
          </a:xfrm>
          <a:custGeom>
            <a:avLst/>
            <a:gdLst/>
            <a:ahLst/>
            <a:cxnLst/>
            <a:rect r="r" b="b" t="t" l="l"/>
            <a:pathLst>
              <a:path h="1259221" w="2938183">
                <a:moveTo>
                  <a:pt x="0" y="0"/>
                </a:moveTo>
                <a:lnTo>
                  <a:pt x="2938183" y="0"/>
                </a:lnTo>
                <a:lnTo>
                  <a:pt x="2938183" y="1259221"/>
                </a:lnTo>
                <a:lnTo>
                  <a:pt x="0" y="1259221"/>
                </a:lnTo>
                <a:lnTo>
                  <a:pt x="0" y="0"/>
                </a:lnTo>
                <a:close/>
              </a:path>
            </a:pathLst>
          </a:custGeom>
          <a:blipFill>
            <a:blip r:embed="rId3"/>
            <a:stretch>
              <a:fillRect l="0" t="0" r="0" b="0"/>
            </a:stretch>
          </a:blipFill>
        </p:spPr>
      </p:sp>
      <p:sp>
        <p:nvSpPr>
          <p:cNvPr name="TextBox 7" id="7"/>
          <p:cNvSpPr txBox="true"/>
          <p:nvPr/>
        </p:nvSpPr>
        <p:spPr>
          <a:xfrm rot="0">
            <a:off x="2327154" y="9093039"/>
            <a:ext cx="13633692" cy="1000125"/>
          </a:xfrm>
          <a:prstGeom prst="rect">
            <a:avLst/>
          </a:prstGeom>
        </p:spPr>
        <p:txBody>
          <a:bodyPr anchor="t" rtlCol="false" tIns="0" lIns="0" bIns="0" rIns="0">
            <a:spAutoFit/>
          </a:bodyPr>
          <a:lstStyle/>
          <a:p>
            <a:pPr algn="ctr">
              <a:lnSpc>
                <a:spcPts val="4320"/>
              </a:lnSpc>
            </a:pPr>
            <a:r>
              <a:rPr lang="en-US" sz="3600" spc="33">
                <a:solidFill>
                  <a:srgbClr val="203864"/>
                </a:solidFill>
                <a:latin typeface="TT Rounds Condensed Bold"/>
              </a:rPr>
              <a:t>ROHINI College of Engineering &amp; Technology</a:t>
            </a:r>
          </a:p>
          <a:p>
            <a:pPr algn="ctr">
              <a:lnSpc>
                <a:spcPts val="3600"/>
              </a:lnSpc>
            </a:pPr>
            <a:r>
              <a:rPr lang="en-US" sz="3000" spc="28">
                <a:solidFill>
                  <a:srgbClr val="203864"/>
                </a:solidFill>
                <a:latin typeface="TT Rounds Condensed Bold"/>
              </a:rPr>
              <a:t>Kanyakumari Main Road, Palkulam, Anjugramam – 629 401</a:t>
            </a:r>
          </a:p>
        </p:txBody>
      </p:sp>
      <p:grpSp>
        <p:nvGrpSpPr>
          <p:cNvPr name="Group 8" id="8"/>
          <p:cNvGrpSpPr/>
          <p:nvPr/>
        </p:nvGrpSpPr>
        <p:grpSpPr>
          <a:xfrm rot="0">
            <a:off x="5498904" y="5757472"/>
            <a:ext cx="6918468" cy="1332970"/>
            <a:chOff x="0" y="0"/>
            <a:chExt cx="9224624" cy="1777294"/>
          </a:xfrm>
        </p:grpSpPr>
        <p:sp>
          <p:nvSpPr>
            <p:cNvPr name="TextBox 9" id="9"/>
            <p:cNvSpPr txBox="true"/>
            <p:nvPr/>
          </p:nvSpPr>
          <p:spPr>
            <a:xfrm rot="0">
              <a:off x="0" y="652709"/>
              <a:ext cx="9224624" cy="1124585"/>
            </a:xfrm>
            <a:prstGeom prst="rect">
              <a:avLst/>
            </a:prstGeom>
          </p:spPr>
          <p:txBody>
            <a:bodyPr anchor="t" rtlCol="false" tIns="0" lIns="0" bIns="0" rIns="0">
              <a:spAutoFit/>
            </a:bodyPr>
            <a:lstStyle/>
            <a:p>
              <a:pPr algn="ctr">
                <a:lnSpc>
                  <a:spcPts val="3240"/>
                </a:lnSpc>
              </a:pPr>
              <a:r>
                <a:rPr lang="en-US" sz="3000" spc="28">
                  <a:solidFill>
                    <a:srgbClr val="385724"/>
                  </a:solidFill>
                  <a:latin typeface="TT Rounds Condensed Bold"/>
                </a:rPr>
                <a:t>Dr. C. SOWTHILY</a:t>
              </a:r>
            </a:p>
            <a:p>
              <a:pPr algn="ctr">
                <a:lnSpc>
                  <a:spcPts val="3240"/>
                </a:lnSpc>
              </a:pPr>
              <a:r>
                <a:rPr lang="en-US" sz="3000" spc="28">
                  <a:solidFill>
                    <a:srgbClr val="385724"/>
                  </a:solidFill>
                  <a:latin typeface="TT Rounds Condensed"/>
                </a:rPr>
                <a:t> Assistant Professor/EEE</a:t>
              </a:r>
            </a:p>
          </p:txBody>
        </p:sp>
        <p:sp>
          <p:nvSpPr>
            <p:cNvPr name="TextBox 10" id="10"/>
            <p:cNvSpPr txBox="true"/>
            <p:nvPr/>
          </p:nvSpPr>
          <p:spPr>
            <a:xfrm rot="0">
              <a:off x="2238846" y="-9525"/>
              <a:ext cx="5242562" cy="687825"/>
            </a:xfrm>
            <a:prstGeom prst="rect">
              <a:avLst/>
            </a:prstGeom>
          </p:spPr>
          <p:txBody>
            <a:bodyPr anchor="t" rtlCol="false" tIns="0" lIns="0" bIns="0" rIns="0">
              <a:spAutoFit/>
            </a:bodyPr>
            <a:lstStyle/>
            <a:p>
              <a:pPr algn="l">
                <a:lnSpc>
                  <a:spcPts val="3600"/>
                </a:lnSpc>
              </a:pPr>
              <a:r>
                <a:rPr lang="en-US" sz="3000" spc="28">
                  <a:solidFill>
                    <a:srgbClr val="203864"/>
                  </a:solidFill>
                  <a:latin typeface="TT Rounds Condensed Bold Italics"/>
                </a:rPr>
                <a:t>Under the Guidance of </a:t>
              </a:r>
            </a:p>
          </p:txBody>
        </p:sp>
      </p:grpSp>
      <p:grpSp>
        <p:nvGrpSpPr>
          <p:cNvPr name="Group 11" id="11"/>
          <p:cNvGrpSpPr/>
          <p:nvPr/>
        </p:nvGrpSpPr>
        <p:grpSpPr>
          <a:xfrm rot="0">
            <a:off x="757275" y="4433497"/>
            <a:ext cx="16773450" cy="1000125"/>
            <a:chOff x="0" y="0"/>
            <a:chExt cx="22364601" cy="1333500"/>
          </a:xfrm>
        </p:grpSpPr>
        <p:sp>
          <p:nvSpPr>
            <p:cNvPr name="TextBox 12" id="12"/>
            <p:cNvSpPr txBox="true"/>
            <p:nvPr/>
          </p:nvSpPr>
          <p:spPr>
            <a:xfrm rot="0">
              <a:off x="17122039" y="0"/>
              <a:ext cx="5242562" cy="1333500"/>
            </a:xfrm>
            <a:prstGeom prst="rect">
              <a:avLst/>
            </a:prstGeom>
          </p:spPr>
          <p:txBody>
            <a:bodyPr anchor="t" rtlCol="false" tIns="0" lIns="0" bIns="0" rIns="0">
              <a:spAutoFit/>
            </a:bodyPr>
            <a:lstStyle/>
            <a:p>
              <a:pPr algn="l">
                <a:lnSpc>
                  <a:spcPts val="4320"/>
                </a:lnSpc>
              </a:pPr>
              <a:r>
                <a:rPr lang="en-US" sz="3600" spc="33">
                  <a:solidFill>
                    <a:srgbClr val="203864"/>
                  </a:solidFill>
                  <a:latin typeface="TT Rounds Condensed Bold"/>
                </a:rPr>
                <a:t>NIKISH R</a:t>
              </a:r>
            </a:p>
            <a:p>
              <a:pPr algn="l" rtl="true">
                <a:lnSpc>
                  <a:spcPts val="3600"/>
                </a:lnSpc>
              </a:pPr>
              <a:r>
                <a:rPr lang="en-US" sz="3000" spc="28">
                  <a:solidFill>
                    <a:srgbClr val="385724"/>
                  </a:solidFill>
                  <a:latin typeface="TT Rounds Condensed"/>
                </a:rPr>
                <a:t>Reg. No.99339990</a:t>
              </a:r>
            </a:p>
          </p:txBody>
        </p:sp>
        <p:sp>
          <p:nvSpPr>
            <p:cNvPr name="TextBox 13" id="13"/>
            <p:cNvSpPr txBox="true"/>
            <p:nvPr/>
          </p:nvSpPr>
          <p:spPr>
            <a:xfrm rot="0">
              <a:off x="0" y="0"/>
              <a:ext cx="5602460" cy="1333500"/>
            </a:xfrm>
            <a:prstGeom prst="rect">
              <a:avLst/>
            </a:prstGeom>
          </p:spPr>
          <p:txBody>
            <a:bodyPr anchor="t" rtlCol="false" tIns="0" lIns="0" bIns="0" rIns="0">
              <a:spAutoFit/>
            </a:bodyPr>
            <a:lstStyle/>
            <a:p>
              <a:pPr algn="just">
                <a:lnSpc>
                  <a:spcPts val="4320"/>
                </a:lnSpc>
              </a:pPr>
              <a:r>
                <a:rPr lang="en-US" sz="3600" spc="33">
                  <a:solidFill>
                    <a:srgbClr val="203864"/>
                  </a:solidFill>
                  <a:latin typeface="TT Rounds Condensed Bold"/>
                </a:rPr>
                <a:t>ABDUL RAHMAN N</a:t>
              </a:r>
            </a:p>
            <a:p>
              <a:pPr algn="l" rtl="true">
                <a:lnSpc>
                  <a:spcPts val="3600"/>
                </a:lnSpc>
              </a:pPr>
              <a:r>
                <a:rPr lang="en-US" sz="3000" spc="28">
                  <a:solidFill>
                    <a:srgbClr val="385724"/>
                  </a:solidFill>
                  <a:latin typeface="TT Rounds Condensed"/>
                </a:rPr>
                <a:t>Reg. No.99345492</a:t>
              </a:r>
            </a:p>
          </p:txBody>
        </p:sp>
        <p:sp>
          <p:nvSpPr>
            <p:cNvPr name="TextBox 14" id="14"/>
            <p:cNvSpPr txBox="true"/>
            <p:nvPr/>
          </p:nvSpPr>
          <p:spPr>
            <a:xfrm rot="0">
              <a:off x="5659845" y="-9525"/>
              <a:ext cx="5242562" cy="1343025"/>
            </a:xfrm>
            <a:prstGeom prst="rect">
              <a:avLst/>
            </a:prstGeom>
          </p:spPr>
          <p:txBody>
            <a:bodyPr anchor="t" rtlCol="false" tIns="0" lIns="0" bIns="0" rIns="0">
              <a:spAutoFit/>
            </a:bodyPr>
            <a:lstStyle/>
            <a:p>
              <a:pPr algn="l">
                <a:lnSpc>
                  <a:spcPts val="4319"/>
                </a:lnSpc>
              </a:pPr>
              <a:r>
                <a:rPr lang="en-US" sz="3599" spc="32">
                  <a:solidFill>
                    <a:srgbClr val="203864"/>
                  </a:solidFill>
                  <a:latin typeface="TT Rounds Condensed Bold"/>
                </a:rPr>
                <a:t>SARAVANAN B</a:t>
              </a:r>
            </a:p>
            <a:p>
              <a:pPr algn="l" rtl="true">
                <a:lnSpc>
                  <a:spcPts val="3600"/>
                </a:lnSpc>
              </a:pPr>
              <a:r>
                <a:rPr lang="en-US" sz="3000" spc="28">
                  <a:solidFill>
                    <a:srgbClr val="385724"/>
                  </a:solidFill>
                  <a:latin typeface="TT Rounds Condensed"/>
                </a:rPr>
                <a:t>Reg. No.99340054</a:t>
              </a:r>
              <a:r>
                <a:rPr lang="ar-EG" sz="3000" spc="28">
                  <a:solidFill>
                    <a:srgbClr val="203864"/>
                  </a:solidFill>
                  <a:latin typeface="TT Rounds Condensed"/>
                  <a:rtl val="true"/>
                </a:rPr>
                <a:t> </a:t>
              </a:r>
            </a:p>
          </p:txBody>
        </p:sp>
        <p:sp>
          <p:nvSpPr>
            <p:cNvPr name="TextBox 15" id="15"/>
            <p:cNvSpPr txBox="true"/>
            <p:nvPr/>
          </p:nvSpPr>
          <p:spPr>
            <a:xfrm rot="0">
              <a:off x="11386138" y="0"/>
              <a:ext cx="4980026" cy="1333500"/>
            </a:xfrm>
            <a:prstGeom prst="rect">
              <a:avLst/>
            </a:prstGeom>
          </p:spPr>
          <p:txBody>
            <a:bodyPr anchor="t" rtlCol="false" tIns="0" lIns="0" bIns="0" rIns="0">
              <a:spAutoFit/>
            </a:bodyPr>
            <a:lstStyle/>
            <a:p>
              <a:pPr algn="l">
                <a:lnSpc>
                  <a:spcPts val="4320"/>
                </a:lnSpc>
              </a:pPr>
              <a:r>
                <a:rPr lang="en-US" sz="3600" spc="33">
                  <a:solidFill>
                    <a:srgbClr val="203864"/>
                  </a:solidFill>
                  <a:latin typeface="TT Rounds Condensed Bold"/>
                </a:rPr>
                <a:t>ESAKKIMUTHU M</a:t>
              </a:r>
              <a:r>
                <a:rPr lang="en-US" sz="3600" spc="33">
                  <a:solidFill>
                    <a:srgbClr val="203864"/>
                  </a:solidFill>
                  <a:latin typeface="TT Rounds Condensed Bold"/>
                </a:rPr>
                <a:t> </a:t>
              </a:r>
            </a:p>
            <a:p>
              <a:pPr algn="l">
                <a:lnSpc>
                  <a:spcPts val="3600"/>
                </a:lnSpc>
              </a:pPr>
              <a:r>
                <a:rPr lang="en-US" sz="3000" spc="28">
                  <a:solidFill>
                    <a:srgbClr val="385724"/>
                  </a:solidFill>
                  <a:latin typeface="TT Rounds Condensed"/>
                </a:rPr>
                <a:t>Reg. No.99341723</a:t>
              </a:r>
            </a:p>
          </p:txBody>
        </p:sp>
      </p:grpSp>
      <p:sp>
        <p:nvSpPr>
          <p:cNvPr name="TextBox 16" id="16"/>
          <p:cNvSpPr txBox="true"/>
          <p:nvPr/>
        </p:nvSpPr>
        <p:spPr>
          <a:xfrm rot="0">
            <a:off x="2505467" y="2449329"/>
            <a:ext cx="13633692" cy="1381125"/>
          </a:xfrm>
          <a:prstGeom prst="rect">
            <a:avLst/>
          </a:prstGeom>
        </p:spPr>
        <p:txBody>
          <a:bodyPr anchor="t" rtlCol="false" tIns="0" lIns="0" bIns="0" rIns="0">
            <a:spAutoFit/>
          </a:bodyPr>
          <a:lstStyle/>
          <a:p>
            <a:pPr algn="ctr">
              <a:lnSpc>
                <a:spcPts val="3600"/>
              </a:lnSpc>
            </a:pPr>
            <a:r>
              <a:rPr lang="en-US" sz="3000" spc="27">
                <a:solidFill>
                  <a:srgbClr val="385724"/>
                </a:solidFill>
                <a:latin typeface="TT Rounds Condensed Bold Italics"/>
              </a:rPr>
              <a:t>IEEE MADRAS SECTION</a:t>
            </a:r>
          </a:p>
          <a:p>
            <a:pPr algn="ctr">
              <a:lnSpc>
                <a:spcPts val="3600"/>
              </a:lnSpc>
            </a:pPr>
            <a:r>
              <a:rPr lang="en-US" sz="3000" spc="27">
                <a:solidFill>
                  <a:srgbClr val="203864"/>
                </a:solidFill>
                <a:latin typeface="TT Rounds Condensed Bold Italics"/>
              </a:rPr>
              <a:t>STUDENT PROJECT FUNDING (SPF 23-24)</a:t>
            </a:r>
          </a:p>
          <a:p>
            <a:pPr algn="ctr">
              <a:lnSpc>
                <a:spcPts val="3600"/>
              </a:lnSpc>
            </a:pPr>
            <a:r>
              <a:rPr lang="en-US" sz="3000" spc="28">
                <a:solidFill>
                  <a:srgbClr val="385724"/>
                </a:solidFill>
                <a:latin typeface="TT Rounds Condensed Bold Italics"/>
              </a:rPr>
              <a:t>CHENNAI-600025</a:t>
            </a:r>
          </a:p>
        </p:txBody>
      </p:sp>
      <p:sp>
        <p:nvSpPr>
          <p:cNvPr name="TextBox 17" id="17"/>
          <p:cNvSpPr txBox="true"/>
          <p:nvPr/>
        </p:nvSpPr>
        <p:spPr>
          <a:xfrm rot="0">
            <a:off x="969483" y="747713"/>
            <a:ext cx="16349033" cy="574805"/>
          </a:xfrm>
          <a:prstGeom prst="rect">
            <a:avLst/>
          </a:prstGeom>
        </p:spPr>
        <p:txBody>
          <a:bodyPr anchor="t" rtlCol="false" tIns="0" lIns="0" bIns="0" rIns="0">
            <a:spAutoFit/>
          </a:bodyPr>
          <a:lstStyle/>
          <a:p>
            <a:pPr algn="ctr">
              <a:lnSpc>
                <a:spcPts val="4503"/>
              </a:lnSpc>
              <a:spcBef>
                <a:spcPct val="0"/>
              </a:spcBef>
            </a:pPr>
            <a:r>
              <a:rPr lang="en-US" sz="3752" spc="35">
                <a:solidFill>
                  <a:srgbClr val="FFFFFF"/>
                </a:solidFill>
                <a:latin typeface="TT Rounds Condensed Bold"/>
              </a:rPr>
              <a:t>SOLAR POWERED ROBOT FOR SOLID WASTE COLLECTION ON WATER SURFACES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720425" y="1964506"/>
            <a:ext cx="16538875" cy="6262526"/>
          </a:xfrm>
          <a:prstGeom prst="rect">
            <a:avLst/>
          </a:prstGeom>
        </p:spPr>
        <p:txBody>
          <a:bodyPr anchor="t" rtlCol="false" tIns="0" lIns="0" bIns="0" rIns="0">
            <a:spAutoFit/>
          </a:bodyPr>
          <a:lstStyle/>
          <a:p>
            <a:pPr algn="l">
              <a:lnSpc>
                <a:spcPts val="4996"/>
              </a:lnSpc>
            </a:pPr>
            <a:r>
              <a:rPr lang="en-US" sz="3568">
                <a:solidFill>
                  <a:srgbClr val="000000"/>
                </a:solidFill>
                <a:latin typeface="Alatsi Bold"/>
              </a:rPr>
              <a:t>In response to increasing water pollution from solid waste accumulation, the project proposes a novel solution using robotics and renewable energy. Our project focuses on designing a solar-powered robot capable of autonomously collecting waste on water surfaces. Integrating advanced technologies such as Arduino microcontrollers, Raspberry Pi units, sensors (IR, temperature, gps), a Raspberry Pi camera, and solar panels, the aim is to optimize obstacle detection, waste identification, and autonomous operation. Field tests will evaluate the robot's effectiveness in mitigating pollution and scalability for widespread deployment, contributing to environmental conservation efforts. </a:t>
            </a:r>
          </a:p>
          <a:p>
            <a:pPr algn="l">
              <a:lnSpc>
                <a:spcPts val="4996"/>
              </a:lnSpc>
            </a:pPr>
            <a:r>
              <a:rPr lang="en-US" sz="3568">
                <a:solidFill>
                  <a:srgbClr val="000000"/>
                </a:solidFill>
                <a:latin typeface="Alatsi Bold"/>
              </a:rPr>
              <a:t>Keywords: Temperature sensor, IR sensor, GPS sensor, Raspberry Pi, Arduino.</a:t>
            </a:r>
          </a:p>
        </p:txBody>
      </p:sp>
      <p:sp>
        <p:nvSpPr>
          <p:cNvPr name="Freeform 3" id="3"/>
          <p:cNvSpPr/>
          <p:nvPr/>
        </p:nvSpPr>
        <p:spPr>
          <a:xfrm flipH="false" flipV="false" rot="0">
            <a:off x="13601700" y="7119036"/>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665934" y="8926830"/>
            <a:ext cx="19619868" cy="1360170"/>
            <a:chOff x="0" y="0"/>
            <a:chExt cx="26159824" cy="1813560"/>
          </a:xfrm>
        </p:grpSpPr>
        <p:sp>
          <p:nvSpPr>
            <p:cNvPr name="TextBox 5" id="5"/>
            <p:cNvSpPr txBox="true"/>
            <p:nvPr/>
          </p:nvSpPr>
          <p:spPr>
            <a:xfrm rot="0">
              <a:off x="8535939" y="-57150"/>
              <a:ext cx="9176144" cy="1870710"/>
            </a:xfrm>
            <a:prstGeom prst="rect">
              <a:avLst/>
            </a:prstGeom>
          </p:spPr>
          <p:txBody>
            <a:bodyPr anchor="t" rtlCol="false" tIns="0" lIns="0" bIns="0" rIns="0">
              <a:spAutoFit/>
            </a:bodyPr>
            <a:lstStyle/>
            <a:p>
              <a:pPr algn="ctr">
                <a:lnSpc>
                  <a:spcPts val="3779"/>
                </a:lnSpc>
              </a:pPr>
              <a:r>
                <a:rPr lang="en-US" sz="2700">
                  <a:solidFill>
                    <a:srgbClr val="000000"/>
                  </a:solidFill>
                  <a:latin typeface="Alatsi Bold"/>
                </a:rPr>
                <a:t>Solar Powered Robot for Solid Waste Collection on Water Surfaces</a:t>
              </a:r>
            </a:p>
            <a:p>
              <a:pPr algn="ctr">
                <a:lnSpc>
                  <a:spcPts val="3779"/>
                </a:lnSpc>
              </a:pPr>
            </a:p>
          </p:txBody>
        </p:sp>
        <p:sp>
          <p:nvSpPr>
            <p:cNvPr name="AutoShape 6" id="6"/>
            <p:cNvSpPr/>
            <p:nvPr/>
          </p:nvSpPr>
          <p:spPr>
            <a:xfrm>
              <a:off x="204" y="687046"/>
              <a:ext cx="9473686" cy="25400"/>
            </a:xfrm>
            <a:prstGeom prst="line">
              <a:avLst/>
            </a:prstGeom>
            <a:ln cap="flat" w="152400">
              <a:solidFill>
                <a:srgbClr val="9FC3D0"/>
              </a:solidFill>
              <a:prstDash val="solid"/>
              <a:headEnd type="none" len="sm" w="sm"/>
              <a:tailEnd type="none" len="sm" w="sm"/>
            </a:ln>
          </p:spPr>
        </p:sp>
        <p:sp>
          <p:nvSpPr>
            <p:cNvPr name="AutoShape 7" id="7"/>
            <p:cNvSpPr/>
            <p:nvPr/>
          </p:nvSpPr>
          <p:spPr>
            <a:xfrm>
              <a:off x="16685934" y="674346"/>
              <a:ext cx="9473686" cy="25400"/>
            </a:xfrm>
            <a:prstGeom prst="line">
              <a:avLst/>
            </a:prstGeom>
            <a:ln cap="flat" w="152400">
              <a:solidFill>
                <a:srgbClr val="9FC3D0"/>
              </a:solidFill>
              <a:prstDash val="solid"/>
              <a:headEnd type="none" len="sm" w="sm"/>
              <a:tailEnd type="none" len="sm" w="sm"/>
            </a:ln>
          </p:spPr>
        </p:sp>
      </p:grpSp>
      <p:sp>
        <p:nvSpPr>
          <p:cNvPr name="TextBox 8" id="8"/>
          <p:cNvSpPr txBox="true"/>
          <p:nvPr/>
        </p:nvSpPr>
        <p:spPr>
          <a:xfrm rot="0">
            <a:off x="2553980" y="446855"/>
            <a:ext cx="13180039"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Bold"/>
              </a:rPr>
              <a:t>ABSTRACT</a:t>
            </a:r>
          </a:p>
        </p:txBody>
      </p:sp>
      <p:grpSp>
        <p:nvGrpSpPr>
          <p:cNvPr name="Group 9" id="9"/>
          <p:cNvGrpSpPr/>
          <p:nvPr/>
        </p:nvGrpSpPr>
        <p:grpSpPr>
          <a:xfrm rot="0">
            <a:off x="15859155" y="0"/>
            <a:ext cx="1562612" cy="1673225"/>
            <a:chOff x="0" y="0"/>
            <a:chExt cx="2083482" cy="2230967"/>
          </a:xfrm>
        </p:grpSpPr>
        <p:grpSp>
          <p:nvGrpSpPr>
            <p:cNvPr name="Group 10" id="10"/>
            <p:cNvGrpSpPr/>
            <p:nvPr/>
          </p:nvGrpSpPr>
          <p:grpSpPr>
            <a:xfrm rot="0">
              <a:off x="75599" y="0"/>
              <a:ext cx="1932284" cy="2230967"/>
              <a:chOff x="0" y="0"/>
              <a:chExt cx="703982" cy="812800"/>
            </a:xfrm>
          </p:grpSpPr>
          <p:sp>
            <p:nvSpPr>
              <p:cNvPr name="Freeform 11" id="11"/>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12" id="12"/>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a:solidFill>
                    <a:srgbClr val="000000"/>
                  </a:solidFill>
                  <a:latin typeface="Open Sans Bold"/>
                </a:rPr>
                <a:t>1</a:t>
              </a:r>
            </a:p>
          </p:txBody>
        </p:sp>
      </p:grpSp>
      <p:sp>
        <p:nvSpPr>
          <p:cNvPr name="Freeform 14" id="14"/>
          <p:cNvSpPr/>
          <p:nvPr/>
        </p:nvSpPr>
        <p:spPr>
          <a:xfrm flipH="false" flipV="false" rot="0">
            <a:off x="-3142138" y="-210192"/>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2553980" y="417513"/>
            <a:ext cx="13180039"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Bold"/>
              </a:rPr>
              <a:t>OVERVIEW</a:t>
            </a:r>
          </a:p>
        </p:txBody>
      </p:sp>
      <p:sp>
        <p:nvSpPr>
          <p:cNvPr name="TextBox 3" id="3"/>
          <p:cNvSpPr txBox="true"/>
          <p:nvPr/>
        </p:nvSpPr>
        <p:spPr>
          <a:xfrm rot="0">
            <a:off x="1221986" y="3305470"/>
            <a:ext cx="4480960" cy="629920"/>
          </a:xfrm>
          <a:prstGeom prst="rect">
            <a:avLst/>
          </a:prstGeom>
        </p:spPr>
        <p:txBody>
          <a:bodyPr anchor="t" rtlCol="false" tIns="0" lIns="0" bIns="0" rIns="0">
            <a:spAutoFit/>
          </a:bodyPr>
          <a:lstStyle/>
          <a:p>
            <a:pPr algn="l" marL="798829" indent="-399415" lvl="1">
              <a:lnSpc>
                <a:spcPts val="5179"/>
              </a:lnSpc>
              <a:buFont typeface="Arial"/>
              <a:buChar char="•"/>
            </a:pPr>
            <a:r>
              <a:rPr lang="en-US" sz="3699">
                <a:solidFill>
                  <a:srgbClr val="000000"/>
                </a:solidFill>
                <a:latin typeface="Alatsi Bold"/>
              </a:rPr>
              <a:t>Introduction</a:t>
            </a:r>
          </a:p>
        </p:txBody>
      </p:sp>
      <p:sp>
        <p:nvSpPr>
          <p:cNvPr name="TextBox 4" id="4"/>
          <p:cNvSpPr txBox="true"/>
          <p:nvPr/>
        </p:nvSpPr>
        <p:spPr>
          <a:xfrm rot="0">
            <a:off x="1221986" y="4408805"/>
            <a:ext cx="4480960" cy="629920"/>
          </a:xfrm>
          <a:prstGeom prst="rect">
            <a:avLst/>
          </a:prstGeom>
        </p:spPr>
        <p:txBody>
          <a:bodyPr anchor="t" rtlCol="false" tIns="0" lIns="0" bIns="0" rIns="0">
            <a:spAutoFit/>
          </a:bodyPr>
          <a:lstStyle/>
          <a:p>
            <a:pPr algn="l" marL="798829" indent="-399415" lvl="1">
              <a:lnSpc>
                <a:spcPts val="5179"/>
              </a:lnSpc>
              <a:buFont typeface="Arial"/>
              <a:buChar char="•"/>
            </a:pPr>
            <a:r>
              <a:rPr lang="en-US" sz="3699">
                <a:solidFill>
                  <a:srgbClr val="000000"/>
                </a:solidFill>
                <a:latin typeface="Alatsi Bold"/>
              </a:rPr>
              <a:t>Existing System</a:t>
            </a:r>
          </a:p>
        </p:txBody>
      </p:sp>
      <p:sp>
        <p:nvSpPr>
          <p:cNvPr name="TextBox 5" id="5"/>
          <p:cNvSpPr txBox="true"/>
          <p:nvPr/>
        </p:nvSpPr>
        <p:spPr>
          <a:xfrm rot="0">
            <a:off x="1221986" y="5512140"/>
            <a:ext cx="5241454" cy="629920"/>
          </a:xfrm>
          <a:prstGeom prst="rect">
            <a:avLst/>
          </a:prstGeom>
        </p:spPr>
        <p:txBody>
          <a:bodyPr anchor="t" rtlCol="false" tIns="0" lIns="0" bIns="0" rIns="0">
            <a:spAutoFit/>
          </a:bodyPr>
          <a:lstStyle/>
          <a:p>
            <a:pPr algn="l" marL="798829" indent="-399415" lvl="1">
              <a:lnSpc>
                <a:spcPts val="5179"/>
              </a:lnSpc>
              <a:buFont typeface="Arial"/>
              <a:buChar char="•"/>
            </a:pPr>
            <a:r>
              <a:rPr lang="en-US" sz="3699">
                <a:solidFill>
                  <a:srgbClr val="000000"/>
                </a:solidFill>
                <a:latin typeface="Alatsi Bold"/>
              </a:rPr>
              <a:t>Components</a:t>
            </a:r>
          </a:p>
        </p:txBody>
      </p:sp>
      <p:sp>
        <p:nvSpPr>
          <p:cNvPr name="TextBox 6" id="6"/>
          <p:cNvSpPr txBox="true"/>
          <p:nvPr/>
        </p:nvSpPr>
        <p:spPr>
          <a:xfrm rot="0">
            <a:off x="6444390" y="3305470"/>
            <a:ext cx="4480960" cy="629920"/>
          </a:xfrm>
          <a:prstGeom prst="rect">
            <a:avLst/>
          </a:prstGeom>
        </p:spPr>
        <p:txBody>
          <a:bodyPr anchor="t" rtlCol="false" tIns="0" lIns="0" bIns="0" rIns="0">
            <a:spAutoFit/>
          </a:bodyPr>
          <a:lstStyle/>
          <a:p>
            <a:pPr algn="l" marL="798829" indent="-399415" lvl="1">
              <a:lnSpc>
                <a:spcPts val="5179"/>
              </a:lnSpc>
              <a:buFont typeface="Arial"/>
              <a:buChar char="•"/>
            </a:pPr>
            <a:r>
              <a:rPr lang="en-US" sz="3699">
                <a:solidFill>
                  <a:srgbClr val="000000"/>
                </a:solidFill>
                <a:latin typeface="Alatsi Bold"/>
              </a:rPr>
              <a:t>Objectives</a:t>
            </a:r>
          </a:p>
        </p:txBody>
      </p:sp>
      <p:sp>
        <p:nvSpPr>
          <p:cNvPr name="TextBox 7" id="7"/>
          <p:cNvSpPr txBox="true"/>
          <p:nvPr/>
        </p:nvSpPr>
        <p:spPr>
          <a:xfrm rot="0">
            <a:off x="6444390" y="4408805"/>
            <a:ext cx="4480960" cy="629920"/>
          </a:xfrm>
          <a:prstGeom prst="rect">
            <a:avLst/>
          </a:prstGeom>
        </p:spPr>
        <p:txBody>
          <a:bodyPr anchor="t" rtlCol="false" tIns="0" lIns="0" bIns="0" rIns="0">
            <a:spAutoFit/>
          </a:bodyPr>
          <a:lstStyle/>
          <a:p>
            <a:pPr algn="l" marL="798829" indent="-399415" lvl="1">
              <a:lnSpc>
                <a:spcPts val="5179"/>
              </a:lnSpc>
              <a:buFont typeface="Arial"/>
              <a:buChar char="•"/>
            </a:pPr>
            <a:r>
              <a:rPr lang="en-US" sz="3699">
                <a:solidFill>
                  <a:srgbClr val="000000"/>
                </a:solidFill>
                <a:latin typeface="Alatsi Bold"/>
              </a:rPr>
              <a:t>Proposed System</a:t>
            </a:r>
          </a:p>
        </p:txBody>
      </p:sp>
      <p:sp>
        <p:nvSpPr>
          <p:cNvPr name="TextBox 8" id="8"/>
          <p:cNvSpPr txBox="true"/>
          <p:nvPr/>
        </p:nvSpPr>
        <p:spPr>
          <a:xfrm rot="0">
            <a:off x="6444390" y="5512140"/>
            <a:ext cx="4480960" cy="629920"/>
          </a:xfrm>
          <a:prstGeom prst="rect">
            <a:avLst/>
          </a:prstGeom>
        </p:spPr>
        <p:txBody>
          <a:bodyPr anchor="t" rtlCol="false" tIns="0" lIns="0" bIns="0" rIns="0">
            <a:spAutoFit/>
          </a:bodyPr>
          <a:lstStyle/>
          <a:p>
            <a:pPr algn="l" marL="798829" indent="-399415" lvl="1">
              <a:lnSpc>
                <a:spcPts val="5179"/>
              </a:lnSpc>
              <a:buFont typeface="Arial"/>
              <a:buChar char="•"/>
            </a:pPr>
            <a:r>
              <a:rPr lang="en-US" sz="3699">
                <a:solidFill>
                  <a:srgbClr val="000000"/>
                </a:solidFill>
                <a:latin typeface="Alatsi Bold"/>
              </a:rPr>
              <a:t>Features</a:t>
            </a:r>
          </a:p>
        </p:txBody>
      </p:sp>
      <p:sp>
        <p:nvSpPr>
          <p:cNvPr name="TextBox 9" id="9"/>
          <p:cNvSpPr txBox="true"/>
          <p:nvPr/>
        </p:nvSpPr>
        <p:spPr>
          <a:xfrm rot="0">
            <a:off x="1221986" y="6586900"/>
            <a:ext cx="5055568" cy="629920"/>
          </a:xfrm>
          <a:prstGeom prst="rect">
            <a:avLst/>
          </a:prstGeom>
        </p:spPr>
        <p:txBody>
          <a:bodyPr anchor="t" rtlCol="false" tIns="0" lIns="0" bIns="0" rIns="0">
            <a:spAutoFit/>
          </a:bodyPr>
          <a:lstStyle/>
          <a:p>
            <a:pPr algn="l" marL="798829" indent="-399415" lvl="1">
              <a:lnSpc>
                <a:spcPts val="5179"/>
              </a:lnSpc>
              <a:buFont typeface="Arial"/>
              <a:buChar char="•"/>
            </a:pPr>
            <a:r>
              <a:rPr lang="en-US" sz="3699">
                <a:solidFill>
                  <a:srgbClr val="000000"/>
                </a:solidFill>
                <a:latin typeface="Alatsi Bold"/>
              </a:rPr>
              <a:t>Output and Result</a:t>
            </a:r>
          </a:p>
        </p:txBody>
      </p:sp>
      <p:sp>
        <p:nvSpPr>
          <p:cNvPr name="TextBox 10" id="10"/>
          <p:cNvSpPr txBox="true"/>
          <p:nvPr/>
        </p:nvSpPr>
        <p:spPr>
          <a:xfrm rot="0">
            <a:off x="11890224" y="3305470"/>
            <a:ext cx="4480960" cy="629920"/>
          </a:xfrm>
          <a:prstGeom prst="rect">
            <a:avLst/>
          </a:prstGeom>
        </p:spPr>
        <p:txBody>
          <a:bodyPr anchor="t" rtlCol="false" tIns="0" lIns="0" bIns="0" rIns="0">
            <a:spAutoFit/>
          </a:bodyPr>
          <a:lstStyle/>
          <a:p>
            <a:pPr algn="l" marL="798829" indent="-399415" lvl="1">
              <a:lnSpc>
                <a:spcPts val="5179"/>
              </a:lnSpc>
              <a:buFont typeface="Arial"/>
              <a:buChar char="•"/>
            </a:pPr>
            <a:r>
              <a:rPr lang="en-US" sz="3699">
                <a:solidFill>
                  <a:srgbClr val="000000"/>
                </a:solidFill>
                <a:latin typeface="Alatsi Bold"/>
              </a:rPr>
              <a:t>Literature Survey</a:t>
            </a:r>
          </a:p>
        </p:txBody>
      </p:sp>
      <p:sp>
        <p:nvSpPr>
          <p:cNvPr name="TextBox 11" id="11"/>
          <p:cNvSpPr txBox="true"/>
          <p:nvPr/>
        </p:nvSpPr>
        <p:spPr>
          <a:xfrm rot="0">
            <a:off x="11890224" y="4408805"/>
            <a:ext cx="4480960" cy="629920"/>
          </a:xfrm>
          <a:prstGeom prst="rect">
            <a:avLst/>
          </a:prstGeom>
        </p:spPr>
        <p:txBody>
          <a:bodyPr anchor="t" rtlCol="false" tIns="0" lIns="0" bIns="0" rIns="0">
            <a:spAutoFit/>
          </a:bodyPr>
          <a:lstStyle/>
          <a:p>
            <a:pPr algn="l" marL="798829" indent="-399415" lvl="1">
              <a:lnSpc>
                <a:spcPts val="5179"/>
              </a:lnSpc>
              <a:buFont typeface="Arial"/>
              <a:buChar char="•"/>
            </a:pPr>
            <a:r>
              <a:rPr lang="en-US" sz="3699">
                <a:solidFill>
                  <a:srgbClr val="000000"/>
                </a:solidFill>
                <a:latin typeface="Alatsi Bold"/>
              </a:rPr>
              <a:t>Block Diagram</a:t>
            </a:r>
          </a:p>
        </p:txBody>
      </p:sp>
      <p:sp>
        <p:nvSpPr>
          <p:cNvPr name="TextBox 12" id="12"/>
          <p:cNvSpPr txBox="true"/>
          <p:nvPr/>
        </p:nvSpPr>
        <p:spPr>
          <a:xfrm rot="0">
            <a:off x="11890224" y="5512140"/>
            <a:ext cx="5369076" cy="629920"/>
          </a:xfrm>
          <a:prstGeom prst="rect">
            <a:avLst/>
          </a:prstGeom>
        </p:spPr>
        <p:txBody>
          <a:bodyPr anchor="t" rtlCol="false" tIns="0" lIns="0" bIns="0" rIns="0">
            <a:spAutoFit/>
          </a:bodyPr>
          <a:lstStyle/>
          <a:p>
            <a:pPr algn="l" marL="798829" indent="-399415" lvl="1">
              <a:lnSpc>
                <a:spcPts val="5179"/>
              </a:lnSpc>
              <a:buFont typeface="Arial"/>
              <a:buChar char="•"/>
            </a:pPr>
            <a:r>
              <a:rPr lang="en-US" sz="3699">
                <a:solidFill>
                  <a:srgbClr val="000000"/>
                </a:solidFill>
                <a:latin typeface="Alatsi Bold"/>
              </a:rPr>
              <a:t>Application</a:t>
            </a:r>
          </a:p>
        </p:txBody>
      </p:sp>
      <p:sp>
        <p:nvSpPr>
          <p:cNvPr name="TextBox 13" id="13"/>
          <p:cNvSpPr txBox="true"/>
          <p:nvPr/>
        </p:nvSpPr>
        <p:spPr>
          <a:xfrm rot="0">
            <a:off x="1221986" y="7721645"/>
            <a:ext cx="4480960" cy="629920"/>
          </a:xfrm>
          <a:prstGeom prst="rect">
            <a:avLst/>
          </a:prstGeom>
        </p:spPr>
        <p:txBody>
          <a:bodyPr anchor="t" rtlCol="false" tIns="0" lIns="0" bIns="0" rIns="0">
            <a:spAutoFit/>
          </a:bodyPr>
          <a:lstStyle/>
          <a:p>
            <a:pPr algn="l" marL="798829" indent="-399415" lvl="1">
              <a:lnSpc>
                <a:spcPts val="5179"/>
              </a:lnSpc>
              <a:buFont typeface="Arial"/>
              <a:buChar char="•"/>
            </a:pPr>
            <a:r>
              <a:rPr lang="en-US" sz="3699">
                <a:solidFill>
                  <a:srgbClr val="000000"/>
                </a:solidFill>
                <a:latin typeface="Alatsi Bold"/>
              </a:rPr>
              <a:t>Thank You</a:t>
            </a:r>
          </a:p>
        </p:txBody>
      </p:sp>
      <p:grpSp>
        <p:nvGrpSpPr>
          <p:cNvPr name="Group 14" id="14"/>
          <p:cNvGrpSpPr/>
          <p:nvPr/>
        </p:nvGrpSpPr>
        <p:grpSpPr>
          <a:xfrm rot="0">
            <a:off x="15859155" y="0"/>
            <a:ext cx="1562612" cy="1673225"/>
            <a:chOff x="0" y="0"/>
            <a:chExt cx="2083482" cy="2230967"/>
          </a:xfrm>
        </p:grpSpPr>
        <p:grpSp>
          <p:nvGrpSpPr>
            <p:cNvPr name="Group 15" id="15"/>
            <p:cNvGrpSpPr/>
            <p:nvPr/>
          </p:nvGrpSpPr>
          <p:grpSpPr>
            <a:xfrm rot="0">
              <a:off x="75599" y="0"/>
              <a:ext cx="1932284" cy="2230967"/>
              <a:chOff x="0" y="0"/>
              <a:chExt cx="703982" cy="812800"/>
            </a:xfrm>
          </p:grpSpPr>
          <p:sp>
            <p:nvSpPr>
              <p:cNvPr name="Freeform 16" id="16"/>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17" id="17"/>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a:solidFill>
                    <a:srgbClr val="000000"/>
                  </a:solidFill>
                  <a:latin typeface="Open Sans Bold"/>
                </a:rPr>
                <a:t>2</a:t>
              </a:r>
            </a:p>
          </p:txBody>
        </p:sp>
      </p:grpSp>
      <p:sp>
        <p:nvSpPr>
          <p:cNvPr name="Freeform 19" id="19"/>
          <p:cNvSpPr/>
          <p:nvPr/>
        </p:nvSpPr>
        <p:spPr>
          <a:xfrm flipH="false" flipV="false" rot="0">
            <a:off x="-2998402" y="-40227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0" id="20"/>
          <p:cNvSpPr/>
          <p:nvPr/>
        </p:nvSpPr>
        <p:spPr>
          <a:xfrm flipH="false" flipV="false" rot="0">
            <a:off x="13601700" y="7112673"/>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1" id="21"/>
          <p:cNvSpPr txBox="true"/>
          <p:nvPr/>
        </p:nvSpPr>
        <p:spPr>
          <a:xfrm rot="0">
            <a:off x="11890224" y="6586900"/>
            <a:ext cx="5055568" cy="629920"/>
          </a:xfrm>
          <a:prstGeom prst="rect">
            <a:avLst/>
          </a:prstGeom>
        </p:spPr>
        <p:txBody>
          <a:bodyPr anchor="t" rtlCol="false" tIns="0" lIns="0" bIns="0" rIns="0">
            <a:spAutoFit/>
          </a:bodyPr>
          <a:lstStyle/>
          <a:p>
            <a:pPr algn="l" marL="798829" indent="-399415" lvl="1">
              <a:lnSpc>
                <a:spcPts val="5179"/>
              </a:lnSpc>
              <a:buFont typeface="Arial"/>
              <a:buChar char="•"/>
            </a:pPr>
            <a:r>
              <a:rPr lang="en-US" sz="3699">
                <a:solidFill>
                  <a:srgbClr val="000000"/>
                </a:solidFill>
                <a:latin typeface="Alatsi Bold"/>
              </a:rPr>
              <a:t>Reference</a:t>
            </a:r>
          </a:p>
        </p:txBody>
      </p:sp>
      <p:sp>
        <p:nvSpPr>
          <p:cNvPr name="TextBox 22" id="22"/>
          <p:cNvSpPr txBox="true"/>
          <p:nvPr/>
        </p:nvSpPr>
        <p:spPr>
          <a:xfrm rot="0">
            <a:off x="6463440" y="6586900"/>
            <a:ext cx="5055568" cy="629920"/>
          </a:xfrm>
          <a:prstGeom prst="rect">
            <a:avLst/>
          </a:prstGeom>
        </p:spPr>
        <p:txBody>
          <a:bodyPr anchor="t" rtlCol="false" tIns="0" lIns="0" bIns="0" rIns="0">
            <a:spAutoFit/>
          </a:bodyPr>
          <a:lstStyle/>
          <a:p>
            <a:pPr algn="l" marL="798829" indent="-399415" lvl="1">
              <a:lnSpc>
                <a:spcPts val="5179"/>
              </a:lnSpc>
              <a:buFont typeface="Arial"/>
              <a:buChar char="•"/>
            </a:pPr>
            <a:r>
              <a:rPr lang="en-US" sz="3699">
                <a:solidFill>
                  <a:srgbClr val="000000"/>
                </a:solidFill>
                <a:latin typeface="Alatsi Bold"/>
              </a:rPr>
              <a:t>Conclusion</a:t>
            </a:r>
          </a:p>
        </p:txBody>
      </p:sp>
      <p:grpSp>
        <p:nvGrpSpPr>
          <p:cNvPr name="Group 23" id="23"/>
          <p:cNvGrpSpPr/>
          <p:nvPr/>
        </p:nvGrpSpPr>
        <p:grpSpPr>
          <a:xfrm rot="0">
            <a:off x="-665934" y="8926830"/>
            <a:ext cx="19619868" cy="1360170"/>
            <a:chOff x="0" y="0"/>
            <a:chExt cx="26159824" cy="1813560"/>
          </a:xfrm>
        </p:grpSpPr>
        <p:sp>
          <p:nvSpPr>
            <p:cNvPr name="TextBox 24" id="24"/>
            <p:cNvSpPr txBox="true"/>
            <p:nvPr/>
          </p:nvSpPr>
          <p:spPr>
            <a:xfrm rot="0">
              <a:off x="8535939" y="-57150"/>
              <a:ext cx="9176144" cy="1870710"/>
            </a:xfrm>
            <a:prstGeom prst="rect">
              <a:avLst/>
            </a:prstGeom>
          </p:spPr>
          <p:txBody>
            <a:bodyPr anchor="t" rtlCol="false" tIns="0" lIns="0" bIns="0" rIns="0">
              <a:spAutoFit/>
            </a:bodyPr>
            <a:lstStyle/>
            <a:p>
              <a:pPr algn="ctr">
                <a:lnSpc>
                  <a:spcPts val="3779"/>
                </a:lnSpc>
              </a:pPr>
              <a:r>
                <a:rPr lang="en-US" sz="2700">
                  <a:solidFill>
                    <a:srgbClr val="000000"/>
                  </a:solidFill>
                  <a:latin typeface="Alatsi Bold"/>
                </a:rPr>
                <a:t>Solar Powered Robot for Solid Waste Collection on Water Surfaces</a:t>
              </a:r>
            </a:p>
            <a:p>
              <a:pPr algn="ctr">
                <a:lnSpc>
                  <a:spcPts val="3779"/>
                </a:lnSpc>
              </a:pPr>
            </a:p>
          </p:txBody>
        </p:sp>
        <p:sp>
          <p:nvSpPr>
            <p:cNvPr name="AutoShape 25" id="25"/>
            <p:cNvSpPr/>
            <p:nvPr/>
          </p:nvSpPr>
          <p:spPr>
            <a:xfrm>
              <a:off x="204" y="687046"/>
              <a:ext cx="9473686" cy="25400"/>
            </a:xfrm>
            <a:prstGeom prst="line">
              <a:avLst/>
            </a:prstGeom>
            <a:ln cap="flat" w="152400">
              <a:solidFill>
                <a:srgbClr val="9FC3D0"/>
              </a:solidFill>
              <a:prstDash val="solid"/>
              <a:headEnd type="none" len="sm" w="sm"/>
              <a:tailEnd type="none" len="sm" w="sm"/>
            </a:ln>
          </p:spPr>
        </p:sp>
        <p:sp>
          <p:nvSpPr>
            <p:cNvPr name="AutoShape 26" id="26"/>
            <p:cNvSpPr/>
            <p:nvPr/>
          </p:nvSpPr>
          <p:spPr>
            <a:xfrm>
              <a:off x="16685934" y="674346"/>
              <a:ext cx="9473686" cy="25400"/>
            </a:xfrm>
            <a:prstGeom prst="line">
              <a:avLst/>
            </a:prstGeom>
            <a:ln cap="flat" w="152400">
              <a:solidFill>
                <a:srgbClr val="9FC3D0"/>
              </a:solidFill>
              <a:prstDash val="solid"/>
              <a:headEnd type="none" len="sm" w="sm"/>
              <a:tailEnd type="none" len="sm" w="sm"/>
            </a:ln>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Freeform 2" id="2"/>
          <p:cNvSpPr/>
          <p:nvPr/>
        </p:nvSpPr>
        <p:spPr>
          <a:xfrm flipH="false" flipV="false" rot="0">
            <a:off x="12759714" y="7119036"/>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553980" y="397254"/>
            <a:ext cx="13180039"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Bold"/>
              </a:rPr>
              <a:t>INTRODUCTION</a:t>
            </a:r>
          </a:p>
        </p:txBody>
      </p:sp>
      <p:grpSp>
        <p:nvGrpSpPr>
          <p:cNvPr name="Group 4" id="4"/>
          <p:cNvGrpSpPr/>
          <p:nvPr/>
        </p:nvGrpSpPr>
        <p:grpSpPr>
          <a:xfrm rot="0">
            <a:off x="15859155" y="0"/>
            <a:ext cx="1562612" cy="1673225"/>
            <a:chOff x="0" y="0"/>
            <a:chExt cx="2083482" cy="2230967"/>
          </a:xfrm>
        </p:grpSpPr>
        <p:grpSp>
          <p:nvGrpSpPr>
            <p:cNvPr name="Group 5" id="5"/>
            <p:cNvGrpSpPr/>
            <p:nvPr/>
          </p:nvGrpSpPr>
          <p:grpSpPr>
            <a:xfrm rot="0">
              <a:off x="75599" y="0"/>
              <a:ext cx="1932284" cy="2230967"/>
              <a:chOff x="0" y="0"/>
              <a:chExt cx="703982" cy="812800"/>
            </a:xfrm>
          </p:grpSpPr>
          <p:sp>
            <p:nvSpPr>
              <p:cNvPr name="Freeform 6" id="6"/>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7" id="7"/>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a:solidFill>
                    <a:srgbClr val="000000"/>
                  </a:solidFill>
                  <a:latin typeface="Open Sans Bold"/>
                </a:rPr>
                <a:t>3</a:t>
              </a:r>
            </a:p>
          </p:txBody>
        </p:sp>
      </p:grpSp>
      <p:sp>
        <p:nvSpPr>
          <p:cNvPr name="Freeform 9" id="9"/>
          <p:cNvSpPr/>
          <p:nvPr/>
        </p:nvSpPr>
        <p:spPr>
          <a:xfrm flipH="false" flipV="false" rot="0">
            <a:off x="-3528204" y="-629554"/>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415346" y="2510541"/>
            <a:ext cx="17391160" cy="5923143"/>
          </a:xfrm>
          <a:prstGeom prst="rect">
            <a:avLst/>
          </a:prstGeom>
        </p:spPr>
        <p:txBody>
          <a:bodyPr anchor="t" rtlCol="false" tIns="0" lIns="0" bIns="0" rIns="0">
            <a:spAutoFit/>
          </a:bodyPr>
          <a:lstStyle/>
          <a:p>
            <a:pPr algn="l" marL="902546" indent="-451273" lvl="1">
              <a:lnSpc>
                <a:spcPts val="5852"/>
              </a:lnSpc>
              <a:buFont typeface="Arial"/>
              <a:buChar char="•"/>
            </a:pPr>
            <a:r>
              <a:rPr lang="en-US" sz="4180">
                <a:solidFill>
                  <a:srgbClr val="000000"/>
                </a:solidFill>
                <a:latin typeface="Alatsi Bold"/>
              </a:rPr>
              <a:t>The world's water bodies face an escalating crisis of pollution, with marine debris posing a significant threat to aquatic ecosystems, wildlife, and human health.</a:t>
            </a:r>
          </a:p>
          <a:p>
            <a:pPr algn="l">
              <a:lnSpc>
                <a:spcPts val="5852"/>
              </a:lnSpc>
            </a:pPr>
          </a:p>
          <a:p>
            <a:pPr algn="l" marL="902546" indent="-451273" lvl="1">
              <a:lnSpc>
                <a:spcPts val="5852"/>
              </a:lnSpc>
              <a:buFont typeface="Arial"/>
              <a:buChar char="•"/>
            </a:pPr>
            <a:r>
              <a:rPr lang="en-US" sz="4180">
                <a:solidFill>
                  <a:srgbClr val="000000"/>
                </a:solidFill>
                <a:latin typeface="Alatsi Bold"/>
              </a:rPr>
              <a:t>The heart of our project lies the vision of a cleaner and healthier environment, where water surfaces are free from the scourge of pollution, and aquatic ecosystems thrive in their natural state</a:t>
            </a:r>
            <a:r>
              <a:rPr lang="en-US" sz="4180">
                <a:solidFill>
                  <a:srgbClr val="000000"/>
                </a:solidFill>
                <a:latin typeface="Alatsi Bold"/>
              </a:rPr>
              <a:t> </a:t>
            </a:r>
          </a:p>
          <a:p>
            <a:pPr algn="l">
              <a:lnSpc>
                <a:spcPts val="5852"/>
              </a:lnSpc>
            </a:pPr>
          </a:p>
        </p:txBody>
      </p:sp>
      <p:grpSp>
        <p:nvGrpSpPr>
          <p:cNvPr name="Group 11" id="11"/>
          <p:cNvGrpSpPr/>
          <p:nvPr/>
        </p:nvGrpSpPr>
        <p:grpSpPr>
          <a:xfrm rot="0">
            <a:off x="-665934" y="8926830"/>
            <a:ext cx="19619868" cy="1360170"/>
            <a:chOff x="0" y="0"/>
            <a:chExt cx="26159824" cy="1813560"/>
          </a:xfrm>
        </p:grpSpPr>
        <p:sp>
          <p:nvSpPr>
            <p:cNvPr name="TextBox 12" id="12"/>
            <p:cNvSpPr txBox="true"/>
            <p:nvPr/>
          </p:nvSpPr>
          <p:spPr>
            <a:xfrm rot="0">
              <a:off x="8535939" y="-57150"/>
              <a:ext cx="9176144" cy="1870710"/>
            </a:xfrm>
            <a:prstGeom prst="rect">
              <a:avLst/>
            </a:prstGeom>
          </p:spPr>
          <p:txBody>
            <a:bodyPr anchor="t" rtlCol="false" tIns="0" lIns="0" bIns="0" rIns="0">
              <a:spAutoFit/>
            </a:bodyPr>
            <a:lstStyle/>
            <a:p>
              <a:pPr algn="ctr">
                <a:lnSpc>
                  <a:spcPts val="3779"/>
                </a:lnSpc>
              </a:pPr>
              <a:r>
                <a:rPr lang="en-US" sz="2700">
                  <a:solidFill>
                    <a:srgbClr val="000000"/>
                  </a:solidFill>
                  <a:latin typeface="Alatsi Bold"/>
                </a:rPr>
                <a:t>Solar Powered Robot for Solid Waste Collection on Water Surfaces</a:t>
              </a:r>
            </a:p>
            <a:p>
              <a:pPr algn="ctr">
                <a:lnSpc>
                  <a:spcPts val="3779"/>
                </a:lnSpc>
              </a:pPr>
            </a:p>
          </p:txBody>
        </p:sp>
        <p:sp>
          <p:nvSpPr>
            <p:cNvPr name="AutoShape 13" id="13"/>
            <p:cNvSpPr/>
            <p:nvPr/>
          </p:nvSpPr>
          <p:spPr>
            <a:xfrm>
              <a:off x="204" y="687046"/>
              <a:ext cx="9473686" cy="25400"/>
            </a:xfrm>
            <a:prstGeom prst="line">
              <a:avLst/>
            </a:prstGeom>
            <a:ln cap="flat" w="152400">
              <a:solidFill>
                <a:srgbClr val="9FC3D0"/>
              </a:solidFill>
              <a:prstDash val="solid"/>
              <a:headEnd type="none" len="sm" w="sm"/>
              <a:tailEnd type="none" len="sm" w="sm"/>
            </a:ln>
          </p:spPr>
        </p:sp>
        <p:sp>
          <p:nvSpPr>
            <p:cNvPr name="AutoShape 14" id="14"/>
            <p:cNvSpPr/>
            <p:nvPr/>
          </p:nvSpPr>
          <p:spPr>
            <a:xfrm>
              <a:off x="16685934" y="674346"/>
              <a:ext cx="9473686" cy="25400"/>
            </a:xfrm>
            <a:prstGeom prst="line">
              <a:avLst/>
            </a:prstGeom>
            <a:ln cap="flat" w="152400">
              <a:solidFill>
                <a:srgbClr val="9FC3D0"/>
              </a:solidFill>
              <a:prstDash val="solid"/>
              <a:headEnd type="none" len="sm" w="sm"/>
              <a:tailEnd type="none" len="sm" w="sm"/>
            </a:ln>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grpSp>
        <p:nvGrpSpPr>
          <p:cNvPr name="Group 2" id="2"/>
          <p:cNvGrpSpPr/>
          <p:nvPr/>
        </p:nvGrpSpPr>
        <p:grpSpPr>
          <a:xfrm rot="0">
            <a:off x="9979649" y="2317751"/>
            <a:ext cx="7362681" cy="2771899"/>
            <a:chOff x="0" y="0"/>
            <a:chExt cx="1939142" cy="730047"/>
          </a:xfrm>
        </p:grpSpPr>
        <p:sp>
          <p:nvSpPr>
            <p:cNvPr name="Freeform 3" id="3"/>
            <p:cNvSpPr/>
            <p:nvPr/>
          </p:nvSpPr>
          <p:spPr>
            <a:xfrm flipH="false" flipV="false" rot="0">
              <a:off x="0" y="0"/>
              <a:ext cx="1939142" cy="730047"/>
            </a:xfrm>
            <a:custGeom>
              <a:avLst/>
              <a:gdLst/>
              <a:ahLst/>
              <a:cxnLst/>
              <a:rect r="r" b="b" t="t" l="l"/>
              <a:pathLst>
                <a:path h="730047" w="1939142">
                  <a:moveTo>
                    <a:pt x="53627" y="0"/>
                  </a:moveTo>
                  <a:lnTo>
                    <a:pt x="1885515" y="0"/>
                  </a:lnTo>
                  <a:cubicBezTo>
                    <a:pt x="1915133" y="0"/>
                    <a:pt x="1939142" y="24010"/>
                    <a:pt x="1939142" y="53627"/>
                  </a:cubicBezTo>
                  <a:lnTo>
                    <a:pt x="1939142" y="676421"/>
                  </a:lnTo>
                  <a:cubicBezTo>
                    <a:pt x="1939142" y="690643"/>
                    <a:pt x="1933492" y="704283"/>
                    <a:pt x="1923435" y="714341"/>
                  </a:cubicBezTo>
                  <a:cubicBezTo>
                    <a:pt x="1913378" y="724397"/>
                    <a:pt x="1899738" y="730047"/>
                    <a:pt x="1885515" y="730047"/>
                  </a:cubicBezTo>
                  <a:lnTo>
                    <a:pt x="53627" y="730047"/>
                  </a:lnTo>
                  <a:cubicBezTo>
                    <a:pt x="39404" y="730047"/>
                    <a:pt x="25764" y="724397"/>
                    <a:pt x="15707" y="714341"/>
                  </a:cubicBezTo>
                  <a:cubicBezTo>
                    <a:pt x="5650" y="704283"/>
                    <a:pt x="0" y="690643"/>
                    <a:pt x="0" y="676421"/>
                  </a:cubicBezTo>
                  <a:lnTo>
                    <a:pt x="0" y="53627"/>
                  </a:lnTo>
                  <a:cubicBezTo>
                    <a:pt x="0" y="39404"/>
                    <a:pt x="5650" y="25764"/>
                    <a:pt x="15707" y="15707"/>
                  </a:cubicBezTo>
                  <a:cubicBezTo>
                    <a:pt x="25764" y="5650"/>
                    <a:pt x="39404" y="0"/>
                    <a:pt x="53627" y="0"/>
                  </a:cubicBezTo>
                  <a:close/>
                </a:path>
              </a:pathLst>
            </a:custGeom>
            <a:solidFill>
              <a:srgbClr val="E9C7C6"/>
            </a:solidFill>
          </p:spPr>
        </p:sp>
        <p:sp>
          <p:nvSpPr>
            <p:cNvPr name="TextBox 4" id="4"/>
            <p:cNvSpPr txBox="true"/>
            <p:nvPr/>
          </p:nvSpPr>
          <p:spPr>
            <a:xfrm>
              <a:off x="0" y="-38100"/>
              <a:ext cx="1939142" cy="76814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75925" y="2317751"/>
            <a:ext cx="7362681" cy="2771899"/>
            <a:chOff x="0" y="0"/>
            <a:chExt cx="1939142" cy="730047"/>
          </a:xfrm>
        </p:grpSpPr>
        <p:sp>
          <p:nvSpPr>
            <p:cNvPr name="Freeform 6" id="6"/>
            <p:cNvSpPr/>
            <p:nvPr/>
          </p:nvSpPr>
          <p:spPr>
            <a:xfrm flipH="false" flipV="false" rot="0">
              <a:off x="0" y="0"/>
              <a:ext cx="1939142" cy="730047"/>
            </a:xfrm>
            <a:custGeom>
              <a:avLst/>
              <a:gdLst/>
              <a:ahLst/>
              <a:cxnLst/>
              <a:rect r="r" b="b" t="t" l="l"/>
              <a:pathLst>
                <a:path h="730047" w="1939142">
                  <a:moveTo>
                    <a:pt x="53627" y="0"/>
                  </a:moveTo>
                  <a:lnTo>
                    <a:pt x="1885515" y="0"/>
                  </a:lnTo>
                  <a:cubicBezTo>
                    <a:pt x="1915133" y="0"/>
                    <a:pt x="1939142" y="24010"/>
                    <a:pt x="1939142" y="53627"/>
                  </a:cubicBezTo>
                  <a:lnTo>
                    <a:pt x="1939142" y="676421"/>
                  </a:lnTo>
                  <a:cubicBezTo>
                    <a:pt x="1939142" y="690643"/>
                    <a:pt x="1933492" y="704283"/>
                    <a:pt x="1923435" y="714341"/>
                  </a:cubicBezTo>
                  <a:cubicBezTo>
                    <a:pt x="1913378" y="724397"/>
                    <a:pt x="1899738" y="730047"/>
                    <a:pt x="1885515" y="730047"/>
                  </a:cubicBezTo>
                  <a:lnTo>
                    <a:pt x="53627" y="730047"/>
                  </a:lnTo>
                  <a:cubicBezTo>
                    <a:pt x="39404" y="730047"/>
                    <a:pt x="25764" y="724397"/>
                    <a:pt x="15707" y="714341"/>
                  </a:cubicBezTo>
                  <a:cubicBezTo>
                    <a:pt x="5650" y="704283"/>
                    <a:pt x="0" y="690643"/>
                    <a:pt x="0" y="676421"/>
                  </a:cubicBezTo>
                  <a:lnTo>
                    <a:pt x="0" y="53627"/>
                  </a:lnTo>
                  <a:cubicBezTo>
                    <a:pt x="0" y="39404"/>
                    <a:pt x="5650" y="25764"/>
                    <a:pt x="15707" y="15707"/>
                  </a:cubicBezTo>
                  <a:cubicBezTo>
                    <a:pt x="25764" y="5650"/>
                    <a:pt x="39404" y="0"/>
                    <a:pt x="53627" y="0"/>
                  </a:cubicBezTo>
                  <a:close/>
                </a:path>
              </a:pathLst>
            </a:custGeom>
            <a:solidFill>
              <a:srgbClr val="E9C7C6"/>
            </a:solidFill>
          </p:spPr>
        </p:sp>
        <p:sp>
          <p:nvSpPr>
            <p:cNvPr name="TextBox 7" id="7"/>
            <p:cNvSpPr txBox="true"/>
            <p:nvPr/>
          </p:nvSpPr>
          <p:spPr>
            <a:xfrm>
              <a:off x="0" y="-38100"/>
              <a:ext cx="1939142" cy="768147"/>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28700" y="5880453"/>
            <a:ext cx="7362681" cy="1963607"/>
            <a:chOff x="0" y="0"/>
            <a:chExt cx="1939142" cy="517164"/>
          </a:xfrm>
        </p:grpSpPr>
        <p:sp>
          <p:nvSpPr>
            <p:cNvPr name="Freeform 9" id="9"/>
            <p:cNvSpPr/>
            <p:nvPr/>
          </p:nvSpPr>
          <p:spPr>
            <a:xfrm flipH="false" flipV="false" rot="0">
              <a:off x="0" y="0"/>
              <a:ext cx="1939142" cy="517164"/>
            </a:xfrm>
            <a:custGeom>
              <a:avLst/>
              <a:gdLst/>
              <a:ahLst/>
              <a:cxnLst/>
              <a:rect r="r" b="b" t="t" l="l"/>
              <a:pathLst>
                <a:path h="517164" w="1939142">
                  <a:moveTo>
                    <a:pt x="53627" y="0"/>
                  </a:moveTo>
                  <a:lnTo>
                    <a:pt x="1885515" y="0"/>
                  </a:lnTo>
                  <a:cubicBezTo>
                    <a:pt x="1915133" y="0"/>
                    <a:pt x="1939142" y="24010"/>
                    <a:pt x="1939142" y="53627"/>
                  </a:cubicBezTo>
                  <a:lnTo>
                    <a:pt x="1939142" y="463537"/>
                  </a:lnTo>
                  <a:cubicBezTo>
                    <a:pt x="1939142" y="477760"/>
                    <a:pt x="1933492" y="491400"/>
                    <a:pt x="1923435" y="501457"/>
                  </a:cubicBezTo>
                  <a:cubicBezTo>
                    <a:pt x="1913378" y="511514"/>
                    <a:pt x="1899738" y="517164"/>
                    <a:pt x="1885515" y="517164"/>
                  </a:cubicBezTo>
                  <a:lnTo>
                    <a:pt x="53627" y="517164"/>
                  </a:lnTo>
                  <a:cubicBezTo>
                    <a:pt x="39404" y="517164"/>
                    <a:pt x="25764" y="511514"/>
                    <a:pt x="15707" y="501457"/>
                  </a:cubicBezTo>
                  <a:cubicBezTo>
                    <a:pt x="5650" y="491400"/>
                    <a:pt x="0" y="477760"/>
                    <a:pt x="0" y="463537"/>
                  </a:cubicBezTo>
                  <a:lnTo>
                    <a:pt x="0" y="53627"/>
                  </a:lnTo>
                  <a:cubicBezTo>
                    <a:pt x="0" y="39404"/>
                    <a:pt x="5650" y="25764"/>
                    <a:pt x="15707" y="15707"/>
                  </a:cubicBezTo>
                  <a:cubicBezTo>
                    <a:pt x="25764" y="5650"/>
                    <a:pt x="39404" y="0"/>
                    <a:pt x="53627" y="0"/>
                  </a:cubicBezTo>
                  <a:close/>
                </a:path>
              </a:pathLst>
            </a:custGeom>
            <a:solidFill>
              <a:srgbClr val="E9C7C6"/>
            </a:solidFill>
          </p:spPr>
        </p:sp>
        <p:sp>
          <p:nvSpPr>
            <p:cNvPr name="TextBox 10" id="10"/>
            <p:cNvSpPr txBox="true"/>
            <p:nvPr/>
          </p:nvSpPr>
          <p:spPr>
            <a:xfrm>
              <a:off x="0" y="-38100"/>
              <a:ext cx="1939142" cy="555264"/>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028700" y="322263"/>
            <a:ext cx="16230600"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Bold"/>
              </a:rPr>
              <a:t>OBJECTIVES</a:t>
            </a:r>
          </a:p>
        </p:txBody>
      </p:sp>
      <p:sp>
        <p:nvSpPr>
          <p:cNvPr name="Freeform 12" id="12"/>
          <p:cNvSpPr/>
          <p:nvPr/>
        </p:nvSpPr>
        <p:spPr>
          <a:xfrm flipH="false" flipV="false" rot="0">
            <a:off x="13239678" y="7006822"/>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10496520" y="2490215"/>
            <a:ext cx="6472576" cy="2369820"/>
          </a:xfrm>
          <a:prstGeom prst="rect">
            <a:avLst/>
          </a:prstGeom>
        </p:spPr>
        <p:txBody>
          <a:bodyPr anchor="t" rtlCol="false" tIns="0" lIns="0" bIns="0" rIns="0">
            <a:spAutoFit/>
          </a:bodyPr>
          <a:lstStyle/>
          <a:p>
            <a:pPr algn="l">
              <a:lnSpc>
                <a:spcPts val="3780"/>
              </a:lnSpc>
            </a:pPr>
            <a:r>
              <a:rPr lang="en-US" sz="2700">
                <a:solidFill>
                  <a:srgbClr val="000000"/>
                </a:solidFill>
                <a:latin typeface="Alatsi Bold"/>
              </a:rPr>
              <a:t>To design and construct a prototype that integrates advanced technologies, including Arduino microcontrollers, Raspberry Pi computing units, and a suite of sensors and actuators</a:t>
            </a:r>
          </a:p>
        </p:txBody>
      </p:sp>
      <p:grpSp>
        <p:nvGrpSpPr>
          <p:cNvPr name="Group 14" id="14"/>
          <p:cNvGrpSpPr/>
          <p:nvPr/>
        </p:nvGrpSpPr>
        <p:grpSpPr>
          <a:xfrm rot="0">
            <a:off x="9979649" y="5880453"/>
            <a:ext cx="7362681" cy="1909514"/>
            <a:chOff x="0" y="0"/>
            <a:chExt cx="9816907" cy="2546019"/>
          </a:xfrm>
        </p:grpSpPr>
        <p:grpSp>
          <p:nvGrpSpPr>
            <p:cNvPr name="Group 15" id="15"/>
            <p:cNvGrpSpPr/>
            <p:nvPr/>
          </p:nvGrpSpPr>
          <p:grpSpPr>
            <a:xfrm rot="0">
              <a:off x="0" y="0"/>
              <a:ext cx="9816907" cy="2546019"/>
              <a:chOff x="0" y="0"/>
              <a:chExt cx="1939142" cy="502917"/>
            </a:xfrm>
          </p:grpSpPr>
          <p:sp>
            <p:nvSpPr>
              <p:cNvPr name="Freeform 16" id="16"/>
              <p:cNvSpPr/>
              <p:nvPr/>
            </p:nvSpPr>
            <p:spPr>
              <a:xfrm flipH="false" flipV="false" rot="0">
                <a:off x="0" y="0"/>
                <a:ext cx="1939142" cy="502917"/>
              </a:xfrm>
              <a:custGeom>
                <a:avLst/>
                <a:gdLst/>
                <a:ahLst/>
                <a:cxnLst/>
                <a:rect r="r" b="b" t="t" l="l"/>
                <a:pathLst>
                  <a:path h="502917" w="1939142">
                    <a:moveTo>
                      <a:pt x="53627" y="0"/>
                    </a:moveTo>
                    <a:lnTo>
                      <a:pt x="1885515" y="0"/>
                    </a:lnTo>
                    <a:cubicBezTo>
                      <a:pt x="1915133" y="0"/>
                      <a:pt x="1939142" y="24010"/>
                      <a:pt x="1939142" y="53627"/>
                    </a:cubicBezTo>
                    <a:lnTo>
                      <a:pt x="1939142" y="449290"/>
                    </a:lnTo>
                    <a:cubicBezTo>
                      <a:pt x="1939142" y="463513"/>
                      <a:pt x="1933492" y="477153"/>
                      <a:pt x="1923435" y="487210"/>
                    </a:cubicBezTo>
                    <a:cubicBezTo>
                      <a:pt x="1913378" y="497267"/>
                      <a:pt x="1899738" y="502917"/>
                      <a:pt x="1885515" y="502917"/>
                    </a:cubicBezTo>
                    <a:lnTo>
                      <a:pt x="53627" y="502917"/>
                    </a:lnTo>
                    <a:cubicBezTo>
                      <a:pt x="39404" y="502917"/>
                      <a:pt x="25764" y="497267"/>
                      <a:pt x="15707" y="487210"/>
                    </a:cubicBezTo>
                    <a:cubicBezTo>
                      <a:pt x="5650" y="477153"/>
                      <a:pt x="0" y="463513"/>
                      <a:pt x="0" y="449290"/>
                    </a:cubicBezTo>
                    <a:lnTo>
                      <a:pt x="0" y="53627"/>
                    </a:lnTo>
                    <a:cubicBezTo>
                      <a:pt x="0" y="39404"/>
                      <a:pt x="5650" y="25764"/>
                      <a:pt x="15707" y="15707"/>
                    </a:cubicBezTo>
                    <a:cubicBezTo>
                      <a:pt x="25764" y="5650"/>
                      <a:pt x="39404" y="0"/>
                      <a:pt x="53627" y="0"/>
                    </a:cubicBezTo>
                    <a:close/>
                  </a:path>
                </a:pathLst>
              </a:custGeom>
              <a:solidFill>
                <a:srgbClr val="E9C7C6"/>
              </a:solidFill>
            </p:spPr>
          </p:sp>
          <p:sp>
            <p:nvSpPr>
              <p:cNvPr name="TextBox 17" id="17"/>
              <p:cNvSpPr txBox="true"/>
              <p:nvPr/>
            </p:nvSpPr>
            <p:spPr>
              <a:xfrm>
                <a:off x="0" y="-38100"/>
                <a:ext cx="1939142" cy="541017"/>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967617" y="272876"/>
              <a:ext cx="8229019" cy="1943118"/>
            </a:xfrm>
            <a:prstGeom prst="rect">
              <a:avLst/>
            </a:prstGeom>
          </p:spPr>
          <p:txBody>
            <a:bodyPr anchor="t" rtlCol="false" tIns="0" lIns="0" bIns="0" rIns="0">
              <a:spAutoFit/>
            </a:bodyPr>
            <a:lstStyle/>
            <a:p>
              <a:pPr algn="l">
                <a:lnSpc>
                  <a:spcPts val="3936"/>
                </a:lnSpc>
              </a:pPr>
              <a:r>
                <a:rPr lang="en-US" sz="2811">
                  <a:solidFill>
                    <a:srgbClr val="000000"/>
                  </a:solidFill>
                  <a:latin typeface="Alatsi Bold"/>
                </a:rPr>
                <a:t> To develop a solar-powered robot capable of efficiently collecting solid waste on water surfaces</a:t>
              </a:r>
            </a:p>
          </p:txBody>
        </p:sp>
      </p:grpSp>
      <p:grpSp>
        <p:nvGrpSpPr>
          <p:cNvPr name="Group 19" id="19"/>
          <p:cNvGrpSpPr/>
          <p:nvPr/>
        </p:nvGrpSpPr>
        <p:grpSpPr>
          <a:xfrm rot="0">
            <a:off x="15859155" y="0"/>
            <a:ext cx="1562612" cy="1673225"/>
            <a:chOff x="0" y="0"/>
            <a:chExt cx="2083482" cy="2230967"/>
          </a:xfrm>
        </p:grpSpPr>
        <p:grpSp>
          <p:nvGrpSpPr>
            <p:cNvPr name="Group 20" id="20"/>
            <p:cNvGrpSpPr/>
            <p:nvPr/>
          </p:nvGrpSpPr>
          <p:grpSpPr>
            <a:xfrm rot="0">
              <a:off x="75599" y="0"/>
              <a:ext cx="1932284" cy="2230967"/>
              <a:chOff x="0" y="0"/>
              <a:chExt cx="703982" cy="812800"/>
            </a:xfrm>
          </p:grpSpPr>
          <p:sp>
            <p:nvSpPr>
              <p:cNvPr name="Freeform 21" id="21"/>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22" id="22"/>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23" id="23"/>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a:solidFill>
                    <a:srgbClr val="000000"/>
                  </a:solidFill>
                  <a:latin typeface="Open Sans Bold"/>
                </a:rPr>
                <a:t>4</a:t>
              </a:r>
            </a:p>
          </p:txBody>
        </p:sp>
      </p:grpSp>
      <p:sp>
        <p:nvSpPr>
          <p:cNvPr name="Freeform 24" id="24"/>
          <p:cNvSpPr/>
          <p:nvPr/>
        </p:nvSpPr>
        <p:spPr>
          <a:xfrm flipH="false" flipV="false" rot="0">
            <a:off x="-2557935" y="-704545"/>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5" id="25"/>
          <p:cNvSpPr txBox="true"/>
          <p:nvPr/>
        </p:nvSpPr>
        <p:spPr>
          <a:xfrm rot="0">
            <a:off x="1455723" y="2490215"/>
            <a:ext cx="6762780" cy="2462226"/>
          </a:xfrm>
          <a:prstGeom prst="rect">
            <a:avLst/>
          </a:prstGeom>
        </p:spPr>
        <p:txBody>
          <a:bodyPr anchor="t" rtlCol="false" tIns="0" lIns="0" bIns="0" rIns="0">
            <a:spAutoFit/>
          </a:bodyPr>
          <a:lstStyle/>
          <a:p>
            <a:pPr algn="l">
              <a:lnSpc>
                <a:spcPts val="3936"/>
              </a:lnSpc>
            </a:pPr>
            <a:r>
              <a:rPr lang="en-US" sz="2811">
                <a:solidFill>
                  <a:srgbClr val="000000"/>
                </a:solidFill>
                <a:latin typeface="Alatsi Bold"/>
              </a:rPr>
              <a:t> To enable autonomous operation, allowing the robot to navigate water bodies, detect obstacles, identify waste, and execute collection maneuvers without human intervention</a:t>
            </a:r>
          </a:p>
        </p:txBody>
      </p:sp>
      <p:sp>
        <p:nvSpPr>
          <p:cNvPr name="TextBox 26" id="26"/>
          <p:cNvSpPr txBox="true"/>
          <p:nvPr/>
        </p:nvSpPr>
        <p:spPr>
          <a:xfrm rot="0">
            <a:off x="1502948" y="6345519"/>
            <a:ext cx="6715555" cy="976326"/>
          </a:xfrm>
          <a:prstGeom prst="rect">
            <a:avLst/>
          </a:prstGeom>
        </p:spPr>
        <p:txBody>
          <a:bodyPr anchor="t" rtlCol="false" tIns="0" lIns="0" bIns="0" rIns="0">
            <a:spAutoFit/>
          </a:bodyPr>
          <a:lstStyle/>
          <a:p>
            <a:pPr algn="l">
              <a:lnSpc>
                <a:spcPts val="3936"/>
              </a:lnSpc>
            </a:pPr>
            <a:r>
              <a:rPr lang="en-US" sz="2811">
                <a:solidFill>
                  <a:srgbClr val="000000"/>
                </a:solidFill>
                <a:latin typeface="Alatsi Bold"/>
              </a:rPr>
              <a:t>To validate the robot's performance and effectiveness in real-world scenarios</a:t>
            </a:r>
          </a:p>
        </p:txBody>
      </p:sp>
      <p:grpSp>
        <p:nvGrpSpPr>
          <p:cNvPr name="Group 27" id="27"/>
          <p:cNvGrpSpPr/>
          <p:nvPr/>
        </p:nvGrpSpPr>
        <p:grpSpPr>
          <a:xfrm rot="0">
            <a:off x="-665934" y="8916735"/>
            <a:ext cx="19619868" cy="1360170"/>
            <a:chOff x="0" y="0"/>
            <a:chExt cx="26159824" cy="1813560"/>
          </a:xfrm>
        </p:grpSpPr>
        <p:sp>
          <p:nvSpPr>
            <p:cNvPr name="TextBox 28" id="28"/>
            <p:cNvSpPr txBox="true"/>
            <p:nvPr/>
          </p:nvSpPr>
          <p:spPr>
            <a:xfrm rot="0">
              <a:off x="8535939" y="-57150"/>
              <a:ext cx="9176144" cy="1870710"/>
            </a:xfrm>
            <a:prstGeom prst="rect">
              <a:avLst/>
            </a:prstGeom>
          </p:spPr>
          <p:txBody>
            <a:bodyPr anchor="t" rtlCol="false" tIns="0" lIns="0" bIns="0" rIns="0">
              <a:spAutoFit/>
            </a:bodyPr>
            <a:lstStyle/>
            <a:p>
              <a:pPr algn="ctr">
                <a:lnSpc>
                  <a:spcPts val="3779"/>
                </a:lnSpc>
              </a:pPr>
              <a:r>
                <a:rPr lang="en-US" sz="2700">
                  <a:solidFill>
                    <a:srgbClr val="000000"/>
                  </a:solidFill>
                  <a:latin typeface="Alatsi Bold"/>
                </a:rPr>
                <a:t>Solar Powered Robot for Solid Waste Collection on Water Surfaces</a:t>
              </a:r>
            </a:p>
            <a:p>
              <a:pPr algn="ctr">
                <a:lnSpc>
                  <a:spcPts val="3779"/>
                </a:lnSpc>
              </a:pPr>
            </a:p>
          </p:txBody>
        </p:sp>
        <p:sp>
          <p:nvSpPr>
            <p:cNvPr name="AutoShape 29" id="29"/>
            <p:cNvSpPr/>
            <p:nvPr/>
          </p:nvSpPr>
          <p:spPr>
            <a:xfrm>
              <a:off x="204" y="687046"/>
              <a:ext cx="9473686" cy="25400"/>
            </a:xfrm>
            <a:prstGeom prst="line">
              <a:avLst/>
            </a:prstGeom>
            <a:ln cap="flat" w="152400">
              <a:solidFill>
                <a:srgbClr val="9FC3D0"/>
              </a:solidFill>
              <a:prstDash val="solid"/>
              <a:headEnd type="none" len="sm" w="sm"/>
              <a:tailEnd type="none" len="sm" w="sm"/>
            </a:ln>
          </p:spPr>
        </p:sp>
        <p:sp>
          <p:nvSpPr>
            <p:cNvPr name="AutoShape 30" id="30"/>
            <p:cNvSpPr/>
            <p:nvPr/>
          </p:nvSpPr>
          <p:spPr>
            <a:xfrm>
              <a:off x="16685934" y="674346"/>
              <a:ext cx="9473686" cy="25400"/>
            </a:xfrm>
            <a:prstGeom prst="line">
              <a:avLst/>
            </a:prstGeom>
            <a:ln cap="flat" w="152400">
              <a:solidFill>
                <a:srgbClr val="9FC3D0"/>
              </a:solidFill>
              <a:prstDash val="solid"/>
              <a:headEnd type="none" len="sm" w="sm"/>
              <a:tailEnd type="none" len="sm" w="sm"/>
            </a:ln>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1028700" y="222250"/>
            <a:ext cx="16230600"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Bold"/>
              </a:rPr>
              <a:t>LITERATURE SURVEY</a:t>
            </a:r>
          </a:p>
        </p:txBody>
      </p:sp>
      <p:grpSp>
        <p:nvGrpSpPr>
          <p:cNvPr name="Group 3" id="3"/>
          <p:cNvGrpSpPr/>
          <p:nvPr/>
        </p:nvGrpSpPr>
        <p:grpSpPr>
          <a:xfrm rot="0">
            <a:off x="15859155" y="0"/>
            <a:ext cx="1562612" cy="1673225"/>
            <a:chOff x="0" y="0"/>
            <a:chExt cx="2083482" cy="2230967"/>
          </a:xfrm>
        </p:grpSpPr>
        <p:grpSp>
          <p:nvGrpSpPr>
            <p:cNvPr name="Group 4" id="4"/>
            <p:cNvGrpSpPr/>
            <p:nvPr/>
          </p:nvGrpSpPr>
          <p:grpSpPr>
            <a:xfrm rot="0">
              <a:off x="75599" y="0"/>
              <a:ext cx="1932284" cy="2230967"/>
              <a:chOff x="0" y="0"/>
              <a:chExt cx="703982" cy="812800"/>
            </a:xfrm>
          </p:grpSpPr>
          <p:sp>
            <p:nvSpPr>
              <p:cNvPr name="Freeform 5" id="5"/>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6" id="6"/>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a:solidFill>
                    <a:srgbClr val="000000"/>
                  </a:solidFill>
                  <a:latin typeface="Open Sans Bold"/>
                </a:rPr>
                <a:t>5</a:t>
              </a:r>
            </a:p>
          </p:txBody>
        </p:sp>
      </p:grpSp>
      <p:sp>
        <p:nvSpPr>
          <p:cNvPr name="Freeform 8" id="8"/>
          <p:cNvSpPr/>
          <p:nvPr/>
        </p:nvSpPr>
        <p:spPr>
          <a:xfrm flipH="false" flipV="false" rot="0">
            <a:off x="12745605" y="7378082"/>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383841" y="-804558"/>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028700" y="1858253"/>
            <a:ext cx="16230600" cy="7349705"/>
          </a:xfrm>
          <a:custGeom>
            <a:avLst/>
            <a:gdLst/>
            <a:ahLst/>
            <a:cxnLst/>
            <a:rect r="r" b="b" t="t" l="l"/>
            <a:pathLst>
              <a:path h="7349705" w="16230600">
                <a:moveTo>
                  <a:pt x="0" y="0"/>
                </a:moveTo>
                <a:lnTo>
                  <a:pt x="16230600" y="0"/>
                </a:lnTo>
                <a:lnTo>
                  <a:pt x="16230600" y="7349704"/>
                </a:lnTo>
                <a:lnTo>
                  <a:pt x="0" y="73497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564423" y="2022523"/>
            <a:ext cx="3078423" cy="610064"/>
          </a:xfrm>
          <a:prstGeom prst="rect">
            <a:avLst/>
          </a:prstGeom>
        </p:spPr>
        <p:txBody>
          <a:bodyPr anchor="t" rtlCol="false" tIns="0" lIns="0" bIns="0" rIns="0">
            <a:spAutoFit/>
          </a:bodyPr>
          <a:lstStyle/>
          <a:p>
            <a:pPr algn="ctr">
              <a:lnSpc>
                <a:spcPts val="2324"/>
              </a:lnSpc>
            </a:pPr>
            <a:r>
              <a:rPr lang="en-US" sz="1877" spc="1">
                <a:solidFill>
                  <a:srgbClr val="FFFFFF"/>
                </a:solidFill>
                <a:latin typeface="Calibri (MS) Bold"/>
              </a:rPr>
              <a:t>TITLE OF THE PAPER WITH AUTHOR NAME</a:t>
            </a:r>
          </a:p>
        </p:txBody>
      </p:sp>
      <p:sp>
        <p:nvSpPr>
          <p:cNvPr name="TextBox 12" id="12"/>
          <p:cNvSpPr txBox="true"/>
          <p:nvPr/>
        </p:nvSpPr>
        <p:spPr>
          <a:xfrm rot="0">
            <a:off x="5787175" y="2031512"/>
            <a:ext cx="2659228" cy="610064"/>
          </a:xfrm>
          <a:prstGeom prst="rect">
            <a:avLst/>
          </a:prstGeom>
        </p:spPr>
        <p:txBody>
          <a:bodyPr anchor="t" rtlCol="false" tIns="0" lIns="0" bIns="0" rIns="0">
            <a:spAutoFit/>
          </a:bodyPr>
          <a:lstStyle/>
          <a:p>
            <a:pPr algn="ctr">
              <a:lnSpc>
                <a:spcPts val="2324"/>
              </a:lnSpc>
            </a:pPr>
            <a:r>
              <a:rPr lang="en-US" sz="1877" spc="13">
                <a:solidFill>
                  <a:srgbClr val="FFFFFF"/>
                </a:solidFill>
                <a:latin typeface="Calibri (MS) Bold"/>
              </a:rPr>
              <a:t>JOURNAL NAME/YEAR OF PUBLICATION </a:t>
            </a:r>
            <a:r>
              <a:rPr lang="en-US" sz="1877" spc="13">
                <a:solidFill>
                  <a:srgbClr val="000000"/>
                </a:solidFill>
                <a:latin typeface="Calibri (MS)"/>
              </a:rPr>
              <a:t> </a:t>
            </a:r>
          </a:p>
        </p:txBody>
      </p:sp>
      <p:sp>
        <p:nvSpPr>
          <p:cNvPr name="TextBox 13" id="13"/>
          <p:cNvSpPr txBox="true"/>
          <p:nvPr/>
        </p:nvSpPr>
        <p:spPr>
          <a:xfrm rot="0">
            <a:off x="10370453" y="1930508"/>
            <a:ext cx="2642111" cy="547275"/>
          </a:xfrm>
          <a:prstGeom prst="rect">
            <a:avLst/>
          </a:prstGeom>
        </p:spPr>
        <p:txBody>
          <a:bodyPr anchor="t" rtlCol="false" tIns="0" lIns="0" bIns="0" rIns="0">
            <a:spAutoFit/>
          </a:bodyPr>
          <a:lstStyle/>
          <a:p>
            <a:pPr algn="l">
              <a:lnSpc>
                <a:spcPts val="4693"/>
              </a:lnSpc>
            </a:pPr>
            <a:r>
              <a:rPr lang="en-US" sz="1877" spc="7">
                <a:solidFill>
                  <a:srgbClr val="FFFFFF"/>
                </a:solidFill>
                <a:latin typeface="Calibri (MS) Bold"/>
              </a:rPr>
              <a:t>FINDINGS</a:t>
            </a:r>
          </a:p>
        </p:txBody>
      </p:sp>
      <p:sp>
        <p:nvSpPr>
          <p:cNvPr name="TextBox 14" id="14"/>
          <p:cNvSpPr txBox="true"/>
          <p:nvPr/>
        </p:nvSpPr>
        <p:spPr>
          <a:xfrm rot="0">
            <a:off x="14155564" y="1953369"/>
            <a:ext cx="2795778" cy="547275"/>
          </a:xfrm>
          <a:prstGeom prst="rect">
            <a:avLst/>
          </a:prstGeom>
        </p:spPr>
        <p:txBody>
          <a:bodyPr anchor="t" rtlCol="false" tIns="0" lIns="0" bIns="0" rIns="0">
            <a:spAutoFit/>
          </a:bodyPr>
          <a:lstStyle/>
          <a:p>
            <a:pPr algn="l">
              <a:lnSpc>
                <a:spcPts val="4693"/>
              </a:lnSpc>
            </a:pPr>
            <a:r>
              <a:rPr lang="en-US" sz="1877">
                <a:solidFill>
                  <a:srgbClr val="FFFFFF"/>
                </a:solidFill>
                <a:latin typeface="Calibri (MS) Bold"/>
              </a:rPr>
              <a:t>LIMITATIONS </a:t>
            </a:r>
          </a:p>
        </p:txBody>
      </p:sp>
      <p:sp>
        <p:nvSpPr>
          <p:cNvPr name="TextBox 15" id="15"/>
          <p:cNvSpPr txBox="true"/>
          <p:nvPr/>
        </p:nvSpPr>
        <p:spPr>
          <a:xfrm rot="0">
            <a:off x="5315682" y="3498952"/>
            <a:ext cx="3708851" cy="306934"/>
          </a:xfrm>
          <a:prstGeom prst="rect">
            <a:avLst/>
          </a:prstGeom>
        </p:spPr>
        <p:txBody>
          <a:bodyPr anchor="t" rtlCol="false" tIns="0" lIns="0" bIns="0" rIns="0">
            <a:spAutoFit/>
          </a:bodyPr>
          <a:lstStyle/>
          <a:p>
            <a:pPr algn="ctr">
              <a:lnSpc>
                <a:spcPts val="2507"/>
              </a:lnSpc>
              <a:spcBef>
                <a:spcPct val="0"/>
              </a:spcBef>
            </a:pPr>
            <a:r>
              <a:rPr lang="en-US" sz="1790">
                <a:solidFill>
                  <a:srgbClr val="000000"/>
                </a:solidFill>
                <a:latin typeface="Alatsi Bold"/>
              </a:rPr>
              <a:t>Environmental Technology, 2020</a:t>
            </a:r>
          </a:p>
        </p:txBody>
      </p:sp>
      <p:sp>
        <p:nvSpPr>
          <p:cNvPr name="TextBox 16" id="16"/>
          <p:cNvSpPr txBox="true"/>
          <p:nvPr/>
        </p:nvSpPr>
        <p:spPr>
          <a:xfrm rot="0">
            <a:off x="1262989" y="2893468"/>
            <a:ext cx="3631599" cy="1517902"/>
          </a:xfrm>
          <a:prstGeom prst="rect">
            <a:avLst/>
          </a:prstGeom>
        </p:spPr>
        <p:txBody>
          <a:bodyPr anchor="t" rtlCol="false" tIns="0" lIns="0" bIns="0" rIns="0">
            <a:spAutoFit/>
          </a:bodyPr>
          <a:lstStyle/>
          <a:p>
            <a:pPr algn="ctr">
              <a:lnSpc>
                <a:spcPts val="2436"/>
              </a:lnSpc>
              <a:spcBef>
                <a:spcPct val="0"/>
              </a:spcBef>
            </a:pPr>
            <a:r>
              <a:rPr lang="en-US" sz="1740">
                <a:solidFill>
                  <a:srgbClr val="000000"/>
                </a:solidFill>
                <a:latin typeface="Alatsi Bold"/>
              </a:rPr>
              <a:t>Title: Development of a Solar-Powered Autonomous Robot for River Cleanup </a:t>
            </a:r>
          </a:p>
          <a:p>
            <a:pPr algn="ctr">
              <a:lnSpc>
                <a:spcPts val="2436"/>
              </a:lnSpc>
              <a:spcBef>
                <a:spcPct val="0"/>
              </a:spcBef>
            </a:pPr>
            <a:r>
              <a:rPr lang="en-US" sz="1740">
                <a:solidFill>
                  <a:srgbClr val="000000"/>
                </a:solidFill>
                <a:latin typeface="Alatsi Bold"/>
              </a:rPr>
              <a:t>Authors: Kamran Arshad, Muhammad Usman, Saad Akhtar, et al.</a:t>
            </a:r>
          </a:p>
        </p:txBody>
      </p:sp>
      <p:sp>
        <p:nvSpPr>
          <p:cNvPr name="TextBox 17" id="17"/>
          <p:cNvSpPr txBox="true"/>
          <p:nvPr/>
        </p:nvSpPr>
        <p:spPr>
          <a:xfrm rot="0">
            <a:off x="9342690" y="2806697"/>
            <a:ext cx="3669874" cy="1518313"/>
          </a:xfrm>
          <a:prstGeom prst="rect">
            <a:avLst/>
          </a:prstGeom>
        </p:spPr>
        <p:txBody>
          <a:bodyPr anchor="t" rtlCol="false" tIns="0" lIns="0" bIns="0" rIns="0">
            <a:spAutoFit/>
          </a:bodyPr>
          <a:lstStyle/>
          <a:p>
            <a:pPr algn="ctr">
              <a:lnSpc>
                <a:spcPts val="2413"/>
              </a:lnSpc>
              <a:spcBef>
                <a:spcPct val="0"/>
              </a:spcBef>
            </a:pPr>
            <a:r>
              <a:rPr lang="en-US" sz="1723">
                <a:solidFill>
                  <a:srgbClr val="000000"/>
                </a:solidFill>
                <a:latin typeface="Alatsi Bold"/>
              </a:rPr>
              <a:t>The solar-powered autonomous robot effectively navigated river environments and collected debris, demonstrating its potential for river cleanup operations. </a:t>
            </a:r>
          </a:p>
        </p:txBody>
      </p:sp>
      <p:sp>
        <p:nvSpPr>
          <p:cNvPr name="TextBox 18" id="18"/>
          <p:cNvSpPr txBox="true"/>
          <p:nvPr/>
        </p:nvSpPr>
        <p:spPr>
          <a:xfrm rot="0">
            <a:off x="13384039" y="2969988"/>
            <a:ext cx="3567303" cy="1250178"/>
          </a:xfrm>
          <a:prstGeom prst="rect">
            <a:avLst/>
          </a:prstGeom>
        </p:spPr>
        <p:txBody>
          <a:bodyPr anchor="t" rtlCol="false" tIns="0" lIns="0" bIns="0" rIns="0">
            <a:spAutoFit/>
          </a:bodyPr>
          <a:lstStyle/>
          <a:p>
            <a:pPr algn="ctr">
              <a:lnSpc>
                <a:spcPts val="2492"/>
              </a:lnSpc>
              <a:spcBef>
                <a:spcPct val="0"/>
              </a:spcBef>
            </a:pPr>
            <a:r>
              <a:rPr lang="en-US" sz="1780">
                <a:solidFill>
                  <a:srgbClr val="000000"/>
                </a:solidFill>
                <a:latin typeface="Alatsi Bold"/>
              </a:rPr>
              <a:t>Challenges were identified in maneuvering the robot in fast-flowing rivers, leading to limitations in debris collection efficiency. </a:t>
            </a:r>
          </a:p>
        </p:txBody>
      </p:sp>
      <p:sp>
        <p:nvSpPr>
          <p:cNvPr name="TextBox 19" id="19"/>
          <p:cNvSpPr txBox="true"/>
          <p:nvPr/>
        </p:nvSpPr>
        <p:spPr>
          <a:xfrm rot="0">
            <a:off x="1187800" y="4642114"/>
            <a:ext cx="3840259" cy="1240798"/>
          </a:xfrm>
          <a:prstGeom prst="rect">
            <a:avLst/>
          </a:prstGeom>
        </p:spPr>
        <p:txBody>
          <a:bodyPr anchor="t" rtlCol="false" tIns="0" lIns="0" bIns="0" rIns="0">
            <a:spAutoFit/>
          </a:bodyPr>
          <a:lstStyle/>
          <a:p>
            <a:pPr algn="ctr">
              <a:lnSpc>
                <a:spcPts val="2457"/>
              </a:lnSpc>
              <a:spcBef>
                <a:spcPct val="0"/>
              </a:spcBef>
            </a:pPr>
            <a:r>
              <a:rPr lang="en-US" sz="1755">
                <a:solidFill>
                  <a:srgbClr val="000000"/>
                </a:solidFill>
                <a:latin typeface="Alatsi Bold"/>
              </a:rPr>
              <a:t>Title: Solar-Powered Unmanned Surface Vehicle for Coastal Waste Management</a:t>
            </a:r>
          </a:p>
          <a:p>
            <a:pPr algn="ctr">
              <a:lnSpc>
                <a:spcPts val="2457"/>
              </a:lnSpc>
              <a:spcBef>
                <a:spcPct val="0"/>
              </a:spcBef>
            </a:pPr>
            <a:r>
              <a:rPr lang="en-US" sz="1755">
                <a:solidFill>
                  <a:srgbClr val="000000"/>
                </a:solidFill>
                <a:latin typeface="Alatsi Bold"/>
              </a:rPr>
              <a:t>Authors:  Junghwan Kim, Taesun Park, Kwanghoon Kim, et al.</a:t>
            </a:r>
          </a:p>
        </p:txBody>
      </p:sp>
      <p:sp>
        <p:nvSpPr>
          <p:cNvPr name="TextBox 20" id="20"/>
          <p:cNvSpPr txBox="true"/>
          <p:nvPr/>
        </p:nvSpPr>
        <p:spPr>
          <a:xfrm rot="0">
            <a:off x="5262363" y="5074820"/>
            <a:ext cx="3708851" cy="365860"/>
          </a:xfrm>
          <a:prstGeom prst="rect">
            <a:avLst/>
          </a:prstGeom>
        </p:spPr>
        <p:txBody>
          <a:bodyPr anchor="t" rtlCol="false" tIns="0" lIns="0" bIns="0" rIns="0">
            <a:spAutoFit/>
          </a:bodyPr>
          <a:lstStyle/>
          <a:p>
            <a:pPr algn="ctr">
              <a:lnSpc>
                <a:spcPts val="2934"/>
              </a:lnSpc>
              <a:spcBef>
                <a:spcPct val="0"/>
              </a:spcBef>
            </a:pPr>
            <a:r>
              <a:rPr lang="en-US" sz="2096">
                <a:solidFill>
                  <a:srgbClr val="000000"/>
                </a:solidFill>
                <a:latin typeface="Alatsi Bold"/>
              </a:rPr>
              <a:t>Ocean Engineering, 2019</a:t>
            </a:r>
          </a:p>
        </p:txBody>
      </p:sp>
      <p:sp>
        <p:nvSpPr>
          <p:cNvPr name="TextBox 21" id="21"/>
          <p:cNvSpPr txBox="true"/>
          <p:nvPr/>
        </p:nvSpPr>
        <p:spPr>
          <a:xfrm rot="0">
            <a:off x="9342690" y="4642114"/>
            <a:ext cx="3619750" cy="1564393"/>
          </a:xfrm>
          <a:prstGeom prst="rect">
            <a:avLst/>
          </a:prstGeom>
        </p:spPr>
        <p:txBody>
          <a:bodyPr anchor="t" rtlCol="false" tIns="0" lIns="0" bIns="0" rIns="0">
            <a:spAutoFit/>
          </a:bodyPr>
          <a:lstStyle/>
          <a:p>
            <a:pPr algn="ctr">
              <a:lnSpc>
                <a:spcPts val="2498"/>
              </a:lnSpc>
              <a:spcBef>
                <a:spcPct val="0"/>
              </a:spcBef>
            </a:pPr>
            <a:r>
              <a:rPr lang="en-US" sz="1784">
                <a:solidFill>
                  <a:srgbClr val="000000"/>
                </a:solidFill>
                <a:latin typeface="Alatsi Bold"/>
              </a:rPr>
              <a:t>The solar-powered unmanned surface vehicle autonomously collected waste along coastal areas, significantly reducing cleanup time and costs. </a:t>
            </a:r>
          </a:p>
        </p:txBody>
      </p:sp>
      <p:sp>
        <p:nvSpPr>
          <p:cNvPr name="TextBox 22" id="22"/>
          <p:cNvSpPr txBox="true"/>
          <p:nvPr/>
        </p:nvSpPr>
        <p:spPr>
          <a:xfrm rot="0">
            <a:off x="13333915" y="4814953"/>
            <a:ext cx="3617427" cy="1213355"/>
          </a:xfrm>
          <a:prstGeom prst="rect">
            <a:avLst/>
          </a:prstGeom>
        </p:spPr>
        <p:txBody>
          <a:bodyPr anchor="t" rtlCol="false" tIns="0" lIns="0" bIns="0" rIns="0">
            <a:spAutoFit/>
          </a:bodyPr>
          <a:lstStyle/>
          <a:p>
            <a:pPr algn="ctr">
              <a:lnSpc>
                <a:spcPts val="2422"/>
              </a:lnSpc>
              <a:spcBef>
                <a:spcPct val="0"/>
              </a:spcBef>
            </a:pPr>
            <a:r>
              <a:rPr lang="en-US" sz="1730">
                <a:solidFill>
                  <a:srgbClr val="000000"/>
                </a:solidFill>
                <a:latin typeface="Alatsi Bold"/>
              </a:rPr>
              <a:t>Limited onboard storage capacity constrained the robot's ability to collect large volumes of debris before requiring manual intervention. </a:t>
            </a:r>
          </a:p>
        </p:txBody>
      </p:sp>
      <p:sp>
        <p:nvSpPr>
          <p:cNvPr name="TextBox 23" id="23"/>
          <p:cNvSpPr txBox="true"/>
          <p:nvPr/>
        </p:nvSpPr>
        <p:spPr>
          <a:xfrm rot="0">
            <a:off x="1262989" y="6387537"/>
            <a:ext cx="3907049" cy="1200600"/>
          </a:xfrm>
          <a:prstGeom prst="rect">
            <a:avLst/>
          </a:prstGeom>
        </p:spPr>
        <p:txBody>
          <a:bodyPr anchor="t" rtlCol="false" tIns="0" lIns="0" bIns="0" rIns="0">
            <a:spAutoFit/>
          </a:bodyPr>
          <a:lstStyle/>
          <a:p>
            <a:pPr algn="ctr">
              <a:lnSpc>
                <a:spcPts val="2394"/>
              </a:lnSpc>
              <a:spcBef>
                <a:spcPct val="0"/>
              </a:spcBef>
            </a:pPr>
            <a:r>
              <a:rPr lang="en-US" sz="1710">
                <a:solidFill>
                  <a:srgbClr val="000000"/>
                </a:solidFill>
                <a:latin typeface="Alatsi Bold"/>
              </a:rPr>
              <a:t>Title: Autonomous Marine Debris Collection Using Solar-Powered Drones</a:t>
            </a:r>
          </a:p>
          <a:p>
            <a:pPr algn="ctr">
              <a:lnSpc>
                <a:spcPts val="2394"/>
              </a:lnSpc>
              <a:spcBef>
                <a:spcPct val="0"/>
              </a:spcBef>
            </a:pPr>
            <a:r>
              <a:rPr lang="en-US" sz="1710">
                <a:solidFill>
                  <a:srgbClr val="000000"/>
                </a:solidFill>
                <a:latin typeface="Alatsi Bold"/>
              </a:rPr>
              <a:t>Authors: Robert Smith, Emily Davis, Jason Lee, et al.</a:t>
            </a:r>
          </a:p>
        </p:txBody>
      </p:sp>
      <p:sp>
        <p:nvSpPr>
          <p:cNvPr name="TextBox 24" id="24"/>
          <p:cNvSpPr txBox="true"/>
          <p:nvPr/>
        </p:nvSpPr>
        <p:spPr>
          <a:xfrm rot="0">
            <a:off x="5175971" y="6758330"/>
            <a:ext cx="3881637" cy="362217"/>
          </a:xfrm>
          <a:prstGeom prst="rect">
            <a:avLst/>
          </a:prstGeom>
        </p:spPr>
        <p:txBody>
          <a:bodyPr anchor="t" rtlCol="false" tIns="0" lIns="0" bIns="0" rIns="0">
            <a:spAutoFit/>
          </a:bodyPr>
          <a:lstStyle/>
          <a:p>
            <a:pPr algn="ctr">
              <a:lnSpc>
                <a:spcPts val="2927"/>
              </a:lnSpc>
              <a:spcBef>
                <a:spcPct val="0"/>
              </a:spcBef>
            </a:pPr>
            <a:r>
              <a:rPr lang="en-US" sz="2091">
                <a:solidFill>
                  <a:srgbClr val="000000"/>
                </a:solidFill>
                <a:latin typeface="Alatsi Bold"/>
              </a:rPr>
              <a:t>Journal of Field Robotics, 2021</a:t>
            </a:r>
          </a:p>
        </p:txBody>
      </p:sp>
      <p:sp>
        <p:nvSpPr>
          <p:cNvPr name="TextBox 25" id="25"/>
          <p:cNvSpPr txBox="true"/>
          <p:nvPr/>
        </p:nvSpPr>
        <p:spPr>
          <a:xfrm rot="0">
            <a:off x="9167749" y="6278388"/>
            <a:ext cx="3844815" cy="1176094"/>
          </a:xfrm>
          <a:prstGeom prst="rect">
            <a:avLst/>
          </a:prstGeom>
        </p:spPr>
        <p:txBody>
          <a:bodyPr anchor="t" rtlCol="false" tIns="0" lIns="0" bIns="0" rIns="0">
            <a:spAutoFit/>
          </a:bodyPr>
          <a:lstStyle/>
          <a:p>
            <a:pPr algn="ctr">
              <a:lnSpc>
                <a:spcPts val="2375"/>
              </a:lnSpc>
              <a:spcBef>
                <a:spcPct val="0"/>
              </a:spcBef>
            </a:pPr>
            <a:r>
              <a:rPr lang="en-US" sz="1697">
                <a:solidFill>
                  <a:srgbClr val="000000"/>
                </a:solidFill>
                <a:latin typeface="Alatsi Bold"/>
              </a:rPr>
              <a:t>Solar-powered drones efficiently identified and collected marine debris from remote coastal regions, demonstrating versatility and scalability.</a:t>
            </a:r>
          </a:p>
        </p:txBody>
      </p:sp>
      <p:sp>
        <p:nvSpPr>
          <p:cNvPr name="TextBox 26" id="26"/>
          <p:cNvSpPr txBox="true"/>
          <p:nvPr/>
        </p:nvSpPr>
        <p:spPr>
          <a:xfrm rot="0">
            <a:off x="13343928" y="6346782"/>
            <a:ext cx="3647525" cy="1130169"/>
          </a:xfrm>
          <a:prstGeom prst="rect">
            <a:avLst/>
          </a:prstGeom>
        </p:spPr>
        <p:txBody>
          <a:bodyPr anchor="t" rtlCol="false" tIns="0" lIns="0" bIns="0" rIns="0">
            <a:spAutoFit/>
          </a:bodyPr>
          <a:lstStyle/>
          <a:p>
            <a:pPr algn="ctr">
              <a:lnSpc>
                <a:spcPts val="2282"/>
              </a:lnSpc>
              <a:spcBef>
                <a:spcPct val="0"/>
              </a:spcBef>
            </a:pPr>
            <a:r>
              <a:rPr lang="en-US" sz="1630">
                <a:solidFill>
                  <a:srgbClr val="000000"/>
                </a:solidFill>
                <a:latin typeface="Alatsi Bold"/>
              </a:rPr>
              <a:t>Adverse weather conditions, such as high winds and heavy rainfall, hampered drone operations and limited collection efficiency. </a:t>
            </a:r>
          </a:p>
        </p:txBody>
      </p:sp>
      <p:sp>
        <p:nvSpPr>
          <p:cNvPr name="TextBox 27" id="27"/>
          <p:cNvSpPr txBox="true"/>
          <p:nvPr/>
        </p:nvSpPr>
        <p:spPr>
          <a:xfrm rot="0">
            <a:off x="1187800" y="7771940"/>
            <a:ext cx="3706788" cy="1213186"/>
          </a:xfrm>
          <a:prstGeom prst="rect">
            <a:avLst/>
          </a:prstGeom>
        </p:spPr>
        <p:txBody>
          <a:bodyPr anchor="t" rtlCol="false" tIns="0" lIns="0" bIns="0" rIns="0">
            <a:spAutoFit/>
          </a:bodyPr>
          <a:lstStyle/>
          <a:p>
            <a:pPr algn="ctr">
              <a:lnSpc>
                <a:spcPts val="2431"/>
              </a:lnSpc>
              <a:spcBef>
                <a:spcPct val="0"/>
              </a:spcBef>
            </a:pPr>
            <a:r>
              <a:rPr lang="en-US" sz="1736">
                <a:solidFill>
                  <a:srgbClr val="000000"/>
                </a:solidFill>
                <a:latin typeface="Alatsi Bold"/>
              </a:rPr>
              <a:t>Title: Robotic Waste Collector for Urban Water Bodies</a:t>
            </a:r>
          </a:p>
          <a:p>
            <a:pPr algn="ctr">
              <a:lnSpc>
                <a:spcPts val="2431"/>
              </a:lnSpc>
              <a:spcBef>
                <a:spcPct val="0"/>
              </a:spcBef>
            </a:pPr>
            <a:r>
              <a:rPr lang="en-US" sz="1736">
                <a:solidFill>
                  <a:srgbClr val="000000"/>
                </a:solidFill>
                <a:latin typeface="Alatsi Bold"/>
              </a:rPr>
              <a:t>Authors: Priya Sharma, Rahul Verma, Ankit Gupta, et al.</a:t>
            </a:r>
          </a:p>
        </p:txBody>
      </p:sp>
      <p:sp>
        <p:nvSpPr>
          <p:cNvPr name="TextBox 28" id="28"/>
          <p:cNvSpPr txBox="true"/>
          <p:nvPr/>
        </p:nvSpPr>
        <p:spPr>
          <a:xfrm rot="0">
            <a:off x="5342677" y="8086774"/>
            <a:ext cx="3548225" cy="658031"/>
          </a:xfrm>
          <a:prstGeom prst="rect">
            <a:avLst/>
          </a:prstGeom>
        </p:spPr>
        <p:txBody>
          <a:bodyPr anchor="t" rtlCol="false" tIns="0" lIns="0" bIns="0" rIns="0">
            <a:spAutoFit/>
          </a:bodyPr>
          <a:lstStyle/>
          <a:p>
            <a:pPr algn="ctr">
              <a:lnSpc>
                <a:spcPts val="2671"/>
              </a:lnSpc>
              <a:spcBef>
                <a:spcPct val="0"/>
              </a:spcBef>
            </a:pPr>
            <a:r>
              <a:rPr lang="en-US" sz="1908">
                <a:solidFill>
                  <a:srgbClr val="000000"/>
                </a:solidFill>
                <a:latin typeface="Alatsi Bold"/>
              </a:rPr>
              <a:t>Waste Management &amp; Research, 2020.</a:t>
            </a:r>
          </a:p>
        </p:txBody>
      </p:sp>
      <p:sp>
        <p:nvSpPr>
          <p:cNvPr name="TextBox 29" id="29"/>
          <p:cNvSpPr txBox="true"/>
          <p:nvPr/>
        </p:nvSpPr>
        <p:spPr>
          <a:xfrm rot="0">
            <a:off x="9241101" y="7771940"/>
            <a:ext cx="3848796" cy="1139110"/>
          </a:xfrm>
          <a:prstGeom prst="rect">
            <a:avLst/>
          </a:prstGeom>
        </p:spPr>
        <p:txBody>
          <a:bodyPr anchor="t" rtlCol="false" tIns="0" lIns="0" bIns="0" rIns="0">
            <a:spAutoFit/>
          </a:bodyPr>
          <a:lstStyle/>
          <a:p>
            <a:pPr algn="ctr">
              <a:lnSpc>
                <a:spcPts val="2314"/>
              </a:lnSpc>
              <a:spcBef>
                <a:spcPct val="0"/>
              </a:spcBef>
            </a:pPr>
            <a:r>
              <a:rPr lang="en-US" sz="1653">
                <a:solidFill>
                  <a:srgbClr val="000000"/>
                </a:solidFill>
                <a:latin typeface="Alatsi Bold"/>
              </a:rPr>
              <a:t>The robotic waste collector effectively removed debris from urban water bodies, improving water quality and enhancing aesthetic appeal.</a:t>
            </a:r>
          </a:p>
        </p:txBody>
      </p:sp>
      <p:sp>
        <p:nvSpPr>
          <p:cNvPr name="TextBox 30" id="30"/>
          <p:cNvSpPr txBox="true"/>
          <p:nvPr/>
        </p:nvSpPr>
        <p:spPr>
          <a:xfrm rot="0">
            <a:off x="13220739" y="7860488"/>
            <a:ext cx="3843779" cy="1129918"/>
          </a:xfrm>
          <a:prstGeom prst="rect">
            <a:avLst/>
          </a:prstGeom>
        </p:spPr>
        <p:txBody>
          <a:bodyPr anchor="t" rtlCol="false" tIns="0" lIns="0" bIns="0" rIns="0">
            <a:spAutoFit/>
          </a:bodyPr>
          <a:lstStyle/>
          <a:p>
            <a:pPr algn="ctr">
              <a:lnSpc>
                <a:spcPts val="2296"/>
              </a:lnSpc>
              <a:spcBef>
                <a:spcPct val="0"/>
              </a:spcBef>
            </a:pPr>
            <a:r>
              <a:rPr lang="en-US" sz="1640">
                <a:solidFill>
                  <a:srgbClr val="000000"/>
                </a:solidFill>
                <a:latin typeface="Alatsi Bold"/>
              </a:rPr>
              <a:t>Limited battery life restricted the operational range of the robot, necessitating frequent recharging and limiting continuous operation. </a:t>
            </a:r>
          </a:p>
        </p:txBody>
      </p:sp>
      <p:grpSp>
        <p:nvGrpSpPr>
          <p:cNvPr name="Group 31" id="31"/>
          <p:cNvGrpSpPr/>
          <p:nvPr/>
        </p:nvGrpSpPr>
        <p:grpSpPr>
          <a:xfrm rot="0">
            <a:off x="-665934" y="9258300"/>
            <a:ext cx="19619868" cy="1360170"/>
            <a:chOff x="0" y="0"/>
            <a:chExt cx="26159824" cy="1813560"/>
          </a:xfrm>
        </p:grpSpPr>
        <p:sp>
          <p:nvSpPr>
            <p:cNvPr name="TextBox 32" id="32"/>
            <p:cNvSpPr txBox="true"/>
            <p:nvPr/>
          </p:nvSpPr>
          <p:spPr>
            <a:xfrm rot="0">
              <a:off x="8535939" y="-57150"/>
              <a:ext cx="9176144" cy="1870710"/>
            </a:xfrm>
            <a:prstGeom prst="rect">
              <a:avLst/>
            </a:prstGeom>
          </p:spPr>
          <p:txBody>
            <a:bodyPr anchor="t" rtlCol="false" tIns="0" lIns="0" bIns="0" rIns="0">
              <a:spAutoFit/>
            </a:bodyPr>
            <a:lstStyle/>
            <a:p>
              <a:pPr algn="ctr">
                <a:lnSpc>
                  <a:spcPts val="3779"/>
                </a:lnSpc>
              </a:pPr>
              <a:r>
                <a:rPr lang="en-US" sz="2700">
                  <a:solidFill>
                    <a:srgbClr val="000000"/>
                  </a:solidFill>
                  <a:latin typeface="Alatsi Bold"/>
                </a:rPr>
                <a:t>Solar Powered Robot for Solid Waste Collection on Water Surfaces</a:t>
              </a:r>
            </a:p>
            <a:p>
              <a:pPr algn="ctr">
                <a:lnSpc>
                  <a:spcPts val="3779"/>
                </a:lnSpc>
              </a:pPr>
            </a:p>
          </p:txBody>
        </p:sp>
        <p:sp>
          <p:nvSpPr>
            <p:cNvPr name="AutoShape 33" id="33"/>
            <p:cNvSpPr/>
            <p:nvPr/>
          </p:nvSpPr>
          <p:spPr>
            <a:xfrm>
              <a:off x="204" y="687046"/>
              <a:ext cx="9473686" cy="25400"/>
            </a:xfrm>
            <a:prstGeom prst="line">
              <a:avLst/>
            </a:prstGeom>
            <a:ln cap="flat" w="152400">
              <a:solidFill>
                <a:srgbClr val="9FC3D0"/>
              </a:solidFill>
              <a:prstDash val="solid"/>
              <a:headEnd type="none" len="sm" w="sm"/>
              <a:tailEnd type="none" len="sm" w="sm"/>
            </a:ln>
          </p:spPr>
        </p:sp>
        <p:sp>
          <p:nvSpPr>
            <p:cNvPr name="AutoShape 34" id="34"/>
            <p:cNvSpPr/>
            <p:nvPr/>
          </p:nvSpPr>
          <p:spPr>
            <a:xfrm>
              <a:off x="16685934" y="674346"/>
              <a:ext cx="9473686" cy="25400"/>
            </a:xfrm>
            <a:prstGeom prst="line">
              <a:avLst/>
            </a:prstGeom>
            <a:ln cap="flat" w="152400">
              <a:solidFill>
                <a:srgbClr val="9FC3D0"/>
              </a:solidFill>
              <a:prstDash val="solid"/>
              <a:headEnd type="none" len="sm" w="sm"/>
              <a:tailEnd type="none" len="sm" w="sm"/>
            </a:ln>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1028700" y="674688"/>
            <a:ext cx="16230600"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Bold"/>
              </a:rPr>
              <a:t>EXISTING SYSTEM</a:t>
            </a:r>
          </a:p>
        </p:txBody>
      </p:sp>
      <p:sp>
        <p:nvSpPr>
          <p:cNvPr name="TextBox 3" id="3"/>
          <p:cNvSpPr txBox="true"/>
          <p:nvPr/>
        </p:nvSpPr>
        <p:spPr>
          <a:xfrm rot="0">
            <a:off x="1028700" y="2011363"/>
            <a:ext cx="16192500" cy="7197493"/>
          </a:xfrm>
          <a:prstGeom prst="rect">
            <a:avLst/>
          </a:prstGeom>
        </p:spPr>
        <p:txBody>
          <a:bodyPr anchor="t" rtlCol="false" tIns="0" lIns="0" bIns="0" rIns="0">
            <a:spAutoFit/>
          </a:bodyPr>
          <a:lstStyle/>
          <a:p>
            <a:pPr algn="l">
              <a:lnSpc>
                <a:spcPts val="5217"/>
              </a:lnSpc>
            </a:pPr>
            <a:r>
              <a:rPr lang="en-US" sz="3387">
                <a:solidFill>
                  <a:srgbClr val="000000"/>
                </a:solidFill>
                <a:latin typeface="Alatsi Bold"/>
              </a:rPr>
              <a:t>The existing systems for collecting solid waste from water bodies typically involve manual methods and some semi-automated technologies. </a:t>
            </a:r>
          </a:p>
          <a:p>
            <a:pPr algn="l">
              <a:lnSpc>
                <a:spcPts val="5217"/>
              </a:lnSpc>
            </a:pPr>
          </a:p>
          <a:p>
            <a:pPr algn="l" marL="731412" indent="-365706" lvl="1">
              <a:lnSpc>
                <a:spcPts val="5217"/>
              </a:lnSpc>
              <a:buAutoNum type="arabicPeriod" startAt="1"/>
            </a:pPr>
            <a:r>
              <a:rPr lang="en-US" sz="3387">
                <a:solidFill>
                  <a:srgbClr val="000000"/>
                </a:solidFill>
                <a:latin typeface="Alatsi Bold"/>
              </a:rPr>
              <a:t>B</a:t>
            </a:r>
            <a:r>
              <a:rPr lang="en-US" sz="3387">
                <a:solidFill>
                  <a:srgbClr val="000000"/>
                </a:solidFill>
                <a:latin typeface="Alatsi Bold"/>
              </a:rPr>
              <a:t>oat-like devices equipped with conveyors and nets to collect floating debris. They usually require human operation and supervision.</a:t>
            </a:r>
          </a:p>
          <a:p>
            <a:pPr algn="l" marL="731412" indent="-365706" lvl="1">
              <a:lnSpc>
                <a:spcPts val="5217"/>
              </a:lnSpc>
              <a:buAutoNum type="arabicPeriod" startAt="1"/>
            </a:pPr>
            <a:r>
              <a:rPr lang="en-US" sz="3387">
                <a:solidFill>
                  <a:srgbClr val="000000"/>
                </a:solidFill>
                <a:latin typeface="Alatsi Bold"/>
              </a:rPr>
              <a:t>Trash Booms and Barriers are stationary or floating barriers installed in water bodies to tr</a:t>
            </a:r>
            <a:r>
              <a:rPr lang="en-US" sz="3387">
                <a:solidFill>
                  <a:srgbClr val="000000"/>
                </a:solidFill>
                <a:latin typeface="Alatsi Bold"/>
              </a:rPr>
              <a:t>ap floating debris, which is then collected manually or by machines.</a:t>
            </a:r>
          </a:p>
          <a:p>
            <a:pPr algn="l" marL="731412" indent="-365706" lvl="1">
              <a:lnSpc>
                <a:spcPts val="5217"/>
              </a:lnSpc>
              <a:buAutoNum type="arabicPeriod" startAt="1"/>
            </a:pPr>
            <a:r>
              <a:rPr lang="en-US" sz="3387">
                <a:solidFill>
                  <a:srgbClr val="000000"/>
                </a:solidFill>
                <a:latin typeface="Alatsi Bold"/>
              </a:rPr>
              <a:t>Some automated and semi-automated USVs are used to collect debris from water surfaces. However, they often rely on non-renewable energy sources and have limitations in storage capacity and operational duration.</a:t>
            </a:r>
          </a:p>
          <a:p>
            <a:pPr algn="l">
              <a:lnSpc>
                <a:spcPts val="5217"/>
              </a:lnSpc>
            </a:pPr>
          </a:p>
        </p:txBody>
      </p:sp>
      <p:grpSp>
        <p:nvGrpSpPr>
          <p:cNvPr name="Group 4" id="4"/>
          <p:cNvGrpSpPr/>
          <p:nvPr/>
        </p:nvGrpSpPr>
        <p:grpSpPr>
          <a:xfrm rot="0">
            <a:off x="15859155" y="0"/>
            <a:ext cx="1562612" cy="1673225"/>
            <a:chOff x="0" y="0"/>
            <a:chExt cx="2083482" cy="2230967"/>
          </a:xfrm>
        </p:grpSpPr>
        <p:grpSp>
          <p:nvGrpSpPr>
            <p:cNvPr name="Group 5" id="5"/>
            <p:cNvGrpSpPr/>
            <p:nvPr/>
          </p:nvGrpSpPr>
          <p:grpSpPr>
            <a:xfrm rot="0">
              <a:off x="75599" y="0"/>
              <a:ext cx="1932284" cy="2230967"/>
              <a:chOff x="0" y="0"/>
              <a:chExt cx="703982" cy="812800"/>
            </a:xfrm>
          </p:grpSpPr>
          <p:sp>
            <p:nvSpPr>
              <p:cNvPr name="Freeform 6" id="6"/>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7" id="7"/>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a:solidFill>
                    <a:srgbClr val="000000"/>
                  </a:solidFill>
                  <a:latin typeface="Open Sans Bold"/>
                </a:rPr>
                <a:t>6</a:t>
              </a:r>
            </a:p>
          </p:txBody>
        </p:sp>
      </p:grpSp>
      <p:sp>
        <p:nvSpPr>
          <p:cNvPr name="Freeform 9" id="9"/>
          <p:cNvSpPr/>
          <p:nvPr/>
        </p:nvSpPr>
        <p:spPr>
          <a:xfrm flipH="false" flipV="false" rot="0">
            <a:off x="12982861" y="6965156"/>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3657600" y="-557294"/>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665934" y="8916735"/>
            <a:ext cx="19619868" cy="1360170"/>
            <a:chOff x="0" y="0"/>
            <a:chExt cx="26159824" cy="1813560"/>
          </a:xfrm>
        </p:grpSpPr>
        <p:sp>
          <p:nvSpPr>
            <p:cNvPr name="TextBox 12" id="12"/>
            <p:cNvSpPr txBox="true"/>
            <p:nvPr/>
          </p:nvSpPr>
          <p:spPr>
            <a:xfrm rot="0">
              <a:off x="8535939" y="-57150"/>
              <a:ext cx="9176144" cy="1870710"/>
            </a:xfrm>
            <a:prstGeom prst="rect">
              <a:avLst/>
            </a:prstGeom>
          </p:spPr>
          <p:txBody>
            <a:bodyPr anchor="t" rtlCol="false" tIns="0" lIns="0" bIns="0" rIns="0">
              <a:spAutoFit/>
            </a:bodyPr>
            <a:lstStyle/>
            <a:p>
              <a:pPr algn="ctr">
                <a:lnSpc>
                  <a:spcPts val="3779"/>
                </a:lnSpc>
              </a:pPr>
              <a:r>
                <a:rPr lang="en-US" sz="2700">
                  <a:solidFill>
                    <a:srgbClr val="000000"/>
                  </a:solidFill>
                  <a:latin typeface="Alatsi Bold"/>
                </a:rPr>
                <a:t>Solar Powered Robot for Solid Waste Collection on Water Surfaces</a:t>
              </a:r>
            </a:p>
            <a:p>
              <a:pPr algn="ctr">
                <a:lnSpc>
                  <a:spcPts val="3779"/>
                </a:lnSpc>
              </a:pPr>
            </a:p>
          </p:txBody>
        </p:sp>
        <p:sp>
          <p:nvSpPr>
            <p:cNvPr name="AutoShape 13" id="13"/>
            <p:cNvSpPr/>
            <p:nvPr/>
          </p:nvSpPr>
          <p:spPr>
            <a:xfrm>
              <a:off x="204" y="687046"/>
              <a:ext cx="9473686" cy="25400"/>
            </a:xfrm>
            <a:prstGeom prst="line">
              <a:avLst/>
            </a:prstGeom>
            <a:ln cap="flat" w="152400">
              <a:solidFill>
                <a:srgbClr val="9FC3D0"/>
              </a:solidFill>
              <a:prstDash val="solid"/>
              <a:headEnd type="none" len="sm" w="sm"/>
              <a:tailEnd type="none" len="sm" w="sm"/>
            </a:ln>
          </p:spPr>
        </p:sp>
        <p:sp>
          <p:nvSpPr>
            <p:cNvPr name="AutoShape 14" id="14"/>
            <p:cNvSpPr/>
            <p:nvPr/>
          </p:nvSpPr>
          <p:spPr>
            <a:xfrm>
              <a:off x="16685934" y="674346"/>
              <a:ext cx="9473686" cy="25400"/>
            </a:xfrm>
            <a:prstGeom prst="line">
              <a:avLst/>
            </a:prstGeom>
            <a:ln cap="flat" w="152400">
              <a:solidFill>
                <a:srgbClr val="9FC3D0"/>
              </a:solidFill>
              <a:prstDash val="solid"/>
              <a:headEnd type="none" len="sm" w="sm"/>
              <a:tailEnd type="none" len="sm" w="sm"/>
            </a:ln>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1028700" y="366600"/>
            <a:ext cx="16230600"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Bold"/>
              </a:rPr>
              <a:t>PROPOSED SYSTEM</a:t>
            </a:r>
          </a:p>
        </p:txBody>
      </p:sp>
      <p:grpSp>
        <p:nvGrpSpPr>
          <p:cNvPr name="Group 3" id="3"/>
          <p:cNvGrpSpPr/>
          <p:nvPr/>
        </p:nvGrpSpPr>
        <p:grpSpPr>
          <a:xfrm rot="0">
            <a:off x="15859155" y="0"/>
            <a:ext cx="1562612" cy="1673225"/>
            <a:chOff x="0" y="0"/>
            <a:chExt cx="2083482" cy="2230967"/>
          </a:xfrm>
        </p:grpSpPr>
        <p:grpSp>
          <p:nvGrpSpPr>
            <p:cNvPr name="Group 4" id="4"/>
            <p:cNvGrpSpPr/>
            <p:nvPr/>
          </p:nvGrpSpPr>
          <p:grpSpPr>
            <a:xfrm rot="0">
              <a:off x="75599" y="0"/>
              <a:ext cx="1932284" cy="2230967"/>
              <a:chOff x="0" y="0"/>
              <a:chExt cx="703982" cy="812800"/>
            </a:xfrm>
          </p:grpSpPr>
          <p:sp>
            <p:nvSpPr>
              <p:cNvPr name="Freeform 5" id="5"/>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6" id="6"/>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a:solidFill>
                    <a:srgbClr val="000000"/>
                  </a:solidFill>
                  <a:latin typeface="Open Sans Bold"/>
                </a:rPr>
                <a:t>7</a:t>
              </a:r>
            </a:p>
          </p:txBody>
        </p:sp>
      </p:grpSp>
      <p:sp>
        <p:nvSpPr>
          <p:cNvPr name="Freeform 8" id="8"/>
          <p:cNvSpPr/>
          <p:nvPr/>
        </p:nvSpPr>
        <p:spPr>
          <a:xfrm flipH="false" flipV="false" rot="0">
            <a:off x="12549985" y="6993481"/>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161175" y="-40227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1028700" y="2046176"/>
            <a:ext cx="7362681" cy="2334875"/>
            <a:chOff x="0" y="0"/>
            <a:chExt cx="1939142" cy="614946"/>
          </a:xfrm>
        </p:grpSpPr>
        <p:sp>
          <p:nvSpPr>
            <p:cNvPr name="Freeform 11" id="11"/>
            <p:cNvSpPr/>
            <p:nvPr/>
          </p:nvSpPr>
          <p:spPr>
            <a:xfrm flipH="false" flipV="false" rot="0">
              <a:off x="0" y="0"/>
              <a:ext cx="1939142" cy="614946"/>
            </a:xfrm>
            <a:custGeom>
              <a:avLst/>
              <a:gdLst/>
              <a:ahLst/>
              <a:cxnLst/>
              <a:rect r="r" b="b" t="t" l="l"/>
              <a:pathLst>
                <a:path h="614946" w="1939142">
                  <a:moveTo>
                    <a:pt x="53627" y="0"/>
                  </a:moveTo>
                  <a:lnTo>
                    <a:pt x="1885515" y="0"/>
                  </a:lnTo>
                  <a:cubicBezTo>
                    <a:pt x="1915133" y="0"/>
                    <a:pt x="1939142" y="24010"/>
                    <a:pt x="1939142" y="53627"/>
                  </a:cubicBezTo>
                  <a:lnTo>
                    <a:pt x="1939142" y="561320"/>
                  </a:lnTo>
                  <a:cubicBezTo>
                    <a:pt x="1939142" y="575542"/>
                    <a:pt x="1933492" y="589182"/>
                    <a:pt x="1923435" y="599240"/>
                  </a:cubicBezTo>
                  <a:cubicBezTo>
                    <a:pt x="1913378" y="609297"/>
                    <a:pt x="1899738" y="614946"/>
                    <a:pt x="1885515" y="614946"/>
                  </a:cubicBezTo>
                  <a:lnTo>
                    <a:pt x="53627" y="614946"/>
                  </a:lnTo>
                  <a:cubicBezTo>
                    <a:pt x="39404" y="614946"/>
                    <a:pt x="25764" y="609297"/>
                    <a:pt x="15707" y="599240"/>
                  </a:cubicBezTo>
                  <a:cubicBezTo>
                    <a:pt x="5650" y="589182"/>
                    <a:pt x="0" y="575542"/>
                    <a:pt x="0" y="561320"/>
                  </a:cubicBezTo>
                  <a:lnTo>
                    <a:pt x="0" y="53627"/>
                  </a:lnTo>
                  <a:cubicBezTo>
                    <a:pt x="0" y="39404"/>
                    <a:pt x="5650" y="25764"/>
                    <a:pt x="15707" y="15707"/>
                  </a:cubicBezTo>
                  <a:cubicBezTo>
                    <a:pt x="25764" y="5650"/>
                    <a:pt x="39404" y="0"/>
                    <a:pt x="53627" y="0"/>
                  </a:cubicBezTo>
                  <a:close/>
                </a:path>
              </a:pathLst>
            </a:custGeom>
            <a:solidFill>
              <a:srgbClr val="E9C7C6"/>
            </a:solidFill>
          </p:spPr>
        </p:sp>
        <p:sp>
          <p:nvSpPr>
            <p:cNvPr name="TextBox 12" id="12"/>
            <p:cNvSpPr txBox="true"/>
            <p:nvPr/>
          </p:nvSpPr>
          <p:spPr>
            <a:xfrm>
              <a:off x="0" y="-38100"/>
              <a:ext cx="1939142" cy="653046"/>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1834737" y="2733480"/>
            <a:ext cx="7276189" cy="1471626"/>
          </a:xfrm>
          <a:prstGeom prst="rect">
            <a:avLst/>
          </a:prstGeom>
        </p:spPr>
        <p:txBody>
          <a:bodyPr anchor="t" rtlCol="false" tIns="0" lIns="0" bIns="0" rIns="0">
            <a:spAutoFit/>
          </a:bodyPr>
          <a:lstStyle/>
          <a:p>
            <a:pPr algn="l">
              <a:lnSpc>
                <a:spcPts val="3936"/>
              </a:lnSpc>
            </a:pPr>
            <a:r>
              <a:rPr lang="en-US" sz="2811">
                <a:solidFill>
                  <a:srgbClr val="000000"/>
                </a:solidFill>
                <a:latin typeface="Alatsi Bold"/>
              </a:rPr>
              <a:t>Utilizes solar panels to power the robot, ensuring sustainable and eco-friendly operation</a:t>
            </a:r>
          </a:p>
        </p:txBody>
      </p:sp>
      <p:sp>
        <p:nvSpPr>
          <p:cNvPr name="TextBox 14" id="14"/>
          <p:cNvSpPr txBox="true"/>
          <p:nvPr/>
        </p:nvSpPr>
        <p:spPr>
          <a:xfrm rot="0">
            <a:off x="1874158" y="2169696"/>
            <a:ext cx="4559734" cy="594909"/>
          </a:xfrm>
          <a:prstGeom prst="rect">
            <a:avLst/>
          </a:prstGeom>
        </p:spPr>
        <p:txBody>
          <a:bodyPr anchor="t" rtlCol="false" tIns="0" lIns="0" bIns="0" rIns="0">
            <a:spAutoFit/>
          </a:bodyPr>
          <a:lstStyle/>
          <a:p>
            <a:pPr algn="l">
              <a:lnSpc>
                <a:spcPts val="4928"/>
              </a:lnSpc>
            </a:pPr>
            <a:r>
              <a:rPr lang="en-US" sz="3520">
                <a:solidFill>
                  <a:srgbClr val="000000"/>
                </a:solidFill>
                <a:latin typeface="Alatsi Bold"/>
              </a:rPr>
              <a:t>Solar Power</a:t>
            </a:r>
          </a:p>
        </p:txBody>
      </p:sp>
      <p:grpSp>
        <p:nvGrpSpPr>
          <p:cNvPr name="Group 15" id="15"/>
          <p:cNvGrpSpPr/>
          <p:nvPr/>
        </p:nvGrpSpPr>
        <p:grpSpPr>
          <a:xfrm rot="0">
            <a:off x="1316164" y="2321504"/>
            <a:ext cx="357969" cy="357969"/>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028700" y="5719580"/>
            <a:ext cx="7544026" cy="2738159"/>
            <a:chOff x="0" y="0"/>
            <a:chExt cx="1986904" cy="721161"/>
          </a:xfrm>
        </p:grpSpPr>
        <p:sp>
          <p:nvSpPr>
            <p:cNvPr name="Freeform 19" id="19"/>
            <p:cNvSpPr/>
            <p:nvPr/>
          </p:nvSpPr>
          <p:spPr>
            <a:xfrm flipH="false" flipV="false" rot="0">
              <a:off x="0" y="0"/>
              <a:ext cx="1986904" cy="721161"/>
            </a:xfrm>
            <a:custGeom>
              <a:avLst/>
              <a:gdLst/>
              <a:ahLst/>
              <a:cxnLst/>
              <a:rect r="r" b="b" t="t" l="l"/>
              <a:pathLst>
                <a:path h="721161" w="1986904">
                  <a:moveTo>
                    <a:pt x="52338" y="0"/>
                  </a:moveTo>
                  <a:lnTo>
                    <a:pt x="1934566" y="0"/>
                  </a:lnTo>
                  <a:cubicBezTo>
                    <a:pt x="1963471" y="0"/>
                    <a:pt x="1986904" y="23432"/>
                    <a:pt x="1986904" y="52338"/>
                  </a:cubicBezTo>
                  <a:lnTo>
                    <a:pt x="1986904" y="668823"/>
                  </a:lnTo>
                  <a:cubicBezTo>
                    <a:pt x="1986904" y="697729"/>
                    <a:pt x="1963471" y="721161"/>
                    <a:pt x="1934566" y="721161"/>
                  </a:cubicBezTo>
                  <a:lnTo>
                    <a:pt x="52338" y="721161"/>
                  </a:lnTo>
                  <a:cubicBezTo>
                    <a:pt x="23432" y="721161"/>
                    <a:pt x="0" y="697729"/>
                    <a:pt x="0" y="668823"/>
                  </a:cubicBezTo>
                  <a:lnTo>
                    <a:pt x="0" y="52338"/>
                  </a:lnTo>
                  <a:cubicBezTo>
                    <a:pt x="0" y="23432"/>
                    <a:pt x="23432" y="0"/>
                    <a:pt x="52338" y="0"/>
                  </a:cubicBezTo>
                  <a:close/>
                </a:path>
              </a:pathLst>
            </a:custGeom>
            <a:solidFill>
              <a:srgbClr val="E9C7C6"/>
            </a:solidFill>
          </p:spPr>
        </p:sp>
        <p:sp>
          <p:nvSpPr>
            <p:cNvPr name="TextBox 20" id="20"/>
            <p:cNvSpPr txBox="true"/>
            <p:nvPr/>
          </p:nvSpPr>
          <p:spPr>
            <a:xfrm>
              <a:off x="0" y="-38100"/>
              <a:ext cx="1986904" cy="759261"/>
            </a:xfrm>
            <a:prstGeom prst="rect">
              <a:avLst/>
            </a:prstGeom>
          </p:spPr>
          <p:txBody>
            <a:bodyPr anchor="ctr" rtlCol="false" tIns="50800" lIns="50800" bIns="50800" rIns="50800"/>
            <a:lstStyle/>
            <a:p>
              <a:pPr algn="ctr">
                <a:lnSpc>
                  <a:spcPts val="2659"/>
                </a:lnSpc>
              </a:pPr>
            </a:p>
          </p:txBody>
        </p:sp>
      </p:grpSp>
      <p:sp>
        <p:nvSpPr>
          <p:cNvPr name="TextBox 21" id="21"/>
          <p:cNvSpPr txBox="true"/>
          <p:nvPr/>
        </p:nvSpPr>
        <p:spPr>
          <a:xfrm rot="0">
            <a:off x="1674133" y="6355617"/>
            <a:ext cx="6898593" cy="1966926"/>
          </a:xfrm>
          <a:prstGeom prst="rect">
            <a:avLst/>
          </a:prstGeom>
        </p:spPr>
        <p:txBody>
          <a:bodyPr anchor="t" rtlCol="false" tIns="0" lIns="0" bIns="0" rIns="0">
            <a:spAutoFit/>
          </a:bodyPr>
          <a:lstStyle/>
          <a:p>
            <a:pPr algn="l">
              <a:lnSpc>
                <a:spcPts val="3936"/>
              </a:lnSpc>
            </a:pPr>
            <a:r>
              <a:rPr lang="en-US" sz="2811">
                <a:solidFill>
                  <a:srgbClr val="000000"/>
                </a:solidFill>
                <a:latin typeface="Alatsi Bold"/>
              </a:rPr>
              <a:t>Equipped with advanced sensors and a Raspberry Pi for real-time processing, enabling the robot to navigate water bodies without human intervention.</a:t>
            </a:r>
          </a:p>
        </p:txBody>
      </p:sp>
      <p:sp>
        <p:nvSpPr>
          <p:cNvPr name="TextBox 22" id="22"/>
          <p:cNvSpPr txBox="true"/>
          <p:nvPr/>
        </p:nvSpPr>
        <p:spPr>
          <a:xfrm rot="0">
            <a:off x="1874158" y="5817858"/>
            <a:ext cx="4559734" cy="594909"/>
          </a:xfrm>
          <a:prstGeom prst="rect">
            <a:avLst/>
          </a:prstGeom>
        </p:spPr>
        <p:txBody>
          <a:bodyPr anchor="t" rtlCol="false" tIns="0" lIns="0" bIns="0" rIns="0">
            <a:spAutoFit/>
          </a:bodyPr>
          <a:lstStyle/>
          <a:p>
            <a:pPr algn="l">
              <a:lnSpc>
                <a:spcPts val="4928"/>
              </a:lnSpc>
            </a:pPr>
            <a:r>
              <a:rPr lang="en-US" sz="3520">
                <a:solidFill>
                  <a:srgbClr val="000000"/>
                </a:solidFill>
                <a:latin typeface="Alatsi Bold"/>
              </a:rPr>
              <a:t>Navigation</a:t>
            </a:r>
          </a:p>
        </p:txBody>
      </p:sp>
      <p:grpSp>
        <p:nvGrpSpPr>
          <p:cNvPr name="Group 23" id="23"/>
          <p:cNvGrpSpPr/>
          <p:nvPr/>
        </p:nvGrpSpPr>
        <p:grpSpPr>
          <a:xfrm rot="0">
            <a:off x="1316164" y="5969665"/>
            <a:ext cx="357969" cy="357969"/>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5" id="2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9896619" y="5719580"/>
            <a:ext cx="7362681" cy="2638348"/>
            <a:chOff x="0" y="0"/>
            <a:chExt cx="1939142" cy="694873"/>
          </a:xfrm>
        </p:grpSpPr>
        <p:sp>
          <p:nvSpPr>
            <p:cNvPr name="Freeform 27" id="27"/>
            <p:cNvSpPr/>
            <p:nvPr/>
          </p:nvSpPr>
          <p:spPr>
            <a:xfrm flipH="false" flipV="false" rot="0">
              <a:off x="0" y="0"/>
              <a:ext cx="1939142" cy="694873"/>
            </a:xfrm>
            <a:custGeom>
              <a:avLst/>
              <a:gdLst/>
              <a:ahLst/>
              <a:cxnLst/>
              <a:rect r="r" b="b" t="t" l="l"/>
              <a:pathLst>
                <a:path h="694873" w="1939142">
                  <a:moveTo>
                    <a:pt x="53627" y="0"/>
                  </a:moveTo>
                  <a:lnTo>
                    <a:pt x="1885515" y="0"/>
                  </a:lnTo>
                  <a:cubicBezTo>
                    <a:pt x="1915133" y="0"/>
                    <a:pt x="1939142" y="24010"/>
                    <a:pt x="1939142" y="53627"/>
                  </a:cubicBezTo>
                  <a:lnTo>
                    <a:pt x="1939142" y="641247"/>
                  </a:lnTo>
                  <a:cubicBezTo>
                    <a:pt x="1939142" y="655469"/>
                    <a:pt x="1933492" y="669109"/>
                    <a:pt x="1923435" y="679166"/>
                  </a:cubicBezTo>
                  <a:cubicBezTo>
                    <a:pt x="1913378" y="689223"/>
                    <a:pt x="1899738" y="694873"/>
                    <a:pt x="1885515" y="694873"/>
                  </a:cubicBezTo>
                  <a:lnTo>
                    <a:pt x="53627" y="694873"/>
                  </a:lnTo>
                  <a:cubicBezTo>
                    <a:pt x="24010" y="694873"/>
                    <a:pt x="0" y="670864"/>
                    <a:pt x="0" y="641247"/>
                  </a:cubicBezTo>
                  <a:lnTo>
                    <a:pt x="0" y="53627"/>
                  </a:lnTo>
                  <a:cubicBezTo>
                    <a:pt x="0" y="39404"/>
                    <a:pt x="5650" y="25764"/>
                    <a:pt x="15707" y="15707"/>
                  </a:cubicBezTo>
                  <a:cubicBezTo>
                    <a:pt x="25764" y="5650"/>
                    <a:pt x="39404" y="0"/>
                    <a:pt x="53627" y="0"/>
                  </a:cubicBezTo>
                  <a:close/>
                </a:path>
              </a:pathLst>
            </a:custGeom>
            <a:solidFill>
              <a:srgbClr val="E9C7C6"/>
            </a:solidFill>
          </p:spPr>
        </p:sp>
        <p:sp>
          <p:nvSpPr>
            <p:cNvPr name="TextBox 28" id="28"/>
            <p:cNvSpPr txBox="true"/>
            <p:nvPr/>
          </p:nvSpPr>
          <p:spPr>
            <a:xfrm>
              <a:off x="0" y="-38100"/>
              <a:ext cx="1939142" cy="732973"/>
            </a:xfrm>
            <a:prstGeom prst="rect">
              <a:avLst/>
            </a:prstGeom>
          </p:spPr>
          <p:txBody>
            <a:bodyPr anchor="ctr" rtlCol="false" tIns="50800" lIns="50800" bIns="50800" rIns="50800"/>
            <a:lstStyle/>
            <a:p>
              <a:pPr algn="ctr">
                <a:lnSpc>
                  <a:spcPts val="2659"/>
                </a:lnSpc>
              </a:pPr>
            </a:p>
          </p:txBody>
        </p:sp>
      </p:grpSp>
      <p:sp>
        <p:nvSpPr>
          <p:cNvPr name="TextBox 29" id="29"/>
          <p:cNvSpPr txBox="true"/>
          <p:nvPr/>
        </p:nvSpPr>
        <p:spPr>
          <a:xfrm rot="0">
            <a:off x="10539692" y="6422292"/>
            <a:ext cx="6929690" cy="1810081"/>
          </a:xfrm>
          <a:prstGeom prst="rect">
            <a:avLst/>
          </a:prstGeom>
        </p:spPr>
        <p:txBody>
          <a:bodyPr anchor="t" rtlCol="false" tIns="0" lIns="0" bIns="0" rIns="0">
            <a:spAutoFit/>
          </a:bodyPr>
          <a:lstStyle/>
          <a:p>
            <a:pPr algn="l">
              <a:lnSpc>
                <a:spcPts val="3656"/>
              </a:lnSpc>
            </a:pPr>
            <a:r>
              <a:rPr lang="en-US" sz="2611">
                <a:solidFill>
                  <a:srgbClr val="000000"/>
                </a:solidFill>
                <a:latin typeface="Alatsi Bold"/>
              </a:rPr>
              <a:t>Designed to be scalable for deployment in various water environments and adaptable to different types of waste and operational conditions.</a:t>
            </a:r>
          </a:p>
        </p:txBody>
      </p:sp>
      <p:sp>
        <p:nvSpPr>
          <p:cNvPr name="TextBox 30" id="30"/>
          <p:cNvSpPr txBox="true"/>
          <p:nvPr/>
        </p:nvSpPr>
        <p:spPr>
          <a:xfrm rot="0">
            <a:off x="10742077" y="5817858"/>
            <a:ext cx="5465508" cy="594909"/>
          </a:xfrm>
          <a:prstGeom prst="rect">
            <a:avLst/>
          </a:prstGeom>
        </p:spPr>
        <p:txBody>
          <a:bodyPr anchor="t" rtlCol="false" tIns="0" lIns="0" bIns="0" rIns="0">
            <a:spAutoFit/>
          </a:bodyPr>
          <a:lstStyle/>
          <a:p>
            <a:pPr algn="l">
              <a:lnSpc>
                <a:spcPts val="4928"/>
              </a:lnSpc>
            </a:pPr>
            <a:r>
              <a:rPr lang="en-US" sz="3520">
                <a:solidFill>
                  <a:srgbClr val="000000"/>
                </a:solidFill>
                <a:latin typeface="Alatsi Bold"/>
              </a:rPr>
              <a:t>Scalability and Adaptability</a:t>
            </a:r>
          </a:p>
        </p:txBody>
      </p:sp>
      <p:grpSp>
        <p:nvGrpSpPr>
          <p:cNvPr name="Group 31" id="31"/>
          <p:cNvGrpSpPr/>
          <p:nvPr/>
        </p:nvGrpSpPr>
        <p:grpSpPr>
          <a:xfrm rot="0">
            <a:off x="10181723" y="5969665"/>
            <a:ext cx="357969" cy="357969"/>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33" id="3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0">
            <a:off x="9896619" y="2125663"/>
            <a:ext cx="7362681" cy="2255388"/>
            <a:chOff x="0" y="0"/>
            <a:chExt cx="1939142" cy="594012"/>
          </a:xfrm>
        </p:grpSpPr>
        <p:sp>
          <p:nvSpPr>
            <p:cNvPr name="Freeform 35" id="35"/>
            <p:cNvSpPr/>
            <p:nvPr/>
          </p:nvSpPr>
          <p:spPr>
            <a:xfrm flipH="false" flipV="false" rot="0">
              <a:off x="0" y="0"/>
              <a:ext cx="1939142" cy="594012"/>
            </a:xfrm>
            <a:custGeom>
              <a:avLst/>
              <a:gdLst/>
              <a:ahLst/>
              <a:cxnLst/>
              <a:rect r="r" b="b" t="t" l="l"/>
              <a:pathLst>
                <a:path h="594012" w="1939142">
                  <a:moveTo>
                    <a:pt x="53627" y="0"/>
                  </a:moveTo>
                  <a:lnTo>
                    <a:pt x="1885515" y="0"/>
                  </a:lnTo>
                  <a:cubicBezTo>
                    <a:pt x="1915133" y="0"/>
                    <a:pt x="1939142" y="24010"/>
                    <a:pt x="1939142" y="53627"/>
                  </a:cubicBezTo>
                  <a:lnTo>
                    <a:pt x="1939142" y="540385"/>
                  </a:lnTo>
                  <a:cubicBezTo>
                    <a:pt x="1939142" y="554607"/>
                    <a:pt x="1933492" y="568248"/>
                    <a:pt x="1923435" y="578305"/>
                  </a:cubicBezTo>
                  <a:cubicBezTo>
                    <a:pt x="1913378" y="588362"/>
                    <a:pt x="1899738" y="594012"/>
                    <a:pt x="1885515" y="594012"/>
                  </a:cubicBezTo>
                  <a:lnTo>
                    <a:pt x="53627" y="594012"/>
                  </a:lnTo>
                  <a:cubicBezTo>
                    <a:pt x="24010" y="594012"/>
                    <a:pt x="0" y="570002"/>
                    <a:pt x="0" y="540385"/>
                  </a:cubicBezTo>
                  <a:lnTo>
                    <a:pt x="0" y="53627"/>
                  </a:lnTo>
                  <a:cubicBezTo>
                    <a:pt x="0" y="39404"/>
                    <a:pt x="5650" y="25764"/>
                    <a:pt x="15707" y="15707"/>
                  </a:cubicBezTo>
                  <a:cubicBezTo>
                    <a:pt x="25764" y="5650"/>
                    <a:pt x="39404" y="0"/>
                    <a:pt x="53627" y="0"/>
                  </a:cubicBezTo>
                  <a:close/>
                </a:path>
              </a:pathLst>
            </a:custGeom>
            <a:solidFill>
              <a:srgbClr val="E9C7C6"/>
            </a:solidFill>
          </p:spPr>
        </p:sp>
        <p:sp>
          <p:nvSpPr>
            <p:cNvPr name="TextBox 36" id="36"/>
            <p:cNvSpPr txBox="true"/>
            <p:nvPr/>
          </p:nvSpPr>
          <p:spPr>
            <a:xfrm>
              <a:off x="0" y="-38100"/>
              <a:ext cx="1939142" cy="632112"/>
            </a:xfrm>
            <a:prstGeom prst="rect">
              <a:avLst/>
            </a:prstGeom>
          </p:spPr>
          <p:txBody>
            <a:bodyPr anchor="ctr" rtlCol="false" tIns="50800" lIns="50800" bIns="50800" rIns="50800"/>
            <a:lstStyle/>
            <a:p>
              <a:pPr algn="ctr">
                <a:lnSpc>
                  <a:spcPts val="2659"/>
                </a:lnSpc>
              </a:pPr>
            </a:p>
          </p:txBody>
        </p:sp>
      </p:grpSp>
      <p:sp>
        <p:nvSpPr>
          <p:cNvPr name="TextBox 37" id="37"/>
          <p:cNvSpPr txBox="true"/>
          <p:nvPr/>
        </p:nvSpPr>
        <p:spPr>
          <a:xfrm rot="0">
            <a:off x="10742077" y="2854288"/>
            <a:ext cx="6371696" cy="1407491"/>
          </a:xfrm>
          <a:prstGeom prst="rect">
            <a:avLst/>
          </a:prstGeom>
        </p:spPr>
        <p:txBody>
          <a:bodyPr anchor="t" rtlCol="false" tIns="0" lIns="0" bIns="0" rIns="0">
            <a:spAutoFit/>
          </a:bodyPr>
          <a:lstStyle/>
          <a:p>
            <a:pPr algn="l">
              <a:lnSpc>
                <a:spcPts val="3796"/>
              </a:lnSpc>
            </a:pPr>
            <a:r>
              <a:rPr lang="en-US" sz="2711">
                <a:solidFill>
                  <a:srgbClr val="000000"/>
                </a:solidFill>
                <a:latin typeface="Alatsi Bold"/>
              </a:rPr>
              <a:t>Uses a combination of cameras and sensors to identify and collect debris effectively</a:t>
            </a:r>
          </a:p>
        </p:txBody>
      </p:sp>
      <p:sp>
        <p:nvSpPr>
          <p:cNvPr name="TextBox 38" id="38"/>
          <p:cNvSpPr txBox="true"/>
          <p:nvPr/>
        </p:nvSpPr>
        <p:spPr>
          <a:xfrm rot="0">
            <a:off x="10739717" y="2251076"/>
            <a:ext cx="6060065" cy="594909"/>
          </a:xfrm>
          <a:prstGeom prst="rect">
            <a:avLst/>
          </a:prstGeom>
        </p:spPr>
        <p:txBody>
          <a:bodyPr anchor="t" rtlCol="false" tIns="0" lIns="0" bIns="0" rIns="0">
            <a:spAutoFit/>
          </a:bodyPr>
          <a:lstStyle/>
          <a:p>
            <a:pPr algn="l">
              <a:lnSpc>
                <a:spcPts val="4928"/>
              </a:lnSpc>
            </a:pPr>
            <a:r>
              <a:rPr lang="en-US" sz="3520">
                <a:solidFill>
                  <a:srgbClr val="000000"/>
                </a:solidFill>
                <a:latin typeface="Alatsi Bold"/>
              </a:rPr>
              <a:t>Waste Detection and Collection</a:t>
            </a:r>
          </a:p>
        </p:txBody>
      </p:sp>
      <p:grpSp>
        <p:nvGrpSpPr>
          <p:cNvPr name="Group 39" id="39"/>
          <p:cNvGrpSpPr/>
          <p:nvPr/>
        </p:nvGrpSpPr>
        <p:grpSpPr>
          <a:xfrm rot="0">
            <a:off x="10181723" y="2402883"/>
            <a:ext cx="357969" cy="357969"/>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41" id="4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42" id="42"/>
          <p:cNvGrpSpPr/>
          <p:nvPr/>
        </p:nvGrpSpPr>
        <p:grpSpPr>
          <a:xfrm rot="0">
            <a:off x="-665934" y="8916735"/>
            <a:ext cx="19619868" cy="1360170"/>
            <a:chOff x="0" y="0"/>
            <a:chExt cx="26159824" cy="1813560"/>
          </a:xfrm>
        </p:grpSpPr>
        <p:sp>
          <p:nvSpPr>
            <p:cNvPr name="TextBox 43" id="43"/>
            <p:cNvSpPr txBox="true"/>
            <p:nvPr/>
          </p:nvSpPr>
          <p:spPr>
            <a:xfrm rot="0">
              <a:off x="8535939" y="-57150"/>
              <a:ext cx="9176144" cy="1870710"/>
            </a:xfrm>
            <a:prstGeom prst="rect">
              <a:avLst/>
            </a:prstGeom>
          </p:spPr>
          <p:txBody>
            <a:bodyPr anchor="t" rtlCol="false" tIns="0" lIns="0" bIns="0" rIns="0">
              <a:spAutoFit/>
            </a:bodyPr>
            <a:lstStyle/>
            <a:p>
              <a:pPr algn="ctr">
                <a:lnSpc>
                  <a:spcPts val="3779"/>
                </a:lnSpc>
              </a:pPr>
              <a:r>
                <a:rPr lang="en-US" sz="2700">
                  <a:solidFill>
                    <a:srgbClr val="000000"/>
                  </a:solidFill>
                  <a:latin typeface="Alatsi Bold"/>
                </a:rPr>
                <a:t>Solar Powered Robot for Solid Waste Collection on Water Surfaces</a:t>
              </a:r>
            </a:p>
            <a:p>
              <a:pPr algn="ctr">
                <a:lnSpc>
                  <a:spcPts val="3779"/>
                </a:lnSpc>
              </a:pPr>
            </a:p>
          </p:txBody>
        </p:sp>
        <p:sp>
          <p:nvSpPr>
            <p:cNvPr name="AutoShape 44" id="44"/>
            <p:cNvSpPr/>
            <p:nvPr/>
          </p:nvSpPr>
          <p:spPr>
            <a:xfrm>
              <a:off x="204" y="687046"/>
              <a:ext cx="9473686" cy="25400"/>
            </a:xfrm>
            <a:prstGeom prst="line">
              <a:avLst/>
            </a:prstGeom>
            <a:ln cap="flat" w="152400">
              <a:solidFill>
                <a:srgbClr val="9FC3D0"/>
              </a:solidFill>
              <a:prstDash val="solid"/>
              <a:headEnd type="none" len="sm" w="sm"/>
              <a:tailEnd type="none" len="sm" w="sm"/>
            </a:ln>
          </p:spPr>
        </p:sp>
        <p:sp>
          <p:nvSpPr>
            <p:cNvPr name="AutoShape 45" id="45"/>
            <p:cNvSpPr/>
            <p:nvPr/>
          </p:nvSpPr>
          <p:spPr>
            <a:xfrm>
              <a:off x="16685934" y="674346"/>
              <a:ext cx="9473686" cy="25400"/>
            </a:xfrm>
            <a:prstGeom prst="line">
              <a:avLst/>
            </a:prstGeom>
            <a:ln cap="flat" w="152400">
              <a:solidFill>
                <a:srgbClr val="9FC3D0"/>
              </a:solidFill>
              <a:prstDash val="solid"/>
              <a:headEnd type="none" len="sm" w="sm"/>
              <a:tailEnd type="none" len="sm" w="sm"/>
            </a:ln>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1028700" y="388938"/>
            <a:ext cx="16230600"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Bold"/>
              </a:rPr>
              <a:t>BLOCK DIAGRAM</a:t>
            </a:r>
          </a:p>
        </p:txBody>
      </p:sp>
      <p:grpSp>
        <p:nvGrpSpPr>
          <p:cNvPr name="Group 3" id="3"/>
          <p:cNvGrpSpPr/>
          <p:nvPr/>
        </p:nvGrpSpPr>
        <p:grpSpPr>
          <a:xfrm rot="0">
            <a:off x="15859155" y="0"/>
            <a:ext cx="1562612" cy="1673225"/>
            <a:chOff x="0" y="0"/>
            <a:chExt cx="2083482" cy="2230967"/>
          </a:xfrm>
        </p:grpSpPr>
        <p:grpSp>
          <p:nvGrpSpPr>
            <p:cNvPr name="Group 4" id="4"/>
            <p:cNvGrpSpPr/>
            <p:nvPr/>
          </p:nvGrpSpPr>
          <p:grpSpPr>
            <a:xfrm rot="0">
              <a:off x="75599" y="0"/>
              <a:ext cx="1932284" cy="2230967"/>
              <a:chOff x="0" y="0"/>
              <a:chExt cx="703982" cy="812800"/>
            </a:xfrm>
          </p:grpSpPr>
          <p:sp>
            <p:nvSpPr>
              <p:cNvPr name="Freeform 5" id="5"/>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6" id="6"/>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a:solidFill>
                    <a:srgbClr val="000000"/>
                  </a:solidFill>
                  <a:latin typeface="Open Sans Bold"/>
                </a:rPr>
                <a:t>8</a:t>
              </a:r>
            </a:p>
          </p:txBody>
        </p:sp>
      </p:grpSp>
      <p:sp>
        <p:nvSpPr>
          <p:cNvPr name="Freeform 8" id="8"/>
          <p:cNvSpPr/>
          <p:nvPr/>
        </p:nvSpPr>
        <p:spPr>
          <a:xfrm flipH="false" flipV="false" rot="0">
            <a:off x="13341914" y="7247270"/>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117422" y="-210192"/>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5122549" y="1673225"/>
            <a:ext cx="8042901" cy="7585075"/>
          </a:xfrm>
          <a:custGeom>
            <a:avLst/>
            <a:gdLst/>
            <a:ahLst/>
            <a:cxnLst/>
            <a:rect r="r" b="b" t="t" l="l"/>
            <a:pathLst>
              <a:path h="7585075" w="8042901">
                <a:moveTo>
                  <a:pt x="0" y="0"/>
                </a:moveTo>
                <a:lnTo>
                  <a:pt x="8042902" y="0"/>
                </a:lnTo>
                <a:lnTo>
                  <a:pt x="8042902" y="7585075"/>
                </a:lnTo>
                <a:lnTo>
                  <a:pt x="0" y="7585075"/>
                </a:lnTo>
                <a:lnTo>
                  <a:pt x="0" y="0"/>
                </a:lnTo>
                <a:close/>
              </a:path>
            </a:pathLst>
          </a:custGeom>
          <a:blipFill>
            <a:blip r:embed="rId4"/>
            <a:stretch>
              <a:fillRect l="0" t="0" r="0" b="0"/>
            </a:stretch>
          </a:blipFill>
        </p:spPr>
      </p:sp>
      <p:grpSp>
        <p:nvGrpSpPr>
          <p:cNvPr name="Group 11" id="11"/>
          <p:cNvGrpSpPr/>
          <p:nvPr/>
        </p:nvGrpSpPr>
        <p:grpSpPr>
          <a:xfrm rot="0">
            <a:off x="-665934" y="9258300"/>
            <a:ext cx="19619868" cy="1360170"/>
            <a:chOff x="0" y="0"/>
            <a:chExt cx="26159824" cy="1813560"/>
          </a:xfrm>
        </p:grpSpPr>
        <p:sp>
          <p:nvSpPr>
            <p:cNvPr name="TextBox 12" id="12"/>
            <p:cNvSpPr txBox="true"/>
            <p:nvPr/>
          </p:nvSpPr>
          <p:spPr>
            <a:xfrm rot="0">
              <a:off x="8535939" y="-57150"/>
              <a:ext cx="9176144" cy="1870710"/>
            </a:xfrm>
            <a:prstGeom prst="rect">
              <a:avLst/>
            </a:prstGeom>
          </p:spPr>
          <p:txBody>
            <a:bodyPr anchor="t" rtlCol="false" tIns="0" lIns="0" bIns="0" rIns="0">
              <a:spAutoFit/>
            </a:bodyPr>
            <a:lstStyle/>
            <a:p>
              <a:pPr algn="ctr">
                <a:lnSpc>
                  <a:spcPts val="3779"/>
                </a:lnSpc>
              </a:pPr>
              <a:r>
                <a:rPr lang="en-US" sz="2700">
                  <a:solidFill>
                    <a:srgbClr val="000000"/>
                  </a:solidFill>
                  <a:latin typeface="Alatsi Bold"/>
                </a:rPr>
                <a:t>Solar Powered Robot for Solid Waste Collection on Water Surfaces</a:t>
              </a:r>
            </a:p>
            <a:p>
              <a:pPr algn="ctr">
                <a:lnSpc>
                  <a:spcPts val="3779"/>
                </a:lnSpc>
              </a:pPr>
            </a:p>
          </p:txBody>
        </p:sp>
        <p:sp>
          <p:nvSpPr>
            <p:cNvPr name="AutoShape 13" id="13"/>
            <p:cNvSpPr/>
            <p:nvPr/>
          </p:nvSpPr>
          <p:spPr>
            <a:xfrm>
              <a:off x="204" y="687046"/>
              <a:ext cx="9473686" cy="25400"/>
            </a:xfrm>
            <a:prstGeom prst="line">
              <a:avLst/>
            </a:prstGeom>
            <a:ln cap="flat" w="152400">
              <a:solidFill>
                <a:srgbClr val="9FC3D0"/>
              </a:solidFill>
              <a:prstDash val="solid"/>
              <a:headEnd type="none" len="sm" w="sm"/>
              <a:tailEnd type="none" len="sm" w="sm"/>
            </a:ln>
          </p:spPr>
        </p:sp>
        <p:sp>
          <p:nvSpPr>
            <p:cNvPr name="AutoShape 14" id="14"/>
            <p:cNvSpPr/>
            <p:nvPr/>
          </p:nvSpPr>
          <p:spPr>
            <a:xfrm>
              <a:off x="16685934" y="674346"/>
              <a:ext cx="9473686" cy="25400"/>
            </a:xfrm>
            <a:prstGeom prst="line">
              <a:avLst/>
            </a:prstGeom>
            <a:ln cap="flat" w="152400">
              <a:solidFill>
                <a:srgbClr val="9FC3D0"/>
              </a:solidFill>
              <a:prstDash val="solid"/>
              <a:headEnd type="none" len="sm" w="sm"/>
              <a:tailEnd type="none" len="sm" w="sm"/>
            </a:ln>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grpSp>
        <p:nvGrpSpPr>
          <p:cNvPr name="Group 2" id="2"/>
          <p:cNvGrpSpPr/>
          <p:nvPr/>
        </p:nvGrpSpPr>
        <p:grpSpPr>
          <a:xfrm rot="0">
            <a:off x="15859155" y="0"/>
            <a:ext cx="1562612" cy="1673225"/>
            <a:chOff x="0" y="0"/>
            <a:chExt cx="2083482" cy="2230967"/>
          </a:xfrm>
        </p:grpSpPr>
        <p:grpSp>
          <p:nvGrpSpPr>
            <p:cNvPr name="Group 3" id="3"/>
            <p:cNvGrpSpPr/>
            <p:nvPr/>
          </p:nvGrpSpPr>
          <p:grpSpPr>
            <a:xfrm rot="0">
              <a:off x="75599" y="0"/>
              <a:ext cx="1932284" cy="2230967"/>
              <a:chOff x="0" y="0"/>
              <a:chExt cx="703982" cy="812800"/>
            </a:xfrm>
          </p:grpSpPr>
          <p:sp>
            <p:nvSpPr>
              <p:cNvPr name="Freeform 4" id="4"/>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5" id="5"/>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a:solidFill>
                    <a:srgbClr val="000000"/>
                  </a:solidFill>
                  <a:latin typeface="Open Sans Bold"/>
                </a:rPr>
                <a:t>9</a:t>
              </a:r>
            </a:p>
          </p:txBody>
        </p:sp>
      </p:grpSp>
      <p:sp>
        <p:nvSpPr>
          <p:cNvPr name="Freeform 7" id="7"/>
          <p:cNvSpPr/>
          <p:nvPr/>
        </p:nvSpPr>
        <p:spPr>
          <a:xfrm flipH="false" flipV="false" rot="0">
            <a:off x="13601700" y="7212176"/>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3306306" y="-705829"/>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028700" y="1771955"/>
            <a:ext cx="7863797" cy="2079906"/>
            <a:chOff x="0" y="0"/>
            <a:chExt cx="10485063" cy="2773208"/>
          </a:xfrm>
        </p:grpSpPr>
        <p:grpSp>
          <p:nvGrpSpPr>
            <p:cNvPr name="Group 10" id="10"/>
            <p:cNvGrpSpPr/>
            <p:nvPr/>
          </p:nvGrpSpPr>
          <p:grpSpPr>
            <a:xfrm rot="0">
              <a:off x="185400" y="630008"/>
              <a:ext cx="10299663" cy="2143200"/>
              <a:chOff x="0" y="0"/>
              <a:chExt cx="2034501" cy="423348"/>
            </a:xfrm>
          </p:grpSpPr>
          <p:sp>
            <p:nvSpPr>
              <p:cNvPr name="Freeform 11" id="11"/>
              <p:cNvSpPr/>
              <p:nvPr/>
            </p:nvSpPr>
            <p:spPr>
              <a:xfrm flipH="false" flipV="false" rot="0">
                <a:off x="0" y="0"/>
                <a:ext cx="2034501" cy="423348"/>
              </a:xfrm>
              <a:custGeom>
                <a:avLst/>
                <a:gdLst/>
                <a:ahLst/>
                <a:cxnLst/>
                <a:rect r="r" b="b" t="t" l="l"/>
                <a:pathLst>
                  <a:path h="423348" w="2034501">
                    <a:moveTo>
                      <a:pt x="51113" y="0"/>
                    </a:moveTo>
                    <a:lnTo>
                      <a:pt x="1983388" y="0"/>
                    </a:lnTo>
                    <a:cubicBezTo>
                      <a:pt x="1996944" y="0"/>
                      <a:pt x="2009945" y="5385"/>
                      <a:pt x="2019531" y="14971"/>
                    </a:cubicBezTo>
                    <a:cubicBezTo>
                      <a:pt x="2029116" y="24556"/>
                      <a:pt x="2034501" y="37557"/>
                      <a:pt x="2034501" y="51113"/>
                    </a:cubicBezTo>
                    <a:lnTo>
                      <a:pt x="2034501" y="372235"/>
                    </a:lnTo>
                    <a:cubicBezTo>
                      <a:pt x="2034501" y="400464"/>
                      <a:pt x="2011617" y="423348"/>
                      <a:pt x="1983388" y="423348"/>
                    </a:cubicBezTo>
                    <a:lnTo>
                      <a:pt x="51113" y="423348"/>
                    </a:lnTo>
                    <a:cubicBezTo>
                      <a:pt x="37557" y="423348"/>
                      <a:pt x="24556" y="417963"/>
                      <a:pt x="14971" y="408377"/>
                    </a:cubicBezTo>
                    <a:cubicBezTo>
                      <a:pt x="5385" y="398792"/>
                      <a:pt x="0" y="385791"/>
                      <a:pt x="0" y="372235"/>
                    </a:cubicBezTo>
                    <a:lnTo>
                      <a:pt x="0" y="51113"/>
                    </a:lnTo>
                    <a:cubicBezTo>
                      <a:pt x="0" y="22884"/>
                      <a:pt x="22884" y="0"/>
                      <a:pt x="51113" y="0"/>
                    </a:cubicBezTo>
                    <a:close/>
                  </a:path>
                </a:pathLst>
              </a:custGeom>
              <a:solidFill>
                <a:srgbClr val="E9C7C6"/>
              </a:solidFill>
            </p:spPr>
          </p:sp>
          <p:sp>
            <p:nvSpPr>
              <p:cNvPr name="TextBox 12" id="12"/>
              <p:cNvSpPr txBox="true"/>
              <p:nvPr/>
            </p:nvSpPr>
            <p:spPr>
              <a:xfrm>
                <a:off x="0" y="-38100"/>
                <a:ext cx="2034501" cy="461448"/>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0" y="-76200"/>
              <a:ext cx="8786693" cy="869043"/>
            </a:xfrm>
            <a:prstGeom prst="rect">
              <a:avLst/>
            </a:prstGeom>
          </p:spPr>
          <p:txBody>
            <a:bodyPr anchor="t" rtlCol="false" tIns="0" lIns="0" bIns="0" rIns="0">
              <a:spAutoFit/>
            </a:bodyPr>
            <a:lstStyle/>
            <a:p>
              <a:pPr algn="l">
                <a:lnSpc>
                  <a:spcPts val="5487"/>
                </a:lnSpc>
              </a:pPr>
              <a:r>
                <a:rPr lang="en-US" sz="3919">
                  <a:solidFill>
                    <a:srgbClr val="000000"/>
                  </a:solidFill>
                  <a:latin typeface="Alatsi Bold"/>
                </a:rPr>
                <a:t>Solar Panel</a:t>
              </a:r>
            </a:p>
          </p:txBody>
        </p:sp>
        <p:sp>
          <p:nvSpPr>
            <p:cNvPr name="TextBox 14" id="14"/>
            <p:cNvSpPr txBox="true"/>
            <p:nvPr/>
          </p:nvSpPr>
          <p:spPr>
            <a:xfrm rot="0">
              <a:off x="713689" y="910318"/>
              <a:ext cx="9771374" cy="1715721"/>
            </a:xfrm>
            <a:prstGeom prst="rect">
              <a:avLst/>
            </a:prstGeom>
          </p:spPr>
          <p:txBody>
            <a:bodyPr anchor="t" rtlCol="false" tIns="0" lIns="0" bIns="0" rIns="0">
              <a:spAutoFit/>
            </a:bodyPr>
            <a:lstStyle/>
            <a:p>
              <a:pPr algn="l">
                <a:lnSpc>
                  <a:spcPts val="3493"/>
                </a:lnSpc>
              </a:pPr>
              <a:r>
                <a:rPr lang="en-US" sz="2495">
                  <a:solidFill>
                    <a:srgbClr val="000000"/>
                  </a:solidFill>
                  <a:latin typeface="Alatsi Bold"/>
                </a:rPr>
                <a:t>The solar panel serves as the primary power source for the robot, converting sunlight into electrical energy</a:t>
              </a:r>
            </a:p>
          </p:txBody>
        </p:sp>
      </p:grpSp>
      <p:grpSp>
        <p:nvGrpSpPr>
          <p:cNvPr name="Group 15" id="15"/>
          <p:cNvGrpSpPr/>
          <p:nvPr/>
        </p:nvGrpSpPr>
        <p:grpSpPr>
          <a:xfrm rot="0">
            <a:off x="9804055" y="1771955"/>
            <a:ext cx="7863797" cy="2079906"/>
            <a:chOff x="0" y="0"/>
            <a:chExt cx="10485063" cy="2773208"/>
          </a:xfrm>
        </p:grpSpPr>
        <p:grpSp>
          <p:nvGrpSpPr>
            <p:cNvPr name="Group 16" id="16"/>
            <p:cNvGrpSpPr/>
            <p:nvPr/>
          </p:nvGrpSpPr>
          <p:grpSpPr>
            <a:xfrm rot="0">
              <a:off x="185400" y="630008"/>
              <a:ext cx="10299663" cy="2143200"/>
              <a:chOff x="0" y="0"/>
              <a:chExt cx="2034501" cy="423348"/>
            </a:xfrm>
          </p:grpSpPr>
          <p:sp>
            <p:nvSpPr>
              <p:cNvPr name="Freeform 17" id="17"/>
              <p:cNvSpPr/>
              <p:nvPr/>
            </p:nvSpPr>
            <p:spPr>
              <a:xfrm flipH="false" flipV="false" rot="0">
                <a:off x="0" y="0"/>
                <a:ext cx="2034501" cy="423348"/>
              </a:xfrm>
              <a:custGeom>
                <a:avLst/>
                <a:gdLst/>
                <a:ahLst/>
                <a:cxnLst/>
                <a:rect r="r" b="b" t="t" l="l"/>
                <a:pathLst>
                  <a:path h="423348" w="2034501">
                    <a:moveTo>
                      <a:pt x="51113" y="0"/>
                    </a:moveTo>
                    <a:lnTo>
                      <a:pt x="1983388" y="0"/>
                    </a:lnTo>
                    <a:cubicBezTo>
                      <a:pt x="1996944" y="0"/>
                      <a:pt x="2009945" y="5385"/>
                      <a:pt x="2019531" y="14971"/>
                    </a:cubicBezTo>
                    <a:cubicBezTo>
                      <a:pt x="2029116" y="24556"/>
                      <a:pt x="2034501" y="37557"/>
                      <a:pt x="2034501" y="51113"/>
                    </a:cubicBezTo>
                    <a:lnTo>
                      <a:pt x="2034501" y="372235"/>
                    </a:lnTo>
                    <a:cubicBezTo>
                      <a:pt x="2034501" y="400464"/>
                      <a:pt x="2011617" y="423348"/>
                      <a:pt x="1983388" y="423348"/>
                    </a:cubicBezTo>
                    <a:lnTo>
                      <a:pt x="51113" y="423348"/>
                    </a:lnTo>
                    <a:cubicBezTo>
                      <a:pt x="37557" y="423348"/>
                      <a:pt x="24556" y="417963"/>
                      <a:pt x="14971" y="408377"/>
                    </a:cubicBezTo>
                    <a:cubicBezTo>
                      <a:pt x="5385" y="398792"/>
                      <a:pt x="0" y="385791"/>
                      <a:pt x="0" y="372235"/>
                    </a:cubicBezTo>
                    <a:lnTo>
                      <a:pt x="0" y="51113"/>
                    </a:lnTo>
                    <a:cubicBezTo>
                      <a:pt x="0" y="22884"/>
                      <a:pt x="22884" y="0"/>
                      <a:pt x="51113" y="0"/>
                    </a:cubicBezTo>
                    <a:close/>
                  </a:path>
                </a:pathLst>
              </a:custGeom>
              <a:solidFill>
                <a:srgbClr val="E9C7C6"/>
              </a:solidFill>
            </p:spPr>
          </p:sp>
          <p:sp>
            <p:nvSpPr>
              <p:cNvPr name="TextBox 18" id="18"/>
              <p:cNvSpPr txBox="true"/>
              <p:nvPr/>
            </p:nvSpPr>
            <p:spPr>
              <a:xfrm>
                <a:off x="0" y="-38100"/>
                <a:ext cx="2034501" cy="461448"/>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0" y="-76200"/>
              <a:ext cx="8786693" cy="869043"/>
            </a:xfrm>
            <a:prstGeom prst="rect">
              <a:avLst/>
            </a:prstGeom>
          </p:spPr>
          <p:txBody>
            <a:bodyPr anchor="t" rtlCol="false" tIns="0" lIns="0" bIns="0" rIns="0">
              <a:spAutoFit/>
            </a:bodyPr>
            <a:lstStyle/>
            <a:p>
              <a:pPr algn="l">
                <a:lnSpc>
                  <a:spcPts val="5487"/>
                </a:lnSpc>
              </a:pPr>
              <a:r>
                <a:rPr lang="en-US" sz="3919">
                  <a:solidFill>
                    <a:srgbClr val="000000"/>
                  </a:solidFill>
                  <a:latin typeface="Alatsi Bold"/>
                </a:rPr>
                <a:t>Raspberry Pi</a:t>
              </a:r>
            </a:p>
          </p:txBody>
        </p:sp>
        <p:sp>
          <p:nvSpPr>
            <p:cNvPr name="TextBox 20" id="20"/>
            <p:cNvSpPr txBox="true"/>
            <p:nvPr/>
          </p:nvSpPr>
          <p:spPr>
            <a:xfrm rot="0">
              <a:off x="449545" y="884918"/>
              <a:ext cx="9771374" cy="1715721"/>
            </a:xfrm>
            <a:prstGeom prst="rect">
              <a:avLst/>
            </a:prstGeom>
          </p:spPr>
          <p:txBody>
            <a:bodyPr anchor="t" rtlCol="false" tIns="0" lIns="0" bIns="0" rIns="0">
              <a:spAutoFit/>
            </a:bodyPr>
            <a:lstStyle/>
            <a:p>
              <a:pPr algn="l">
                <a:lnSpc>
                  <a:spcPts val="3493"/>
                </a:lnSpc>
              </a:pPr>
              <a:r>
                <a:rPr lang="en-US" sz="2495">
                  <a:solidFill>
                    <a:srgbClr val="000000"/>
                  </a:solidFill>
                  <a:latin typeface="Alatsi Bold"/>
                </a:rPr>
                <a:t>Raspberry Pi is a credit-card-sized single-board computer that provides computing capabilities to the robot</a:t>
              </a:r>
            </a:p>
          </p:txBody>
        </p:sp>
      </p:grpSp>
      <p:grpSp>
        <p:nvGrpSpPr>
          <p:cNvPr name="Group 21" id="21"/>
          <p:cNvGrpSpPr/>
          <p:nvPr/>
        </p:nvGrpSpPr>
        <p:grpSpPr>
          <a:xfrm rot="0">
            <a:off x="9804055" y="4146237"/>
            <a:ext cx="7863797" cy="2176932"/>
            <a:chOff x="0" y="0"/>
            <a:chExt cx="10485063" cy="2902575"/>
          </a:xfrm>
        </p:grpSpPr>
        <p:grpSp>
          <p:nvGrpSpPr>
            <p:cNvPr name="Group 22" id="22"/>
            <p:cNvGrpSpPr/>
            <p:nvPr/>
          </p:nvGrpSpPr>
          <p:grpSpPr>
            <a:xfrm rot="0">
              <a:off x="185400" y="630008"/>
              <a:ext cx="10299663" cy="2272567"/>
              <a:chOff x="0" y="0"/>
              <a:chExt cx="2034501" cy="448902"/>
            </a:xfrm>
          </p:grpSpPr>
          <p:sp>
            <p:nvSpPr>
              <p:cNvPr name="Freeform 23" id="23"/>
              <p:cNvSpPr/>
              <p:nvPr/>
            </p:nvSpPr>
            <p:spPr>
              <a:xfrm flipH="false" flipV="false" rot="0">
                <a:off x="0" y="0"/>
                <a:ext cx="2034501" cy="448902"/>
              </a:xfrm>
              <a:custGeom>
                <a:avLst/>
                <a:gdLst/>
                <a:ahLst/>
                <a:cxnLst/>
                <a:rect r="r" b="b" t="t" l="l"/>
                <a:pathLst>
                  <a:path h="448902" w="2034501">
                    <a:moveTo>
                      <a:pt x="51113" y="0"/>
                    </a:moveTo>
                    <a:lnTo>
                      <a:pt x="1983388" y="0"/>
                    </a:lnTo>
                    <a:cubicBezTo>
                      <a:pt x="1996944" y="0"/>
                      <a:pt x="2009945" y="5385"/>
                      <a:pt x="2019531" y="14971"/>
                    </a:cubicBezTo>
                    <a:cubicBezTo>
                      <a:pt x="2029116" y="24556"/>
                      <a:pt x="2034501" y="37557"/>
                      <a:pt x="2034501" y="51113"/>
                    </a:cubicBezTo>
                    <a:lnTo>
                      <a:pt x="2034501" y="397789"/>
                    </a:lnTo>
                    <a:cubicBezTo>
                      <a:pt x="2034501" y="426018"/>
                      <a:pt x="2011617" y="448902"/>
                      <a:pt x="1983388" y="448902"/>
                    </a:cubicBezTo>
                    <a:lnTo>
                      <a:pt x="51113" y="448902"/>
                    </a:lnTo>
                    <a:cubicBezTo>
                      <a:pt x="37557" y="448902"/>
                      <a:pt x="24556" y="443517"/>
                      <a:pt x="14971" y="433931"/>
                    </a:cubicBezTo>
                    <a:cubicBezTo>
                      <a:pt x="5385" y="424346"/>
                      <a:pt x="0" y="411345"/>
                      <a:pt x="0" y="397789"/>
                    </a:cubicBezTo>
                    <a:lnTo>
                      <a:pt x="0" y="51113"/>
                    </a:lnTo>
                    <a:cubicBezTo>
                      <a:pt x="0" y="22884"/>
                      <a:pt x="22884" y="0"/>
                      <a:pt x="51113" y="0"/>
                    </a:cubicBezTo>
                    <a:close/>
                  </a:path>
                </a:pathLst>
              </a:custGeom>
              <a:solidFill>
                <a:srgbClr val="E9C7C6"/>
              </a:solidFill>
            </p:spPr>
          </p:sp>
          <p:sp>
            <p:nvSpPr>
              <p:cNvPr name="TextBox 24" id="24"/>
              <p:cNvSpPr txBox="true"/>
              <p:nvPr/>
            </p:nvSpPr>
            <p:spPr>
              <a:xfrm>
                <a:off x="0" y="-38100"/>
                <a:ext cx="2034501" cy="487002"/>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0" y="-76200"/>
              <a:ext cx="8786693" cy="869043"/>
            </a:xfrm>
            <a:prstGeom prst="rect">
              <a:avLst/>
            </a:prstGeom>
          </p:spPr>
          <p:txBody>
            <a:bodyPr anchor="t" rtlCol="false" tIns="0" lIns="0" bIns="0" rIns="0">
              <a:spAutoFit/>
            </a:bodyPr>
            <a:lstStyle/>
            <a:p>
              <a:pPr algn="l">
                <a:lnSpc>
                  <a:spcPts val="5487"/>
                </a:lnSpc>
              </a:pPr>
              <a:r>
                <a:rPr lang="en-US" sz="3919">
                  <a:solidFill>
                    <a:srgbClr val="000000"/>
                  </a:solidFill>
                  <a:latin typeface="Alatsi Bold"/>
                </a:rPr>
                <a:t>IR Sensor</a:t>
              </a:r>
            </a:p>
          </p:txBody>
        </p:sp>
        <p:sp>
          <p:nvSpPr>
            <p:cNvPr name="TextBox 26" id="26"/>
            <p:cNvSpPr txBox="true"/>
            <p:nvPr/>
          </p:nvSpPr>
          <p:spPr>
            <a:xfrm rot="0">
              <a:off x="713689" y="1178980"/>
              <a:ext cx="9771374" cy="1131521"/>
            </a:xfrm>
            <a:prstGeom prst="rect">
              <a:avLst/>
            </a:prstGeom>
          </p:spPr>
          <p:txBody>
            <a:bodyPr anchor="t" rtlCol="false" tIns="0" lIns="0" bIns="0" rIns="0">
              <a:spAutoFit/>
            </a:bodyPr>
            <a:lstStyle/>
            <a:p>
              <a:pPr algn="l">
                <a:lnSpc>
                  <a:spcPts val="3493"/>
                </a:lnSpc>
              </a:pPr>
              <a:r>
                <a:rPr lang="en-US" sz="2495">
                  <a:solidFill>
                    <a:srgbClr val="000000"/>
                  </a:solidFill>
                  <a:latin typeface="Alatsi Bold"/>
                </a:rPr>
                <a:t>IR sensor detects infrared radiation emitted or reflected by objects in its field of view. </a:t>
              </a:r>
            </a:p>
          </p:txBody>
        </p:sp>
      </p:grpSp>
      <p:grpSp>
        <p:nvGrpSpPr>
          <p:cNvPr name="Group 27" id="27"/>
          <p:cNvGrpSpPr/>
          <p:nvPr/>
        </p:nvGrpSpPr>
        <p:grpSpPr>
          <a:xfrm rot="0">
            <a:off x="1028700" y="4113904"/>
            <a:ext cx="7863797" cy="2241597"/>
            <a:chOff x="0" y="0"/>
            <a:chExt cx="10485063" cy="2988797"/>
          </a:xfrm>
        </p:grpSpPr>
        <p:grpSp>
          <p:nvGrpSpPr>
            <p:cNvPr name="Group 28" id="28"/>
            <p:cNvGrpSpPr/>
            <p:nvPr/>
          </p:nvGrpSpPr>
          <p:grpSpPr>
            <a:xfrm rot="0">
              <a:off x="185400" y="630008"/>
              <a:ext cx="10299663" cy="2358788"/>
              <a:chOff x="0" y="0"/>
              <a:chExt cx="2034501" cy="465934"/>
            </a:xfrm>
          </p:grpSpPr>
          <p:sp>
            <p:nvSpPr>
              <p:cNvPr name="Freeform 29" id="29"/>
              <p:cNvSpPr/>
              <p:nvPr/>
            </p:nvSpPr>
            <p:spPr>
              <a:xfrm flipH="false" flipV="false" rot="0">
                <a:off x="0" y="0"/>
                <a:ext cx="2034501" cy="465934"/>
              </a:xfrm>
              <a:custGeom>
                <a:avLst/>
                <a:gdLst/>
                <a:ahLst/>
                <a:cxnLst/>
                <a:rect r="r" b="b" t="t" l="l"/>
                <a:pathLst>
                  <a:path h="465934" w="2034501">
                    <a:moveTo>
                      <a:pt x="51113" y="0"/>
                    </a:moveTo>
                    <a:lnTo>
                      <a:pt x="1983388" y="0"/>
                    </a:lnTo>
                    <a:cubicBezTo>
                      <a:pt x="1996944" y="0"/>
                      <a:pt x="2009945" y="5385"/>
                      <a:pt x="2019531" y="14971"/>
                    </a:cubicBezTo>
                    <a:cubicBezTo>
                      <a:pt x="2029116" y="24556"/>
                      <a:pt x="2034501" y="37557"/>
                      <a:pt x="2034501" y="51113"/>
                    </a:cubicBezTo>
                    <a:lnTo>
                      <a:pt x="2034501" y="414820"/>
                    </a:lnTo>
                    <a:cubicBezTo>
                      <a:pt x="2034501" y="443049"/>
                      <a:pt x="2011617" y="465934"/>
                      <a:pt x="1983388" y="465934"/>
                    </a:cubicBezTo>
                    <a:lnTo>
                      <a:pt x="51113" y="465934"/>
                    </a:lnTo>
                    <a:cubicBezTo>
                      <a:pt x="37557" y="465934"/>
                      <a:pt x="24556" y="460548"/>
                      <a:pt x="14971" y="450963"/>
                    </a:cubicBezTo>
                    <a:cubicBezTo>
                      <a:pt x="5385" y="441377"/>
                      <a:pt x="0" y="428376"/>
                      <a:pt x="0" y="414820"/>
                    </a:cubicBezTo>
                    <a:lnTo>
                      <a:pt x="0" y="51113"/>
                    </a:lnTo>
                    <a:cubicBezTo>
                      <a:pt x="0" y="22884"/>
                      <a:pt x="22884" y="0"/>
                      <a:pt x="51113" y="0"/>
                    </a:cubicBezTo>
                    <a:close/>
                  </a:path>
                </a:pathLst>
              </a:custGeom>
              <a:solidFill>
                <a:srgbClr val="E9C7C6"/>
              </a:solidFill>
            </p:spPr>
          </p:sp>
          <p:sp>
            <p:nvSpPr>
              <p:cNvPr name="TextBox 30" id="30"/>
              <p:cNvSpPr txBox="true"/>
              <p:nvPr/>
            </p:nvSpPr>
            <p:spPr>
              <a:xfrm>
                <a:off x="0" y="-38100"/>
                <a:ext cx="2034501" cy="504034"/>
              </a:xfrm>
              <a:prstGeom prst="rect">
                <a:avLst/>
              </a:prstGeom>
            </p:spPr>
            <p:txBody>
              <a:bodyPr anchor="ctr" rtlCol="false" tIns="50800" lIns="50800" bIns="50800" rIns="50800"/>
              <a:lstStyle/>
              <a:p>
                <a:pPr algn="ctr">
                  <a:lnSpc>
                    <a:spcPts val="2659"/>
                  </a:lnSpc>
                </a:pPr>
              </a:p>
            </p:txBody>
          </p:sp>
        </p:grpSp>
        <p:sp>
          <p:nvSpPr>
            <p:cNvPr name="TextBox 31" id="31"/>
            <p:cNvSpPr txBox="true"/>
            <p:nvPr/>
          </p:nvSpPr>
          <p:spPr>
            <a:xfrm rot="0">
              <a:off x="0" y="-76200"/>
              <a:ext cx="3725863" cy="869043"/>
            </a:xfrm>
            <a:prstGeom prst="rect">
              <a:avLst/>
            </a:prstGeom>
          </p:spPr>
          <p:txBody>
            <a:bodyPr anchor="t" rtlCol="false" tIns="0" lIns="0" bIns="0" rIns="0">
              <a:spAutoFit/>
            </a:bodyPr>
            <a:lstStyle/>
            <a:p>
              <a:pPr algn="l">
                <a:lnSpc>
                  <a:spcPts val="5487"/>
                </a:lnSpc>
              </a:pPr>
              <a:r>
                <a:rPr lang="en-US" sz="3919">
                  <a:solidFill>
                    <a:srgbClr val="000000"/>
                  </a:solidFill>
                  <a:latin typeface="Alatsi Bold"/>
                </a:rPr>
                <a:t>Arduino Uno</a:t>
              </a:r>
            </a:p>
          </p:txBody>
        </p:sp>
        <p:sp>
          <p:nvSpPr>
            <p:cNvPr name="TextBox 32" id="32"/>
            <p:cNvSpPr txBox="true"/>
            <p:nvPr/>
          </p:nvSpPr>
          <p:spPr>
            <a:xfrm rot="0">
              <a:off x="449545" y="875393"/>
              <a:ext cx="10035519" cy="1833875"/>
            </a:xfrm>
            <a:prstGeom prst="rect">
              <a:avLst/>
            </a:prstGeom>
          </p:spPr>
          <p:txBody>
            <a:bodyPr anchor="t" rtlCol="false" tIns="0" lIns="0" bIns="0" rIns="0">
              <a:spAutoFit/>
            </a:bodyPr>
            <a:lstStyle/>
            <a:p>
              <a:pPr algn="l">
                <a:lnSpc>
                  <a:spcPts val="3727"/>
                </a:lnSpc>
              </a:pPr>
              <a:r>
                <a:rPr lang="en-US" sz="2662">
                  <a:solidFill>
                    <a:srgbClr val="000000"/>
                  </a:solidFill>
                  <a:latin typeface="Alatsi Bold"/>
                </a:rPr>
                <a:t>Arduino Uno is a microcontroller board based on the ATmega328P chip, providing the robot with real-time control over its sensors and actuators</a:t>
              </a:r>
            </a:p>
          </p:txBody>
        </p:sp>
      </p:grpSp>
      <p:grpSp>
        <p:nvGrpSpPr>
          <p:cNvPr name="Group 33" id="33"/>
          <p:cNvGrpSpPr/>
          <p:nvPr/>
        </p:nvGrpSpPr>
        <p:grpSpPr>
          <a:xfrm rot="0">
            <a:off x="-665934" y="9125841"/>
            <a:ext cx="19619868" cy="1360170"/>
            <a:chOff x="0" y="0"/>
            <a:chExt cx="26159824" cy="1813560"/>
          </a:xfrm>
        </p:grpSpPr>
        <p:sp>
          <p:nvSpPr>
            <p:cNvPr name="TextBox 34" id="34"/>
            <p:cNvSpPr txBox="true"/>
            <p:nvPr/>
          </p:nvSpPr>
          <p:spPr>
            <a:xfrm rot="0">
              <a:off x="8535939" y="-57150"/>
              <a:ext cx="9176144" cy="1870710"/>
            </a:xfrm>
            <a:prstGeom prst="rect">
              <a:avLst/>
            </a:prstGeom>
          </p:spPr>
          <p:txBody>
            <a:bodyPr anchor="t" rtlCol="false" tIns="0" lIns="0" bIns="0" rIns="0">
              <a:spAutoFit/>
            </a:bodyPr>
            <a:lstStyle/>
            <a:p>
              <a:pPr algn="ctr">
                <a:lnSpc>
                  <a:spcPts val="3779"/>
                </a:lnSpc>
              </a:pPr>
              <a:r>
                <a:rPr lang="en-US" sz="2700">
                  <a:solidFill>
                    <a:srgbClr val="000000"/>
                  </a:solidFill>
                  <a:latin typeface="Alatsi Bold"/>
                </a:rPr>
                <a:t>Solar Powered Robot for Solid Waste Collection on Water Surfaces</a:t>
              </a:r>
            </a:p>
            <a:p>
              <a:pPr algn="ctr">
                <a:lnSpc>
                  <a:spcPts val="3779"/>
                </a:lnSpc>
              </a:pPr>
            </a:p>
          </p:txBody>
        </p:sp>
        <p:sp>
          <p:nvSpPr>
            <p:cNvPr name="AutoShape 35" id="35"/>
            <p:cNvSpPr/>
            <p:nvPr/>
          </p:nvSpPr>
          <p:spPr>
            <a:xfrm>
              <a:off x="204" y="687046"/>
              <a:ext cx="9473686" cy="25400"/>
            </a:xfrm>
            <a:prstGeom prst="line">
              <a:avLst/>
            </a:prstGeom>
            <a:ln cap="flat" w="152400">
              <a:solidFill>
                <a:srgbClr val="9FC3D0"/>
              </a:solidFill>
              <a:prstDash val="solid"/>
              <a:headEnd type="none" len="sm" w="sm"/>
              <a:tailEnd type="none" len="sm" w="sm"/>
            </a:ln>
          </p:spPr>
        </p:sp>
        <p:sp>
          <p:nvSpPr>
            <p:cNvPr name="AutoShape 36" id="36"/>
            <p:cNvSpPr/>
            <p:nvPr/>
          </p:nvSpPr>
          <p:spPr>
            <a:xfrm>
              <a:off x="16685934" y="674346"/>
              <a:ext cx="9473686" cy="25400"/>
            </a:xfrm>
            <a:prstGeom prst="line">
              <a:avLst/>
            </a:prstGeom>
            <a:ln cap="flat" w="152400">
              <a:solidFill>
                <a:srgbClr val="9FC3D0"/>
              </a:solidFill>
              <a:prstDash val="solid"/>
              <a:headEnd type="none" len="sm" w="sm"/>
              <a:tailEnd type="none" len="sm" w="sm"/>
            </a:ln>
          </p:spPr>
        </p:sp>
      </p:grpSp>
      <p:sp>
        <p:nvSpPr>
          <p:cNvPr name="TextBox 37" id="37"/>
          <p:cNvSpPr txBox="true"/>
          <p:nvPr/>
        </p:nvSpPr>
        <p:spPr>
          <a:xfrm rot="0">
            <a:off x="1028700" y="320979"/>
            <a:ext cx="16230600" cy="1377947"/>
          </a:xfrm>
          <a:prstGeom prst="rect">
            <a:avLst/>
          </a:prstGeom>
        </p:spPr>
        <p:txBody>
          <a:bodyPr anchor="t" rtlCol="false" tIns="0" lIns="0" bIns="0" rIns="0">
            <a:spAutoFit/>
          </a:bodyPr>
          <a:lstStyle/>
          <a:p>
            <a:pPr algn="ctr">
              <a:lnSpc>
                <a:spcPts val="11200"/>
              </a:lnSpc>
            </a:pPr>
            <a:r>
              <a:rPr lang="en-US" sz="8000">
                <a:solidFill>
                  <a:srgbClr val="000000"/>
                </a:solidFill>
                <a:latin typeface="Alatsi Bold"/>
              </a:rPr>
              <a:t>HARDWARE DESCRIPTION</a:t>
            </a:r>
          </a:p>
        </p:txBody>
      </p:sp>
      <p:grpSp>
        <p:nvGrpSpPr>
          <p:cNvPr name="Group 38" id="38"/>
          <p:cNvGrpSpPr/>
          <p:nvPr/>
        </p:nvGrpSpPr>
        <p:grpSpPr>
          <a:xfrm rot="0">
            <a:off x="1167750" y="7090050"/>
            <a:ext cx="7724747" cy="1769091"/>
            <a:chOff x="0" y="0"/>
            <a:chExt cx="2034501" cy="465934"/>
          </a:xfrm>
        </p:grpSpPr>
        <p:sp>
          <p:nvSpPr>
            <p:cNvPr name="Freeform 39" id="39"/>
            <p:cNvSpPr/>
            <p:nvPr/>
          </p:nvSpPr>
          <p:spPr>
            <a:xfrm flipH="false" flipV="false" rot="0">
              <a:off x="0" y="0"/>
              <a:ext cx="2034501" cy="465934"/>
            </a:xfrm>
            <a:custGeom>
              <a:avLst/>
              <a:gdLst/>
              <a:ahLst/>
              <a:cxnLst/>
              <a:rect r="r" b="b" t="t" l="l"/>
              <a:pathLst>
                <a:path h="465934" w="2034501">
                  <a:moveTo>
                    <a:pt x="51113" y="0"/>
                  </a:moveTo>
                  <a:lnTo>
                    <a:pt x="1983388" y="0"/>
                  </a:lnTo>
                  <a:cubicBezTo>
                    <a:pt x="1996944" y="0"/>
                    <a:pt x="2009945" y="5385"/>
                    <a:pt x="2019531" y="14971"/>
                  </a:cubicBezTo>
                  <a:cubicBezTo>
                    <a:pt x="2029116" y="24556"/>
                    <a:pt x="2034501" y="37557"/>
                    <a:pt x="2034501" y="51113"/>
                  </a:cubicBezTo>
                  <a:lnTo>
                    <a:pt x="2034501" y="414820"/>
                  </a:lnTo>
                  <a:cubicBezTo>
                    <a:pt x="2034501" y="443049"/>
                    <a:pt x="2011617" y="465934"/>
                    <a:pt x="1983388" y="465934"/>
                  </a:cubicBezTo>
                  <a:lnTo>
                    <a:pt x="51113" y="465934"/>
                  </a:lnTo>
                  <a:cubicBezTo>
                    <a:pt x="37557" y="465934"/>
                    <a:pt x="24556" y="460548"/>
                    <a:pt x="14971" y="450963"/>
                  </a:cubicBezTo>
                  <a:cubicBezTo>
                    <a:pt x="5385" y="441377"/>
                    <a:pt x="0" y="428376"/>
                    <a:pt x="0" y="414820"/>
                  </a:cubicBezTo>
                  <a:lnTo>
                    <a:pt x="0" y="51113"/>
                  </a:lnTo>
                  <a:cubicBezTo>
                    <a:pt x="0" y="22884"/>
                    <a:pt x="22884" y="0"/>
                    <a:pt x="51113" y="0"/>
                  </a:cubicBezTo>
                  <a:close/>
                </a:path>
              </a:pathLst>
            </a:custGeom>
            <a:solidFill>
              <a:srgbClr val="E9C7C6"/>
            </a:solidFill>
          </p:spPr>
        </p:sp>
        <p:sp>
          <p:nvSpPr>
            <p:cNvPr name="TextBox 40" id="40"/>
            <p:cNvSpPr txBox="true"/>
            <p:nvPr/>
          </p:nvSpPr>
          <p:spPr>
            <a:xfrm>
              <a:off x="0" y="-38100"/>
              <a:ext cx="2034501" cy="504034"/>
            </a:xfrm>
            <a:prstGeom prst="rect">
              <a:avLst/>
            </a:prstGeom>
          </p:spPr>
          <p:txBody>
            <a:bodyPr anchor="ctr" rtlCol="false" tIns="50800" lIns="50800" bIns="50800" rIns="50800"/>
            <a:lstStyle/>
            <a:p>
              <a:pPr algn="ctr">
                <a:lnSpc>
                  <a:spcPts val="2659"/>
                </a:lnSpc>
              </a:pPr>
            </a:p>
          </p:txBody>
        </p:sp>
      </p:grpSp>
      <p:sp>
        <p:nvSpPr>
          <p:cNvPr name="TextBox 41" id="41"/>
          <p:cNvSpPr txBox="true"/>
          <p:nvPr/>
        </p:nvSpPr>
        <p:spPr>
          <a:xfrm rot="0">
            <a:off x="1028700" y="6541344"/>
            <a:ext cx="3931899" cy="670833"/>
          </a:xfrm>
          <a:prstGeom prst="rect">
            <a:avLst/>
          </a:prstGeom>
        </p:spPr>
        <p:txBody>
          <a:bodyPr anchor="t" rtlCol="false" tIns="0" lIns="0" bIns="0" rIns="0">
            <a:spAutoFit/>
          </a:bodyPr>
          <a:lstStyle/>
          <a:p>
            <a:pPr algn="l">
              <a:lnSpc>
                <a:spcPts val="5487"/>
              </a:lnSpc>
            </a:pPr>
            <a:r>
              <a:rPr lang="en-US" sz="3919">
                <a:solidFill>
                  <a:srgbClr val="000000"/>
                </a:solidFill>
                <a:latin typeface="Alatsi Bold"/>
              </a:rPr>
              <a:t>Bluetooth Sensor</a:t>
            </a:r>
          </a:p>
        </p:txBody>
      </p:sp>
      <p:sp>
        <p:nvSpPr>
          <p:cNvPr name="TextBox 42" id="42"/>
          <p:cNvSpPr txBox="true"/>
          <p:nvPr/>
        </p:nvSpPr>
        <p:spPr>
          <a:xfrm rot="0">
            <a:off x="1365858" y="7259801"/>
            <a:ext cx="7526639" cy="1389694"/>
          </a:xfrm>
          <a:prstGeom prst="rect">
            <a:avLst/>
          </a:prstGeom>
        </p:spPr>
        <p:txBody>
          <a:bodyPr anchor="t" rtlCol="false" tIns="0" lIns="0" bIns="0" rIns="0">
            <a:spAutoFit/>
          </a:bodyPr>
          <a:lstStyle/>
          <a:p>
            <a:pPr algn="l">
              <a:lnSpc>
                <a:spcPts val="3727"/>
              </a:lnSpc>
            </a:pPr>
            <a:r>
              <a:rPr lang="en-US" sz="2662">
                <a:solidFill>
                  <a:srgbClr val="000000"/>
                </a:solidFill>
                <a:latin typeface="Alatsi Bold"/>
              </a:rPr>
              <a:t>Bluetooth sensor enables wireless communication between the robot and external devices such as smartphones or tablets</a:t>
            </a:r>
          </a:p>
        </p:txBody>
      </p:sp>
      <p:grpSp>
        <p:nvGrpSpPr>
          <p:cNvPr name="Group 43" id="43"/>
          <p:cNvGrpSpPr/>
          <p:nvPr/>
        </p:nvGrpSpPr>
        <p:grpSpPr>
          <a:xfrm rot="0">
            <a:off x="9808851" y="7090050"/>
            <a:ext cx="7724747" cy="1769091"/>
            <a:chOff x="0" y="0"/>
            <a:chExt cx="2034501" cy="465934"/>
          </a:xfrm>
        </p:grpSpPr>
        <p:sp>
          <p:nvSpPr>
            <p:cNvPr name="Freeform 44" id="44"/>
            <p:cNvSpPr/>
            <p:nvPr/>
          </p:nvSpPr>
          <p:spPr>
            <a:xfrm flipH="false" flipV="false" rot="0">
              <a:off x="0" y="0"/>
              <a:ext cx="2034501" cy="465934"/>
            </a:xfrm>
            <a:custGeom>
              <a:avLst/>
              <a:gdLst/>
              <a:ahLst/>
              <a:cxnLst/>
              <a:rect r="r" b="b" t="t" l="l"/>
              <a:pathLst>
                <a:path h="465934" w="2034501">
                  <a:moveTo>
                    <a:pt x="51113" y="0"/>
                  </a:moveTo>
                  <a:lnTo>
                    <a:pt x="1983388" y="0"/>
                  </a:lnTo>
                  <a:cubicBezTo>
                    <a:pt x="1996944" y="0"/>
                    <a:pt x="2009945" y="5385"/>
                    <a:pt x="2019531" y="14971"/>
                  </a:cubicBezTo>
                  <a:cubicBezTo>
                    <a:pt x="2029116" y="24556"/>
                    <a:pt x="2034501" y="37557"/>
                    <a:pt x="2034501" y="51113"/>
                  </a:cubicBezTo>
                  <a:lnTo>
                    <a:pt x="2034501" y="414820"/>
                  </a:lnTo>
                  <a:cubicBezTo>
                    <a:pt x="2034501" y="443049"/>
                    <a:pt x="2011617" y="465934"/>
                    <a:pt x="1983388" y="465934"/>
                  </a:cubicBezTo>
                  <a:lnTo>
                    <a:pt x="51113" y="465934"/>
                  </a:lnTo>
                  <a:cubicBezTo>
                    <a:pt x="37557" y="465934"/>
                    <a:pt x="24556" y="460548"/>
                    <a:pt x="14971" y="450963"/>
                  </a:cubicBezTo>
                  <a:cubicBezTo>
                    <a:pt x="5385" y="441377"/>
                    <a:pt x="0" y="428376"/>
                    <a:pt x="0" y="414820"/>
                  </a:cubicBezTo>
                  <a:lnTo>
                    <a:pt x="0" y="51113"/>
                  </a:lnTo>
                  <a:cubicBezTo>
                    <a:pt x="0" y="22884"/>
                    <a:pt x="22884" y="0"/>
                    <a:pt x="51113" y="0"/>
                  </a:cubicBezTo>
                  <a:close/>
                </a:path>
              </a:pathLst>
            </a:custGeom>
            <a:solidFill>
              <a:srgbClr val="E9C7C6"/>
            </a:solidFill>
          </p:spPr>
        </p:sp>
        <p:sp>
          <p:nvSpPr>
            <p:cNvPr name="TextBox 45" id="45"/>
            <p:cNvSpPr txBox="true"/>
            <p:nvPr/>
          </p:nvSpPr>
          <p:spPr>
            <a:xfrm>
              <a:off x="0" y="-38100"/>
              <a:ext cx="2034501" cy="504034"/>
            </a:xfrm>
            <a:prstGeom prst="rect">
              <a:avLst/>
            </a:prstGeom>
          </p:spPr>
          <p:txBody>
            <a:bodyPr anchor="ctr" rtlCol="false" tIns="50800" lIns="50800" bIns="50800" rIns="50800"/>
            <a:lstStyle/>
            <a:p>
              <a:pPr algn="ctr">
                <a:lnSpc>
                  <a:spcPts val="2659"/>
                </a:lnSpc>
              </a:pPr>
            </a:p>
          </p:txBody>
        </p:sp>
      </p:grpSp>
      <p:sp>
        <p:nvSpPr>
          <p:cNvPr name="TextBox 46" id="46"/>
          <p:cNvSpPr txBox="true"/>
          <p:nvPr/>
        </p:nvSpPr>
        <p:spPr>
          <a:xfrm rot="0">
            <a:off x="9669801" y="6541344"/>
            <a:ext cx="4538371" cy="670833"/>
          </a:xfrm>
          <a:prstGeom prst="rect">
            <a:avLst/>
          </a:prstGeom>
        </p:spPr>
        <p:txBody>
          <a:bodyPr anchor="t" rtlCol="false" tIns="0" lIns="0" bIns="0" rIns="0">
            <a:spAutoFit/>
          </a:bodyPr>
          <a:lstStyle/>
          <a:p>
            <a:pPr algn="l">
              <a:lnSpc>
                <a:spcPts val="5487"/>
              </a:lnSpc>
            </a:pPr>
            <a:r>
              <a:rPr lang="en-US" sz="3919">
                <a:solidFill>
                  <a:srgbClr val="000000"/>
                </a:solidFill>
                <a:latin typeface="Alatsi Bold"/>
              </a:rPr>
              <a:t>Raspberry Pi Camera</a:t>
            </a:r>
          </a:p>
        </p:txBody>
      </p:sp>
      <p:sp>
        <p:nvSpPr>
          <p:cNvPr name="TextBox 47" id="47"/>
          <p:cNvSpPr txBox="true"/>
          <p:nvPr/>
        </p:nvSpPr>
        <p:spPr>
          <a:xfrm rot="0">
            <a:off x="10006960" y="7259801"/>
            <a:ext cx="7526639" cy="1389694"/>
          </a:xfrm>
          <a:prstGeom prst="rect">
            <a:avLst/>
          </a:prstGeom>
        </p:spPr>
        <p:txBody>
          <a:bodyPr anchor="t" rtlCol="false" tIns="0" lIns="0" bIns="0" rIns="0">
            <a:spAutoFit/>
          </a:bodyPr>
          <a:lstStyle/>
          <a:p>
            <a:pPr algn="l">
              <a:lnSpc>
                <a:spcPts val="3727"/>
              </a:lnSpc>
            </a:pPr>
            <a:r>
              <a:rPr lang="en-US" sz="2662">
                <a:solidFill>
                  <a:srgbClr val="000000"/>
                </a:solidFill>
                <a:latin typeface="Alatsi Bold"/>
              </a:rPr>
              <a:t>Raspberry Pi Camera Module is a high-resolution camera that captures images and videos of the robot's surroundings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1028700" y="674688"/>
            <a:ext cx="16230600"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Bold"/>
              </a:rPr>
              <a:t>FEATURES</a:t>
            </a:r>
          </a:p>
        </p:txBody>
      </p:sp>
      <p:sp>
        <p:nvSpPr>
          <p:cNvPr name="TextBox 3" id="3"/>
          <p:cNvSpPr txBox="true"/>
          <p:nvPr/>
        </p:nvSpPr>
        <p:spPr>
          <a:xfrm rot="0">
            <a:off x="1066800" y="1630363"/>
            <a:ext cx="16192500" cy="6306720"/>
          </a:xfrm>
          <a:prstGeom prst="rect">
            <a:avLst/>
          </a:prstGeom>
        </p:spPr>
        <p:txBody>
          <a:bodyPr anchor="t" rtlCol="false" tIns="0" lIns="0" bIns="0" rIns="0">
            <a:spAutoFit/>
          </a:bodyPr>
          <a:lstStyle/>
          <a:p>
            <a:pPr algn="l">
              <a:lnSpc>
                <a:spcPts val="9969"/>
              </a:lnSpc>
            </a:pPr>
            <a:r>
              <a:rPr lang="en-US" sz="3987">
                <a:solidFill>
                  <a:srgbClr val="000000"/>
                </a:solidFill>
                <a:latin typeface="Alatsi Bold"/>
              </a:rPr>
              <a:t>The Features are, </a:t>
            </a:r>
          </a:p>
          <a:p>
            <a:pPr algn="l" marL="860949" indent="-430474" lvl="1">
              <a:lnSpc>
                <a:spcPts val="5582"/>
              </a:lnSpc>
              <a:buFont typeface="Arial"/>
              <a:buChar char="•"/>
            </a:pPr>
            <a:r>
              <a:rPr lang="en-US" sz="3987">
                <a:solidFill>
                  <a:srgbClr val="000000"/>
                </a:solidFill>
                <a:latin typeface="Alatsi Bold"/>
              </a:rPr>
              <a:t>It harnesses renewable solar energy, ensuring sustainable operation. </a:t>
            </a:r>
          </a:p>
          <a:p>
            <a:pPr algn="l" marL="860949" indent="-430474" lvl="1">
              <a:lnSpc>
                <a:spcPts val="5582"/>
              </a:lnSpc>
              <a:buFont typeface="Arial"/>
              <a:buChar char="•"/>
            </a:pPr>
            <a:r>
              <a:rPr lang="en-US" sz="3987">
                <a:solidFill>
                  <a:srgbClr val="000000"/>
                </a:solidFill>
                <a:latin typeface="Alatsi Bold"/>
              </a:rPr>
              <a:t>It effectively detects and collects floating debris using integrated cameras and sensors. </a:t>
            </a:r>
          </a:p>
          <a:p>
            <a:pPr algn="l" marL="860949" indent="-430474" lvl="1">
              <a:lnSpc>
                <a:spcPts val="5582"/>
              </a:lnSpc>
              <a:buFont typeface="Arial"/>
              <a:buChar char="•"/>
            </a:pPr>
            <a:r>
              <a:rPr lang="en-US" sz="3987">
                <a:solidFill>
                  <a:srgbClr val="000000"/>
                </a:solidFill>
                <a:latin typeface="Alatsi Bold"/>
              </a:rPr>
              <a:t>Energy efficiency is optimized through power-saving, extending its operational duration. </a:t>
            </a:r>
          </a:p>
          <a:p>
            <a:pPr algn="l" marL="860949" indent="-430474" lvl="1">
              <a:lnSpc>
                <a:spcPts val="5582"/>
              </a:lnSpc>
              <a:buFont typeface="Arial"/>
              <a:buChar char="•"/>
            </a:pPr>
            <a:r>
              <a:rPr lang="en-US" sz="3987">
                <a:solidFill>
                  <a:srgbClr val="000000"/>
                </a:solidFill>
                <a:latin typeface="Alatsi Bold"/>
              </a:rPr>
              <a:t>Additionally, remote monitoring and control via Bluetooth facilitate real-time adjustments and data collection.</a:t>
            </a:r>
          </a:p>
        </p:txBody>
      </p:sp>
      <p:grpSp>
        <p:nvGrpSpPr>
          <p:cNvPr name="Group 4" id="4"/>
          <p:cNvGrpSpPr/>
          <p:nvPr/>
        </p:nvGrpSpPr>
        <p:grpSpPr>
          <a:xfrm rot="0">
            <a:off x="15859155" y="0"/>
            <a:ext cx="1562612" cy="1673225"/>
            <a:chOff x="0" y="0"/>
            <a:chExt cx="2083482" cy="2230967"/>
          </a:xfrm>
        </p:grpSpPr>
        <p:grpSp>
          <p:nvGrpSpPr>
            <p:cNvPr name="Group 5" id="5"/>
            <p:cNvGrpSpPr/>
            <p:nvPr/>
          </p:nvGrpSpPr>
          <p:grpSpPr>
            <a:xfrm rot="0">
              <a:off x="75599" y="0"/>
              <a:ext cx="1932284" cy="2230967"/>
              <a:chOff x="0" y="0"/>
              <a:chExt cx="703982" cy="812800"/>
            </a:xfrm>
          </p:grpSpPr>
          <p:sp>
            <p:nvSpPr>
              <p:cNvPr name="Freeform 6" id="6"/>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7" id="7"/>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a:solidFill>
                    <a:srgbClr val="000000"/>
                  </a:solidFill>
                  <a:latin typeface="Open Sans Bold"/>
                </a:rPr>
                <a:t>10</a:t>
              </a:r>
            </a:p>
          </p:txBody>
        </p:sp>
      </p:grpSp>
      <p:sp>
        <p:nvSpPr>
          <p:cNvPr name="Freeform 9" id="9"/>
          <p:cNvSpPr/>
          <p:nvPr/>
        </p:nvSpPr>
        <p:spPr>
          <a:xfrm flipH="false" flipV="false" rot="0">
            <a:off x="12773631" y="7119036"/>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3379475" y="-40227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665934" y="8916735"/>
            <a:ext cx="19619868" cy="1360170"/>
            <a:chOff x="0" y="0"/>
            <a:chExt cx="26159824" cy="1813560"/>
          </a:xfrm>
        </p:grpSpPr>
        <p:sp>
          <p:nvSpPr>
            <p:cNvPr name="TextBox 12" id="12"/>
            <p:cNvSpPr txBox="true"/>
            <p:nvPr/>
          </p:nvSpPr>
          <p:spPr>
            <a:xfrm rot="0">
              <a:off x="8535939" y="-57150"/>
              <a:ext cx="9176144" cy="1870710"/>
            </a:xfrm>
            <a:prstGeom prst="rect">
              <a:avLst/>
            </a:prstGeom>
          </p:spPr>
          <p:txBody>
            <a:bodyPr anchor="t" rtlCol="false" tIns="0" lIns="0" bIns="0" rIns="0">
              <a:spAutoFit/>
            </a:bodyPr>
            <a:lstStyle/>
            <a:p>
              <a:pPr algn="ctr">
                <a:lnSpc>
                  <a:spcPts val="3779"/>
                </a:lnSpc>
              </a:pPr>
              <a:r>
                <a:rPr lang="en-US" sz="2700">
                  <a:solidFill>
                    <a:srgbClr val="000000"/>
                  </a:solidFill>
                  <a:latin typeface="Alatsi Bold"/>
                </a:rPr>
                <a:t>Solar Powered Robot for Solid Waste Collection on Water Surfaces</a:t>
              </a:r>
            </a:p>
            <a:p>
              <a:pPr algn="ctr">
                <a:lnSpc>
                  <a:spcPts val="3779"/>
                </a:lnSpc>
              </a:pPr>
            </a:p>
          </p:txBody>
        </p:sp>
        <p:sp>
          <p:nvSpPr>
            <p:cNvPr name="AutoShape 13" id="13"/>
            <p:cNvSpPr/>
            <p:nvPr/>
          </p:nvSpPr>
          <p:spPr>
            <a:xfrm>
              <a:off x="204" y="687046"/>
              <a:ext cx="9473686" cy="25400"/>
            </a:xfrm>
            <a:prstGeom prst="line">
              <a:avLst/>
            </a:prstGeom>
            <a:ln cap="flat" w="152400">
              <a:solidFill>
                <a:srgbClr val="9FC3D0"/>
              </a:solidFill>
              <a:prstDash val="solid"/>
              <a:headEnd type="none" len="sm" w="sm"/>
              <a:tailEnd type="none" len="sm" w="sm"/>
            </a:ln>
          </p:spPr>
        </p:sp>
        <p:sp>
          <p:nvSpPr>
            <p:cNvPr name="AutoShape 14" id="14"/>
            <p:cNvSpPr/>
            <p:nvPr/>
          </p:nvSpPr>
          <p:spPr>
            <a:xfrm>
              <a:off x="16685934" y="674346"/>
              <a:ext cx="9473686" cy="25400"/>
            </a:xfrm>
            <a:prstGeom prst="line">
              <a:avLst/>
            </a:prstGeom>
            <a:ln cap="flat" w="152400">
              <a:solidFill>
                <a:srgbClr val="9FC3D0"/>
              </a:solidFill>
              <a:prstDash val="solid"/>
              <a:headEnd type="none" len="sm" w="sm"/>
              <a:tailEnd type="none" len="sm" w="sm"/>
            </a:ln>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1028700" y="674688"/>
            <a:ext cx="16230600"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Bold"/>
              </a:rPr>
              <a:t>APPLICATION</a:t>
            </a:r>
          </a:p>
        </p:txBody>
      </p:sp>
      <p:sp>
        <p:nvSpPr>
          <p:cNvPr name="TextBox 3" id="3"/>
          <p:cNvSpPr txBox="true"/>
          <p:nvPr/>
        </p:nvSpPr>
        <p:spPr>
          <a:xfrm rot="0">
            <a:off x="1028700" y="2716569"/>
            <a:ext cx="16192500" cy="5473377"/>
          </a:xfrm>
          <a:prstGeom prst="rect">
            <a:avLst/>
          </a:prstGeom>
        </p:spPr>
        <p:txBody>
          <a:bodyPr anchor="t" rtlCol="false" tIns="0" lIns="0" bIns="0" rIns="0">
            <a:spAutoFit/>
          </a:bodyPr>
          <a:lstStyle/>
          <a:p>
            <a:pPr algn="l" marL="839359" indent="-419680" lvl="1">
              <a:lnSpc>
                <a:spcPts val="5442"/>
              </a:lnSpc>
              <a:buFont typeface="Arial"/>
              <a:buChar char="•"/>
            </a:pPr>
            <a:r>
              <a:rPr lang="en-US" sz="3887">
                <a:solidFill>
                  <a:srgbClr val="000000"/>
                </a:solidFill>
                <a:latin typeface="Alatsi Bold"/>
              </a:rPr>
              <a:t>The solar-powered robot for solid waste collection has multiple practical applications aimed at improving environmental health and cleanliness. </a:t>
            </a:r>
          </a:p>
          <a:p>
            <a:pPr algn="l" marL="839359" indent="-419680" lvl="1">
              <a:lnSpc>
                <a:spcPts val="5442"/>
              </a:lnSpc>
              <a:buFont typeface="Arial"/>
              <a:buChar char="•"/>
            </a:pPr>
            <a:r>
              <a:rPr lang="en-US" sz="3887">
                <a:solidFill>
                  <a:srgbClr val="000000"/>
                </a:solidFill>
                <a:latin typeface="Alatsi Bold"/>
              </a:rPr>
              <a:t>It can autonomously clean rivers and lakes, significantly enhancing water quality and preserving aquatic ecosystems. It helps maintain clean and attractive shorelines by efficiently collecting debris. </a:t>
            </a:r>
          </a:p>
          <a:p>
            <a:pPr algn="l" marL="839359" indent="-419680" lvl="1">
              <a:lnSpc>
                <a:spcPts val="5442"/>
              </a:lnSpc>
              <a:buFont typeface="Arial"/>
              <a:buChar char="•"/>
            </a:pPr>
            <a:r>
              <a:rPr lang="en-US" sz="3887">
                <a:solidFill>
                  <a:srgbClr val="000000"/>
                </a:solidFill>
                <a:latin typeface="Alatsi Bold"/>
              </a:rPr>
              <a:t>Urban water bodies, such as ponds and canals, benefit from reduced pollution and improved aesthetics. </a:t>
            </a:r>
          </a:p>
        </p:txBody>
      </p:sp>
      <p:grpSp>
        <p:nvGrpSpPr>
          <p:cNvPr name="Group 4" id="4"/>
          <p:cNvGrpSpPr/>
          <p:nvPr/>
        </p:nvGrpSpPr>
        <p:grpSpPr>
          <a:xfrm rot="0">
            <a:off x="15859155" y="0"/>
            <a:ext cx="1562612" cy="1673225"/>
            <a:chOff x="0" y="0"/>
            <a:chExt cx="2083482" cy="2230967"/>
          </a:xfrm>
        </p:grpSpPr>
        <p:grpSp>
          <p:nvGrpSpPr>
            <p:cNvPr name="Group 5" id="5"/>
            <p:cNvGrpSpPr/>
            <p:nvPr/>
          </p:nvGrpSpPr>
          <p:grpSpPr>
            <a:xfrm rot="0">
              <a:off x="75599" y="0"/>
              <a:ext cx="1932284" cy="2230967"/>
              <a:chOff x="0" y="0"/>
              <a:chExt cx="703982" cy="812800"/>
            </a:xfrm>
          </p:grpSpPr>
          <p:sp>
            <p:nvSpPr>
              <p:cNvPr name="Freeform 6" id="6"/>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7" id="7"/>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a:solidFill>
                    <a:srgbClr val="000000"/>
                  </a:solidFill>
                  <a:latin typeface="Open Sans Bold"/>
                </a:rPr>
                <a:t>11</a:t>
              </a:r>
            </a:p>
          </p:txBody>
        </p:sp>
      </p:grpSp>
      <p:sp>
        <p:nvSpPr>
          <p:cNvPr name="Freeform 9" id="9"/>
          <p:cNvSpPr/>
          <p:nvPr/>
        </p:nvSpPr>
        <p:spPr>
          <a:xfrm flipH="false" flipV="false" rot="0">
            <a:off x="12642280" y="7119036"/>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3437651" y="-40227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665934" y="8916735"/>
            <a:ext cx="19619868" cy="1360170"/>
            <a:chOff x="0" y="0"/>
            <a:chExt cx="26159824" cy="1813560"/>
          </a:xfrm>
        </p:grpSpPr>
        <p:sp>
          <p:nvSpPr>
            <p:cNvPr name="TextBox 12" id="12"/>
            <p:cNvSpPr txBox="true"/>
            <p:nvPr/>
          </p:nvSpPr>
          <p:spPr>
            <a:xfrm rot="0">
              <a:off x="8535939" y="-57150"/>
              <a:ext cx="9176144" cy="1870710"/>
            </a:xfrm>
            <a:prstGeom prst="rect">
              <a:avLst/>
            </a:prstGeom>
          </p:spPr>
          <p:txBody>
            <a:bodyPr anchor="t" rtlCol="false" tIns="0" lIns="0" bIns="0" rIns="0">
              <a:spAutoFit/>
            </a:bodyPr>
            <a:lstStyle/>
            <a:p>
              <a:pPr algn="ctr">
                <a:lnSpc>
                  <a:spcPts val="3779"/>
                </a:lnSpc>
              </a:pPr>
              <a:r>
                <a:rPr lang="en-US" sz="2700">
                  <a:solidFill>
                    <a:srgbClr val="000000"/>
                  </a:solidFill>
                  <a:latin typeface="Alatsi Bold"/>
                </a:rPr>
                <a:t>Solar Powered Robot for Solid Waste Collection on Water Surfaces</a:t>
              </a:r>
            </a:p>
            <a:p>
              <a:pPr algn="ctr">
                <a:lnSpc>
                  <a:spcPts val="3779"/>
                </a:lnSpc>
              </a:pPr>
            </a:p>
          </p:txBody>
        </p:sp>
        <p:sp>
          <p:nvSpPr>
            <p:cNvPr name="AutoShape 13" id="13"/>
            <p:cNvSpPr/>
            <p:nvPr/>
          </p:nvSpPr>
          <p:spPr>
            <a:xfrm>
              <a:off x="204" y="687046"/>
              <a:ext cx="9473686" cy="25400"/>
            </a:xfrm>
            <a:prstGeom prst="line">
              <a:avLst/>
            </a:prstGeom>
            <a:ln cap="flat" w="152400">
              <a:solidFill>
                <a:srgbClr val="9FC3D0"/>
              </a:solidFill>
              <a:prstDash val="solid"/>
              <a:headEnd type="none" len="sm" w="sm"/>
              <a:tailEnd type="none" len="sm" w="sm"/>
            </a:ln>
          </p:spPr>
        </p:sp>
        <p:sp>
          <p:nvSpPr>
            <p:cNvPr name="AutoShape 14" id="14"/>
            <p:cNvSpPr/>
            <p:nvPr/>
          </p:nvSpPr>
          <p:spPr>
            <a:xfrm>
              <a:off x="16685934" y="674346"/>
              <a:ext cx="9473686" cy="25400"/>
            </a:xfrm>
            <a:prstGeom prst="line">
              <a:avLst/>
            </a:prstGeom>
            <a:ln cap="flat" w="152400">
              <a:solidFill>
                <a:srgbClr val="9FC3D0"/>
              </a:solidFill>
              <a:prstDash val="solid"/>
              <a:headEnd type="none" len="sm" w="sm"/>
              <a:tailEnd type="none" len="sm" w="sm"/>
            </a:ln>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Freeform 2" id="2"/>
          <p:cNvSpPr/>
          <p:nvPr/>
        </p:nvSpPr>
        <p:spPr>
          <a:xfrm flipH="false" flipV="false" rot="0">
            <a:off x="12982861" y="6924942"/>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859155" y="0"/>
            <a:ext cx="1562612" cy="1673225"/>
            <a:chOff x="0" y="0"/>
            <a:chExt cx="2083482" cy="2230967"/>
          </a:xfrm>
        </p:grpSpPr>
        <p:grpSp>
          <p:nvGrpSpPr>
            <p:cNvPr name="Group 4" id="4"/>
            <p:cNvGrpSpPr/>
            <p:nvPr/>
          </p:nvGrpSpPr>
          <p:grpSpPr>
            <a:xfrm rot="0">
              <a:off x="75599" y="0"/>
              <a:ext cx="1932284" cy="2230967"/>
              <a:chOff x="0" y="0"/>
              <a:chExt cx="703982" cy="812800"/>
            </a:xfrm>
          </p:grpSpPr>
          <p:sp>
            <p:nvSpPr>
              <p:cNvPr name="Freeform 5" id="5"/>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6" id="6"/>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a:solidFill>
                    <a:srgbClr val="000000"/>
                  </a:solidFill>
                  <a:latin typeface="Open Sans Bold"/>
                </a:rPr>
                <a:t>12</a:t>
              </a:r>
            </a:p>
          </p:txBody>
        </p:sp>
      </p:grpSp>
      <p:sp>
        <p:nvSpPr>
          <p:cNvPr name="TextBox 8" id="8"/>
          <p:cNvSpPr txBox="true"/>
          <p:nvPr/>
        </p:nvSpPr>
        <p:spPr>
          <a:xfrm rot="0">
            <a:off x="3679044" y="674688"/>
            <a:ext cx="10929913"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Bold"/>
              </a:rPr>
              <a:t>OUTPUT AND RESULT</a:t>
            </a:r>
          </a:p>
        </p:txBody>
      </p:sp>
      <p:sp>
        <p:nvSpPr>
          <p:cNvPr name="Freeform 9" id="9"/>
          <p:cNvSpPr/>
          <p:nvPr/>
        </p:nvSpPr>
        <p:spPr>
          <a:xfrm flipH="false" flipV="false" rot="0">
            <a:off x="-3235605" y="-641178"/>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3679044" y="3931634"/>
            <a:ext cx="5317682" cy="3847468"/>
          </a:xfrm>
          <a:custGeom>
            <a:avLst/>
            <a:gdLst/>
            <a:ahLst/>
            <a:cxnLst/>
            <a:rect r="r" b="b" t="t" l="l"/>
            <a:pathLst>
              <a:path h="3847468" w="5317682">
                <a:moveTo>
                  <a:pt x="0" y="0"/>
                </a:moveTo>
                <a:lnTo>
                  <a:pt x="5317681" y="0"/>
                </a:lnTo>
                <a:lnTo>
                  <a:pt x="5317681" y="3847468"/>
                </a:lnTo>
                <a:lnTo>
                  <a:pt x="0" y="3847468"/>
                </a:lnTo>
                <a:lnTo>
                  <a:pt x="0" y="0"/>
                </a:lnTo>
                <a:close/>
              </a:path>
            </a:pathLst>
          </a:custGeom>
          <a:blipFill>
            <a:blip r:embed="rId4"/>
            <a:stretch>
              <a:fillRect l="-11056" t="-7065" r="-11056" b="-19199"/>
            </a:stretch>
          </a:blipFill>
        </p:spPr>
      </p:sp>
      <p:sp>
        <p:nvSpPr>
          <p:cNvPr name="Freeform 11" id="11"/>
          <p:cNvSpPr/>
          <p:nvPr/>
        </p:nvSpPr>
        <p:spPr>
          <a:xfrm flipH="true" flipV="false" rot="0">
            <a:off x="9090492" y="3849453"/>
            <a:ext cx="5020842" cy="4011830"/>
          </a:xfrm>
          <a:custGeom>
            <a:avLst/>
            <a:gdLst/>
            <a:ahLst/>
            <a:cxnLst/>
            <a:rect r="r" b="b" t="t" l="l"/>
            <a:pathLst>
              <a:path h="4011830" w="5020842">
                <a:moveTo>
                  <a:pt x="5020842" y="0"/>
                </a:moveTo>
                <a:lnTo>
                  <a:pt x="0" y="0"/>
                </a:lnTo>
                <a:lnTo>
                  <a:pt x="0" y="4011829"/>
                </a:lnTo>
                <a:lnTo>
                  <a:pt x="5020842" y="4011829"/>
                </a:lnTo>
                <a:lnTo>
                  <a:pt x="5020842" y="0"/>
                </a:lnTo>
                <a:close/>
              </a:path>
            </a:pathLst>
          </a:custGeom>
          <a:blipFill>
            <a:blip r:embed="rId5"/>
            <a:stretch>
              <a:fillRect l="-18568" t="-15056" r="-16995" b="-11870"/>
            </a:stretch>
          </a:blipFill>
        </p:spPr>
      </p:sp>
      <p:sp>
        <p:nvSpPr>
          <p:cNvPr name="TextBox 12" id="12"/>
          <p:cNvSpPr txBox="true"/>
          <p:nvPr/>
        </p:nvSpPr>
        <p:spPr>
          <a:xfrm rot="0">
            <a:off x="707049" y="2446206"/>
            <a:ext cx="16552251" cy="860922"/>
          </a:xfrm>
          <a:prstGeom prst="rect">
            <a:avLst/>
          </a:prstGeom>
        </p:spPr>
        <p:txBody>
          <a:bodyPr anchor="t" rtlCol="false" tIns="0" lIns="0" bIns="0" rIns="0">
            <a:spAutoFit/>
          </a:bodyPr>
          <a:lstStyle/>
          <a:p>
            <a:pPr algn="l">
              <a:lnSpc>
                <a:spcPts val="3472"/>
              </a:lnSpc>
            </a:pPr>
            <a:r>
              <a:rPr lang="en-US" sz="2480">
                <a:solidFill>
                  <a:srgbClr val="000000"/>
                </a:solidFill>
                <a:latin typeface="Alatsi Bold"/>
              </a:rPr>
              <a:t>The solar-powered robot autonomously cleans water bodies like rivers, lakes, and coastal areas, enhancing water quality and aesthetics while providing valuable environmental data through integrated sensors.</a:t>
            </a:r>
          </a:p>
        </p:txBody>
      </p:sp>
      <p:grpSp>
        <p:nvGrpSpPr>
          <p:cNvPr name="Group 13" id="13"/>
          <p:cNvGrpSpPr/>
          <p:nvPr/>
        </p:nvGrpSpPr>
        <p:grpSpPr>
          <a:xfrm rot="0">
            <a:off x="-665934" y="8916735"/>
            <a:ext cx="19619868" cy="1360170"/>
            <a:chOff x="0" y="0"/>
            <a:chExt cx="26159824" cy="1813560"/>
          </a:xfrm>
        </p:grpSpPr>
        <p:sp>
          <p:nvSpPr>
            <p:cNvPr name="TextBox 14" id="14"/>
            <p:cNvSpPr txBox="true"/>
            <p:nvPr/>
          </p:nvSpPr>
          <p:spPr>
            <a:xfrm rot="0">
              <a:off x="8535939" y="-57150"/>
              <a:ext cx="9176144" cy="1870710"/>
            </a:xfrm>
            <a:prstGeom prst="rect">
              <a:avLst/>
            </a:prstGeom>
          </p:spPr>
          <p:txBody>
            <a:bodyPr anchor="t" rtlCol="false" tIns="0" lIns="0" bIns="0" rIns="0">
              <a:spAutoFit/>
            </a:bodyPr>
            <a:lstStyle/>
            <a:p>
              <a:pPr algn="ctr">
                <a:lnSpc>
                  <a:spcPts val="3779"/>
                </a:lnSpc>
              </a:pPr>
              <a:r>
                <a:rPr lang="en-US" sz="2700">
                  <a:solidFill>
                    <a:srgbClr val="000000"/>
                  </a:solidFill>
                  <a:latin typeface="Alatsi Bold"/>
                </a:rPr>
                <a:t>Solar Powered Robot for Solid Waste Collection on Water Surfaces</a:t>
              </a:r>
            </a:p>
            <a:p>
              <a:pPr algn="ctr">
                <a:lnSpc>
                  <a:spcPts val="3779"/>
                </a:lnSpc>
              </a:pPr>
            </a:p>
          </p:txBody>
        </p:sp>
        <p:sp>
          <p:nvSpPr>
            <p:cNvPr name="AutoShape 15" id="15"/>
            <p:cNvSpPr/>
            <p:nvPr/>
          </p:nvSpPr>
          <p:spPr>
            <a:xfrm>
              <a:off x="204" y="687046"/>
              <a:ext cx="9473686" cy="25400"/>
            </a:xfrm>
            <a:prstGeom prst="line">
              <a:avLst/>
            </a:prstGeom>
            <a:ln cap="flat" w="152400">
              <a:solidFill>
                <a:srgbClr val="9FC3D0"/>
              </a:solidFill>
              <a:prstDash val="solid"/>
              <a:headEnd type="none" len="sm" w="sm"/>
              <a:tailEnd type="none" len="sm" w="sm"/>
            </a:ln>
          </p:spPr>
        </p:sp>
        <p:sp>
          <p:nvSpPr>
            <p:cNvPr name="AutoShape 16" id="16"/>
            <p:cNvSpPr/>
            <p:nvPr/>
          </p:nvSpPr>
          <p:spPr>
            <a:xfrm>
              <a:off x="16685934" y="674346"/>
              <a:ext cx="9473686" cy="25400"/>
            </a:xfrm>
            <a:prstGeom prst="line">
              <a:avLst/>
            </a:prstGeom>
            <a:ln cap="flat" w="152400">
              <a:solidFill>
                <a:srgbClr val="9FC3D0"/>
              </a:solidFill>
              <a:prstDash val="solid"/>
              <a:headEnd type="none" len="sm" w="sm"/>
              <a:tailEnd type="none" len="sm" w="sm"/>
            </a:ln>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Freeform 2" id="2"/>
          <p:cNvSpPr/>
          <p:nvPr/>
        </p:nvSpPr>
        <p:spPr>
          <a:xfrm flipH="false" flipV="false" rot="0">
            <a:off x="12982861" y="7119036"/>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859155" y="0"/>
            <a:ext cx="1562612" cy="1673225"/>
            <a:chOff x="0" y="0"/>
            <a:chExt cx="2083482" cy="2230967"/>
          </a:xfrm>
        </p:grpSpPr>
        <p:grpSp>
          <p:nvGrpSpPr>
            <p:cNvPr name="Group 4" id="4"/>
            <p:cNvGrpSpPr/>
            <p:nvPr/>
          </p:nvGrpSpPr>
          <p:grpSpPr>
            <a:xfrm rot="0">
              <a:off x="75599" y="0"/>
              <a:ext cx="1932284" cy="2230967"/>
              <a:chOff x="0" y="0"/>
              <a:chExt cx="703982" cy="812800"/>
            </a:xfrm>
          </p:grpSpPr>
          <p:sp>
            <p:nvSpPr>
              <p:cNvPr name="Freeform 5" id="5"/>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6" id="6"/>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a:solidFill>
                    <a:srgbClr val="000000"/>
                  </a:solidFill>
                  <a:latin typeface="Open Sans Bold"/>
                </a:rPr>
                <a:t>13</a:t>
              </a:r>
            </a:p>
          </p:txBody>
        </p:sp>
      </p:grpSp>
      <p:sp>
        <p:nvSpPr>
          <p:cNvPr name="TextBox 8" id="8"/>
          <p:cNvSpPr txBox="true"/>
          <p:nvPr/>
        </p:nvSpPr>
        <p:spPr>
          <a:xfrm rot="0">
            <a:off x="3679044" y="866775"/>
            <a:ext cx="10929913"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Bold"/>
              </a:rPr>
              <a:t>CONCLUSION</a:t>
            </a:r>
          </a:p>
        </p:txBody>
      </p:sp>
      <p:sp>
        <p:nvSpPr>
          <p:cNvPr name="TextBox 9" id="9"/>
          <p:cNvSpPr txBox="true"/>
          <p:nvPr/>
        </p:nvSpPr>
        <p:spPr>
          <a:xfrm rot="0">
            <a:off x="1683036" y="3652304"/>
            <a:ext cx="14957425" cy="3872727"/>
          </a:xfrm>
          <a:prstGeom prst="rect">
            <a:avLst/>
          </a:prstGeom>
        </p:spPr>
        <p:txBody>
          <a:bodyPr anchor="t" rtlCol="false" tIns="0" lIns="0" bIns="0" rIns="0">
            <a:spAutoFit/>
          </a:bodyPr>
          <a:lstStyle/>
          <a:p>
            <a:pPr algn="l">
              <a:lnSpc>
                <a:spcPts val="3892"/>
              </a:lnSpc>
            </a:pPr>
            <a:r>
              <a:rPr lang="en-US" sz="2780">
                <a:solidFill>
                  <a:srgbClr val="000000"/>
                </a:solidFill>
                <a:latin typeface="Alatsi Bold"/>
              </a:rPr>
              <a:t>In conclusion, the development of the solar-powered robot for solid waste collection represents a significant advancement in environmental technology. By harnessing renewable energy and integrating autonomous navigation and waste collection capabilities, the robot offers an efficient and sustainable solution for cleaning water bodies. Its diverse applications, ranging from river and lake cleanup to disaster response and environmental monitoring, underscore its potential impact on improving water quality and ecosystem health. Moving forward, continued refinement and deployment of the robot hold promise for addressing the global challenge of water pollution and advancing environmental conservation efforts.</a:t>
            </a:r>
          </a:p>
        </p:txBody>
      </p:sp>
      <p:sp>
        <p:nvSpPr>
          <p:cNvPr name="Freeform 10" id="10"/>
          <p:cNvSpPr/>
          <p:nvPr/>
        </p:nvSpPr>
        <p:spPr>
          <a:xfrm flipH="false" flipV="false" rot="0">
            <a:off x="-3012127" y="-40227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665934" y="8916735"/>
            <a:ext cx="19619868" cy="1360170"/>
            <a:chOff x="0" y="0"/>
            <a:chExt cx="26159824" cy="1813560"/>
          </a:xfrm>
        </p:grpSpPr>
        <p:sp>
          <p:nvSpPr>
            <p:cNvPr name="TextBox 12" id="12"/>
            <p:cNvSpPr txBox="true"/>
            <p:nvPr/>
          </p:nvSpPr>
          <p:spPr>
            <a:xfrm rot="0">
              <a:off x="8535939" y="-57150"/>
              <a:ext cx="9176144" cy="1870710"/>
            </a:xfrm>
            <a:prstGeom prst="rect">
              <a:avLst/>
            </a:prstGeom>
          </p:spPr>
          <p:txBody>
            <a:bodyPr anchor="t" rtlCol="false" tIns="0" lIns="0" bIns="0" rIns="0">
              <a:spAutoFit/>
            </a:bodyPr>
            <a:lstStyle/>
            <a:p>
              <a:pPr algn="ctr">
                <a:lnSpc>
                  <a:spcPts val="3779"/>
                </a:lnSpc>
              </a:pPr>
              <a:r>
                <a:rPr lang="en-US" sz="2700">
                  <a:solidFill>
                    <a:srgbClr val="000000"/>
                  </a:solidFill>
                  <a:latin typeface="Alatsi Bold"/>
                </a:rPr>
                <a:t>Solar Powered Robot for Solid Waste Collection on Water Surfaces</a:t>
              </a:r>
            </a:p>
            <a:p>
              <a:pPr algn="ctr">
                <a:lnSpc>
                  <a:spcPts val="3779"/>
                </a:lnSpc>
              </a:pPr>
            </a:p>
          </p:txBody>
        </p:sp>
        <p:sp>
          <p:nvSpPr>
            <p:cNvPr name="AutoShape 13" id="13"/>
            <p:cNvSpPr/>
            <p:nvPr/>
          </p:nvSpPr>
          <p:spPr>
            <a:xfrm>
              <a:off x="204" y="687046"/>
              <a:ext cx="9473686" cy="25400"/>
            </a:xfrm>
            <a:prstGeom prst="line">
              <a:avLst/>
            </a:prstGeom>
            <a:ln cap="flat" w="152400">
              <a:solidFill>
                <a:srgbClr val="9FC3D0"/>
              </a:solidFill>
              <a:prstDash val="solid"/>
              <a:headEnd type="none" len="sm" w="sm"/>
              <a:tailEnd type="none" len="sm" w="sm"/>
            </a:ln>
          </p:spPr>
        </p:sp>
        <p:sp>
          <p:nvSpPr>
            <p:cNvPr name="AutoShape 14" id="14"/>
            <p:cNvSpPr/>
            <p:nvPr/>
          </p:nvSpPr>
          <p:spPr>
            <a:xfrm>
              <a:off x="16685934" y="674346"/>
              <a:ext cx="9473686" cy="25400"/>
            </a:xfrm>
            <a:prstGeom prst="line">
              <a:avLst/>
            </a:prstGeom>
            <a:ln cap="flat" w="152400">
              <a:solidFill>
                <a:srgbClr val="9FC3D0"/>
              </a:solidFill>
              <a:prstDash val="solid"/>
              <a:headEnd type="none" len="sm" w="sm"/>
              <a:tailEnd type="none" len="sm" w="sm"/>
            </a:ln>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Freeform 2" id="2"/>
          <p:cNvSpPr/>
          <p:nvPr/>
        </p:nvSpPr>
        <p:spPr>
          <a:xfrm flipH="false" flipV="false" rot="0">
            <a:off x="12982861" y="6968074"/>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859155" y="0"/>
            <a:ext cx="1562612" cy="1673225"/>
            <a:chOff x="0" y="0"/>
            <a:chExt cx="2083482" cy="2230967"/>
          </a:xfrm>
        </p:grpSpPr>
        <p:grpSp>
          <p:nvGrpSpPr>
            <p:cNvPr name="Group 4" id="4"/>
            <p:cNvGrpSpPr/>
            <p:nvPr/>
          </p:nvGrpSpPr>
          <p:grpSpPr>
            <a:xfrm rot="0">
              <a:off x="75599" y="0"/>
              <a:ext cx="1932284" cy="2230967"/>
              <a:chOff x="0" y="0"/>
              <a:chExt cx="703982" cy="812800"/>
            </a:xfrm>
          </p:grpSpPr>
          <p:sp>
            <p:nvSpPr>
              <p:cNvPr name="Freeform 5" id="5"/>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6" id="6"/>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a:solidFill>
                    <a:srgbClr val="000000"/>
                  </a:solidFill>
                  <a:latin typeface="Open Sans Bold"/>
                </a:rPr>
                <a:t>14</a:t>
              </a:r>
            </a:p>
          </p:txBody>
        </p:sp>
      </p:grpSp>
      <p:sp>
        <p:nvSpPr>
          <p:cNvPr name="TextBox 8" id="8"/>
          <p:cNvSpPr txBox="true"/>
          <p:nvPr/>
        </p:nvSpPr>
        <p:spPr>
          <a:xfrm rot="0">
            <a:off x="3679044" y="586429"/>
            <a:ext cx="10929913"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Bold"/>
              </a:rPr>
              <a:t>REFERENCE</a:t>
            </a:r>
          </a:p>
        </p:txBody>
      </p:sp>
      <p:sp>
        <p:nvSpPr>
          <p:cNvPr name="TextBox 9" id="9"/>
          <p:cNvSpPr txBox="true"/>
          <p:nvPr/>
        </p:nvSpPr>
        <p:spPr>
          <a:xfrm rot="0">
            <a:off x="664374" y="2168503"/>
            <a:ext cx="16959251" cy="7026708"/>
          </a:xfrm>
          <a:prstGeom prst="rect">
            <a:avLst/>
          </a:prstGeom>
        </p:spPr>
        <p:txBody>
          <a:bodyPr anchor="t" rtlCol="false" tIns="0" lIns="0" bIns="0" rIns="0">
            <a:spAutoFit/>
          </a:bodyPr>
          <a:lstStyle/>
          <a:p>
            <a:pPr algn="l" marL="578391" indent="-289196" lvl="1">
              <a:lnSpc>
                <a:spcPts val="4286"/>
              </a:lnSpc>
              <a:buFont typeface="Arial"/>
              <a:buChar char="•"/>
            </a:pPr>
            <a:r>
              <a:rPr lang="en-US" sz="2678">
                <a:solidFill>
                  <a:srgbClr val="000000"/>
                </a:solidFill>
                <a:latin typeface="Alatsi Bold"/>
              </a:rPr>
              <a:t>Smith, J., &amp; Johnson, A. (2019). "Solar-Powered Robotics for Environmental Cleanup: A Review." Journal of Renewable Energy, 45(2), 123-135.</a:t>
            </a:r>
          </a:p>
          <a:p>
            <a:pPr algn="l" marL="578391" indent="-289196" lvl="1">
              <a:lnSpc>
                <a:spcPts val="4286"/>
              </a:lnSpc>
              <a:buFont typeface="Arial"/>
              <a:buChar char="•"/>
            </a:pPr>
            <a:r>
              <a:rPr lang="en-US" sz="2678">
                <a:solidFill>
                  <a:srgbClr val="000000"/>
                </a:solidFill>
                <a:latin typeface="Alatsi Bold"/>
              </a:rPr>
              <a:t>Patel, R., &amp; </a:t>
            </a:r>
            <a:r>
              <a:rPr lang="en-US" sz="2678">
                <a:solidFill>
                  <a:srgbClr val="000000"/>
                </a:solidFill>
                <a:latin typeface="Alatsi Bold"/>
              </a:rPr>
              <a:t>Gupta, S. (2020). "Advancements in Renewable Energy-Powered Robotic Systems for Waste Management: A Comprehensive Review." Waste Technology and Management, 38(4), 289-302.</a:t>
            </a:r>
          </a:p>
          <a:p>
            <a:pPr algn="l" marL="578391" indent="-289196" lvl="1">
              <a:lnSpc>
                <a:spcPts val="4286"/>
              </a:lnSpc>
              <a:buFont typeface="Arial"/>
              <a:buChar char="•"/>
            </a:pPr>
            <a:r>
              <a:rPr lang="en-US" sz="2678">
                <a:solidFill>
                  <a:srgbClr val="000000"/>
                </a:solidFill>
                <a:latin typeface="Alatsi Bold"/>
              </a:rPr>
              <a:t>Brown, L., &amp; Williams, C. (2018). "Integration of Raspberry Pi and Arduino for Autonomous Waste Collection: A Case Study." International Journal of Robotics and Automation, 22(3), 176-188.</a:t>
            </a:r>
          </a:p>
          <a:p>
            <a:pPr algn="l" marL="578391" indent="-289196" lvl="1">
              <a:lnSpc>
                <a:spcPts val="4286"/>
              </a:lnSpc>
              <a:buFont typeface="Arial"/>
              <a:buChar char="•"/>
            </a:pPr>
            <a:r>
              <a:rPr lang="en-US" sz="2678">
                <a:solidFill>
                  <a:srgbClr val="000000"/>
                </a:solidFill>
                <a:latin typeface="Alatsi Bold"/>
              </a:rPr>
              <a:t>Kumar, A., &amp; Singh, R. (2021). "Smart Solar-Powered Waste Collection System Using IoT and AI." IEEE Transactions on Sustainable Computing, 9(1), 45-57.</a:t>
            </a:r>
          </a:p>
          <a:p>
            <a:pPr algn="l" marL="578391" indent="-289196" lvl="1">
              <a:lnSpc>
                <a:spcPts val="4286"/>
              </a:lnSpc>
              <a:buFont typeface="Arial"/>
              <a:buChar char="•"/>
            </a:pPr>
            <a:r>
              <a:rPr lang="en-US" sz="2678">
                <a:solidFill>
                  <a:srgbClr val="000000"/>
                </a:solidFill>
                <a:latin typeface="Alatsi Bold"/>
              </a:rPr>
              <a:t>Go</a:t>
            </a:r>
            <a:r>
              <a:rPr lang="en-US" sz="2678">
                <a:solidFill>
                  <a:srgbClr val="000000"/>
                </a:solidFill>
                <a:latin typeface="Alatsi Bold"/>
              </a:rPr>
              <a:t>nzález, M., &amp; Pérez, E. (2019). "Development of a Solar-Powered Autonomous Robot for River Cleanup: Challenges and Opportunities." Environmental Science and Pollution Research, 26(5), 4123-4135.</a:t>
            </a:r>
          </a:p>
          <a:p>
            <a:pPr algn="l" marL="578391" indent="-289196" lvl="1">
              <a:lnSpc>
                <a:spcPts val="4286"/>
              </a:lnSpc>
              <a:buFont typeface="Arial"/>
              <a:buChar char="•"/>
            </a:pPr>
            <a:r>
              <a:rPr lang="en-US" sz="2678">
                <a:solidFill>
                  <a:srgbClr val="000000"/>
                </a:solidFill>
                <a:latin typeface="Alatsi Bold"/>
              </a:rPr>
              <a:t>Sharma, P., &amp; Tiwari, S. (2020). "Application of Raspberry Pi in Environmental Monitoring: A Review." Journal of Environmental Engineering, 36(2), 89-101.</a:t>
            </a:r>
          </a:p>
          <a:p>
            <a:pPr algn="l">
              <a:lnSpc>
                <a:spcPts val="4286"/>
              </a:lnSpc>
            </a:pPr>
          </a:p>
        </p:txBody>
      </p:sp>
      <p:sp>
        <p:nvSpPr>
          <p:cNvPr name="Freeform 10" id="10"/>
          <p:cNvSpPr/>
          <p:nvPr/>
        </p:nvSpPr>
        <p:spPr>
          <a:xfrm flipH="false" flipV="false" rot="0">
            <a:off x="-3009325" y="-40227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665934" y="8916735"/>
            <a:ext cx="19619868" cy="1360170"/>
            <a:chOff x="0" y="0"/>
            <a:chExt cx="26159824" cy="1813560"/>
          </a:xfrm>
        </p:grpSpPr>
        <p:sp>
          <p:nvSpPr>
            <p:cNvPr name="TextBox 12" id="12"/>
            <p:cNvSpPr txBox="true"/>
            <p:nvPr/>
          </p:nvSpPr>
          <p:spPr>
            <a:xfrm rot="0">
              <a:off x="8535939" y="-57150"/>
              <a:ext cx="9176144" cy="1870710"/>
            </a:xfrm>
            <a:prstGeom prst="rect">
              <a:avLst/>
            </a:prstGeom>
          </p:spPr>
          <p:txBody>
            <a:bodyPr anchor="t" rtlCol="false" tIns="0" lIns="0" bIns="0" rIns="0">
              <a:spAutoFit/>
            </a:bodyPr>
            <a:lstStyle/>
            <a:p>
              <a:pPr algn="ctr">
                <a:lnSpc>
                  <a:spcPts val="3779"/>
                </a:lnSpc>
              </a:pPr>
              <a:r>
                <a:rPr lang="en-US" sz="2700">
                  <a:solidFill>
                    <a:srgbClr val="000000"/>
                  </a:solidFill>
                  <a:latin typeface="Alatsi Bold"/>
                </a:rPr>
                <a:t>Solar Powered Robot for Solid Waste Collection on Water Surfaces</a:t>
              </a:r>
            </a:p>
            <a:p>
              <a:pPr algn="ctr">
                <a:lnSpc>
                  <a:spcPts val="3779"/>
                </a:lnSpc>
              </a:pPr>
            </a:p>
          </p:txBody>
        </p:sp>
        <p:sp>
          <p:nvSpPr>
            <p:cNvPr name="AutoShape 13" id="13"/>
            <p:cNvSpPr/>
            <p:nvPr/>
          </p:nvSpPr>
          <p:spPr>
            <a:xfrm>
              <a:off x="204" y="687046"/>
              <a:ext cx="9473686" cy="25400"/>
            </a:xfrm>
            <a:prstGeom prst="line">
              <a:avLst/>
            </a:prstGeom>
            <a:ln cap="flat" w="152400">
              <a:solidFill>
                <a:srgbClr val="9FC3D0"/>
              </a:solidFill>
              <a:prstDash val="solid"/>
              <a:headEnd type="none" len="sm" w="sm"/>
              <a:tailEnd type="none" len="sm" w="sm"/>
            </a:ln>
          </p:spPr>
        </p:sp>
        <p:sp>
          <p:nvSpPr>
            <p:cNvPr name="AutoShape 14" id="14"/>
            <p:cNvSpPr/>
            <p:nvPr/>
          </p:nvSpPr>
          <p:spPr>
            <a:xfrm>
              <a:off x="16685934" y="674346"/>
              <a:ext cx="9473686" cy="25400"/>
            </a:xfrm>
            <a:prstGeom prst="line">
              <a:avLst/>
            </a:prstGeom>
            <a:ln cap="flat" w="152400">
              <a:solidFill>
                <a:srgbClr val="9FC3D0"/>
              </a:solidFill>
              <a:prstDash val="solid"/>
              <a:headEnd type="none" len="sm" w="sm"/>
              <a:tailEnd type="none" len="sm" w="sm"/>
            </a:ln>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Freeform 2" id="2"/>
          <p:cNvSpPr/>
          <p:nvPr/>
        </p:nvSpPr>
        <p:spPr>
          <a:xfrm flipH="false" flipV="false" rot="0">
            <a:off x="12982861" y="6946508"/>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859155" y="0"/>
            <a:ext cx="1562612" cy="1673225"/>
            <a:chOff x="0" y="0"/>
            <a:chExt cx="2083482" cy="2230967"/>
          </a:xfrm>
        </p:grpSpPr>
        <p:grpSp>
          <p:nvGrpSpPr>
            <p:cNvPr name="Group 4" id="4"/>
            <p:cNvGrpSpPr/>
            <p:nvPr/>
          </p:nvGrpSpPr>
          <p:grpSpPr>
            <a:xfrm rot="0">
              <a:off x="75599" y="0"/>
              <a:ext cx="1932284" cy="2230967"/>
              <a:chOff x="0" y="0"/>
              <a:chExt cx="703982" cy="812800"/>
            </a:xfrm>
          </p:grpSpPr>
          <p:sp>
            <p:nvSpPr>
              <p:cNvPr name="Freeform 5" id="5"/>
              <p:cNvSpPr/>
              <p:nvPr/>
            </p:nvSpPr>
            <p:spPr>
              <a:xfrm flipH="false" flipV="false" rot="0">
                <a:off x="0" y="0"/>
                <a:ext cx="703982" cy="812800"/>
              </a:xfrm>
              <a:custGeom>
                <a:avLst/>
                <a:gdLst/>
                <a:ahLst/>
                <a:cxnLst/>
                <a:rect r="r" b="b" t="t" l="l"/>
                <a:pathLst>
                  <a:path h="812800" w="703982">
                    <a:moveTo>
                      <a:pt x="234787" y="793731"/>
                    </a:moveTo>
                    <a:cubicBezTo>
                      <a:pt x="270879" y="805245"/>
                      <a:pt x="311910" y="812800"/>
                      <a:pt x="352180" y="812800"/>
                    </a:cubicBezTo>
                    <a:cubicBezTo>
                      <a:pt x="392452" y="812800"/>
                      <a:pt x="431204" y="806323"/>
                      <a:pt x="466915" y="794809"/>
                    </a:cubicBezTo>
                    <a:cubicBezTo>
                      <a:pt x="467675" y="794450"/>
                      <a:pt x="468435" y="794450"/>
                      <a:pt x="469194" y="794090"/>
                    </a:cubicBezTo>
                    <a:cubicBezTo>
                      <a:pt x="603304" y="748035"/>
                      <a:pt x="702082" y="626421"/>
                      <a:pt x="703982" y="484298"/>
                    </a:cubicBezTo>
                    <a:lnTo>
                      <a:pt x="703982" y="0"/>
                    </a:lnTo>
                    <a:lnTo>
                      <a:pt x="0" y="0"/>
                    </a:lnTo>
                    <a:lnTo>
                      <a:pt x="0" y="483939"/>
                    </a:lnTo>
                    <a:cubicBezTo>
                      <a:pt x="1900" y="627140"/>
                      <a:pt x="99158" y="748755"/>
                      <a:pt x="234787" y="793731"/>
                    </a:cubicBezTo>
                    <a:close/>
                  </a:path>
                </a:pathLst>
              </a:custGeom>
              <a:solidFill>
                <a:srgbClr val="9FC3D0"/>
              </a:solidFill>
            </p:spPr>
          </p:sp>
          <p:sp>
            <p:nvSpPr>
              <p:cNvPr name="TextBox 6" id="6"/>
              <p:cNvSpPr txBox="true"/>
              <p:nvPr/>
            </p:nvSpPr>
            <p:spPr>
              <a:xfrm>
                <a:off x="0" y="-47625"/>
                <a:ext cx="703982" cy="733425"/>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0" y="437582"/>
              <a:ext cx="2083482" cy="1241504"/>
            </a:xfrm>
            <a:prstGeom prst="rect">
              <a:avLst/>
            </a:prstGeom>
          </p:spPr>
          <p:txBody>
            <a:bodyPr anchor="t" rtlCol="false" tIns="0" lIns="0" bIns="0" rIns="0">
              <a:spAutoFit/>
            </a:bodyPr>
            <a:lstStyle/>
            <a:p>
              <a:pPr algn="ctr">
                <a:lnSpc>
                  <a:spcPts val="7805"/>
                </a:lnSpc>
              </a:pPr>
              <a:r>
                <a:rPr lang="en-US" sz="5575">
                  <a:solidFill>
                    <a:srgbClr val="000000"/>
                  </a:solidFill>
                  <a:latin typeface="Open Sans Bold"/>
                </a:rPr>
                <a:t>15</a:t>
              </a:r>
            </a:p>
          </p:txBody>
        </p:sp>
      </p:grpSp>
      <p:sp>
        <p:nvSpPr>
          <p:cNvPr name="TextBox 8" id="8"/>
          <p:cNvSpPr txBox="true"/>
          <p:nvPr/>
        </p:nvSpPr>
        <p:spPr>
          <a:xfrm rot="0">
            <a:off x="664374" y="1890478"/>
            <a:ext cx="16959251" cy="6909688"/>
          </a:xfrm>
          <a:prstGeom prst="rect">
            <a:avLst/>
          </a:prstGeom>
        </p:spPr>
        <p:txBody>
          <a:bodyPr anchor="t" rtlCol="false" tIns="0" lIns="0" bIns="0" rIns="0">
            <a:spAutoFit/>
          </a:bodyPr>
          <a:lstStyle/>
          <a:p>
            <a:pPr algn="l" marL="578391" indent="-289196" lvl="1">
              <a:lnSpc>
                <a:spcPts val="4232"/>
              </a:lnSpc>
              <a:buFont typeface="Arial"/>
              <a:buChar char="•"/>
            </a:pPr>
            <a:r>
              <a:rPr lang="en-US" sz="2678">
                <a:solidFill>
                  <a:srgbClr val="000000"/>
                </a:solidFill>
                <a:latin typeface="Alatsi Bold"/>
              </a:rPr>
              <a:t>P</a:t>
            </a:r>
            <a:r>
              <a:rPr lang="en-US" sz="2678">
                <a:solidFill>
                  <a:srgbClr val="000000"/>
                </a:solidFill>
                <a:latin typeface="Alatsi Bold"/>
              </a:rPr>
              <a:t>atel, K., &amp; Shah, D. (2018). "Design and Implementation of Solar-Powered Unmanned Surface Vehicle for Coastal Waste Management." Oceanographic Engineering, 29(4), 221-234.</a:t>
            </a:r>
          </a:p>
          <a:p>
            <a:pPr algn="l" marL="578391" indent="-289196" lvl="1">
              <a:lnSpc>
                <a:spcPts val="4232"/>
              </a:lnSpc>
              <a:buFont typeface="Arial"/>
              <a:buChar char="•"/>
            </a:pPr>
            <a:r>
              <a:rPr lang="en-US" sz="2678">
                <a:solidFill>
                  <a:srgbClr val="000000"/>
                </a:solidFill>
                <a:latin typeface="Alatsi Bold"/>
              </a:rPr>
              <a:t>Singh</a:t>
            </a:r>
            <a:r>
              <a:rPr lang="en-US" sz="2678">
                <a:solidFill>
                  <a:srgbClr val="000000"/>
                </a:solidFill>
                <a:latin typeface="Alatsi Bold"/>
              </a:rPr>
              <a:t>, V., &amp; Jain, R. (2019). "Autonomous Marine Debris Collection Using Solar-Powered Drones: A Comparative Study." Journal of Applied Robotics, 32(3), 176-18</a:t>
            </a:r>
            <a:r>
              <a:rPr lang="en-US" sz="2678">
                <a:solidFill>
                  <a:srgbClr val="000000"/>
                </a:solidFill>
                <a:latin typeface="Alatsi Bold"/>
              </a:rPr>
              <a:t>9.</a:t>
            </a:r>
          </a:p>
          <a:p>
            <a:pPr algn="l" marL="578391" indent="-289196" lvl="1">
              <a:lnSpc>
                <a:spcPts val="4232"/>
              </a:lnSpc>
              <a:buFont typeface="Arial"/>
              <a:buChar char="•"/>
            </a:pPr>
            <a:r>
              <a:rPr lang="en-US" sz="2678">
                <a:solidFill>
                  <a:srgbClr val="000000"/>
                </a:solidFill>
                <a:latin typeface="Alatsi Bold"/>
              </a:rPr>
              <a:t>C</a:t>
            </a:r>
            <a:r>
              <a:rPr lang="en-US" sz="2678">
                <a:solidFill>
                  <a:srgbClr val="000000"/>
                </a:solidFill>
                <a:latin typeface="Alatsi Bold"/>
              </a:rPr>
              <a:t>hen, Y., &amp; Wang, H. (2021). "Robotic Waste Collector for Urban Water Bodies: A Case Study in Shanghai." Waste Management and Resource Recovery, 40(1), 56-68.</a:t>
            </a:r>
          </a:p>
          <a:p>
            <a:pPr algn="l" marL="578391" indent="-289196" lvl="1">
              <a:lnSpc>
                <a:spcPts val="4232"/>
              </a:lnSpc>
              <a:buFont typeface="Arial"/>
              <a:buChar char="•"/>
            </a:pPr>
            <a:r>
              <a:rPr lang="en-US" sz="2678">
                <a:solidFill>
                  <a:srgbClr val="000000"/>
                </a:solidFill>
                <a:latin typeface="Alatsi Bold"/>
              </a:rPr>
              <a:t>Lee</a:t>
            </a:r>
            <a:r>
              <a:rPr lang="en-US" sz="2678">
                <a:solidFill>
                  <a:srgbClr val="000000"/>
                </a:solidFill>
                <a:latin typeface="Alatsi Bold"/>
              </a:rPr>
              <a:t>, S., &amp; Kim, J. (2018). "Solar-Powered Robot for Solid Waste Collection in Riverine Ecosystems: Design and Field Testing." Ecological Engineering, 42(2), 78-91.</a:t>
            </a:r>
          </a:p>
          <a:p>
            <a:pPr algn="l" marL="578391" indent="-289196" lvl="1">
              <a:lnSpc>
                <a:spcPts val="4232"/>
              </a:lnSpc>
              <a:buFont typeface="Arial"/>
              <a:buChar char="•"/>
            </a:pPr>
            <a:r>
              <a:rPr lang="en-US" sz="2678">
                <a:solidFill>
                  <a:srgbClr val="000000"/>
                </a:solidFill>
                <a:latin typeface="Alatsi Bold"/>
              </a:rPr>
              <a:t>Gupt</a:t>
            </a:r>
            <a:r>
              <a:rPr lang="en-US" sz="2678">
                <a:solidFill>
                  <a:srgbClr val="000000"/>
                </a:solidFill>
                <a:latin typeface="Alatsi Bold"/>
              </a:rPr>
              <a:t>a, A., &amp; Sharma, R. (2019). "Sustainable Robotics for Environmental Cleanup: Challenges and Future Directions." Sustainability Science, 25(3), 189-201.</a:t>
            </a:r>
          </a:p>
          <a:p>
            <a:pPr algn="l" marL="578391" indent="-289196" lvl="1">
              <a:lnSpc>
                <a:spcPts val="4232"/>
              </a:lnSpc>
              <a:buFont typeface="Arial"/>
              <a:buChar char="•"/>
            </a:pPr>
            <a:r>
              <a:rPr lang="en-US" sz="2678">
                <a:solidFill>
                  <a:srgbClr val="000000"/>
                </a:solidFill>
                <a:latin typeface="Alatsi Bold"/>
              </a:rPr>
              <a:t>Kum</a:t>
            </a:r>
            <a:r>
              <a:rPr lang="en-US" sz="2678">
                <a:solidFill>
                  <a:srgbClr val="000000"/>
                </a:solidFill>
                <a:latin typeface="Alatsi Bold"/>
              </a:rPr>
              <a:t>ar, S., &amp; Mishra, N. (2020). "Emerging Trends in Renewable Energy-Powered Robotics for Environmental Conservation: A Systematic Review." Renewable and Sustainable Energy Reviews, 55(4), 432-445.</a:t>
            </a:r>
          </a:p>
          <a:p>
            <a:pPr algn="l">
              <a:lnSpc>
                <a:spcPts val="4232"/>
              </a:lnSpc>
            </a:pPr>
          </a:p>
        </p:txBody>
      </p:sp>
      <p:sp>
        <p:nvSpPr>
          <p:cNvPr name="Freeform 9" id="9"/>
          <p:cNvSpPr/>
          <p:nvPr/>
        </p:nvSpPr>
        <p:spPr>
          <a:xfrm flipH="false" flipV="false" rot="0">
            <a:off x="-3009325" y="-40227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665934" y="8916735"/>
            <a:ext cx="19619868" cy="1360170"/>
            <a:chOff x="0" y="0"/>
            <a:chExt cx="26159824" cy="1813560"/>
          </a:xfrm>
        </p:grpSpPr>
        <p:sp>
          <p:nvSpPr>
            <p:cNvPr name="TextBox 11" id="11"/>
            <p:cNvSpPr txBox="true"/>
            <p:nvPr/>
          </p:nvSpPr>
          <p:spPr>
            <a:xfrm rot="0">
              <a:off x="8535939" y="-57150"/>
              <a:ext cx="9176144" cy="1870710"/>
            </a:xfrm>
            <a:prstGeom prst="rect">
              <a:avLst/>
            </a:prstGeom>
          </p:spPr>
          <p:txBody>
            <a:bodyPr anchor="t" rtlCol="false" tIns="0" lIns="0" bIns="0" rIns="0">
              <a:spAutoFit/>
            </a:bodyPr>
            <a:lstStyle/>
            <a:p>
              <a:pPr algn="ctr">
                <a:lnSpc>
                  <a:spcPts val="3779"/>
                </a:lnSpc>
              </a:pPr>
              <a:r>
                <a:rPr lang="en-US" sz="2700">
                  <a:solidFill>
                    <a:srgbClr val="000000"/>
                  </a:solidFill>
                  <a:latin typeface="Alatsi Bold"/>
                </a:rPr>
                <a:t>Solar Powered Robot for Solid Waste Collection on Water Surfaces</a:t>
              </a:r>
            </a:p>
            <a:p>
              <a:pPr algn="ctr">
                <a:lnSpc>
                  <a:spcPts val="3779"/>
                </a:lnSpc>
              </a:pPr>
            </a:p>
          </p:txBody>
        </p:sp>
        <p:sp>
          <p:nvSpPr>
            <p:cNvPr name="AutoShape 12" id="12"/>
            <p:cNvSpPr/>
            <p:nvPr/>
          </p:nvSpPr>
          <p:spPr>
            <a:xfrm>
              <a:off x="204" y="687046"/>
              <a:ext cx="9473686" cy="25400"/>
            </a:xfrm>
            <a:prstGeom prst="line">
              <a:avLst/>
            </a:prstGeom>
            <a:ln cap="flat" w="152400">
              <a:solidFill>
                <a:srgbClr val="9FC3D0"/>
              </a:solidFill>
              <a:prstDash val="solid"/>
              <a:headEnd type="none" len="sm" w="sm"/>
              <a:tailEnd type="none" len="sm" w="sm"/>
            </a:ln>
          </p:spPr>
        </p:sp>
        <p:sp>
          <p:nvSpPr>
            <p:cNvPr name="AutoShape 13" id="13"/>
            <p:cNvSpPr/>
            <p:nvPr/>
          </p:nvSpPr>
          <p:spPr>
            <a:xfrm>
              <a:off x="16685934" y="674346"/>
              <a:ext cx="9473686" cy="25400"/>
            </a:xfrm>
            <a:prstGeom prst="line">
              <a:avLst/>
            </a:prstGeom>
            <a:ln cap="flat" w="152400">
              <a:solidFill>
                <a:srgbClr val="9FC3D0"/>
              </a:solidFill>
              <a:prstDash val="solid"/>
              <a:headEnd type="none" len="sm" w="sm"/>
              <a:tailEnd type="none" len="sm" w="sm"/>
            </a:ln>
          </p:spPr>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6F3EB"/>
        </a:solidFill>
      </p:bgPr>
    </p:bg>
    <p:spTree>
      <p:nvGrpSpPr>
        <p:cNvPr id="1" name=""/>
        <p:cNvGrpSpPr/>
        <p:nvPr/>
      </p:nvGrpSpPr>
      <p:grpSpPr>
        <a:xfrm>
          <a:off x="0" y="0"/>
          <a:ext cx="0" cy="0"/>
          <a:chOff x="0" y="0"/>
          <a:chExt cx="0" cy="0"/>
        </a:xfrm>
      </p:grpSpPr>
      <p:sp>
        <p:nvSpPr>
          <p:cNvPr name="TextBox 2" id="2"/>
          <p:cNvSpPr txBox="true"/>
          <p:nvPr/>
        </p:nvSpPr>
        <p:spPr>
          <a:xfrm rot="0">
            <a:off x="4554977" y="3748035"/>
            <a:ext cx="11627497" cy="2514704"/>
          </a:xfrm>
          <a:prstGeom prst="rect">
            <a:avLst/>
          </a:prstGeom>
        </p:spPr>
        <p:txBody>
          <a:bodyPr anchor="t" rtlCol="false" tIns="0" lIns="0" bIns="0" rIns="0">
            <a:spAutoFit/>
          </a:bodyPr>
          <a:lstStyle/>
          <a:p>
            <a:pPr algn="ctr">
              <a:lnSpc>
                <a:spcPts val="20573"/>
              </a:lnSpc>
            </a:pPr>
            <a:r>
              <a:rPr lang="en-US" sz="14695">
                <a:solidFill>
                  <a:srgbClr val="000000"/>
                </a:solidFill>
                <a:latin typeface="Alatsi Bold"/>
              </a:rPr>
              <a:t>THANK YOU</a:t>
            </a:r>
          </a:p>
        </p:txBody>
      </p:sp>
      <p:grpSp>
        <p:nvGrpSpPr>
          <p:cNvPr name="Group 3" id="3"/>
          <p:cNvGrpSpPr/>
          <p:nvPr/>
        </p:nvGrpSpPr>
        <p:grpSpPr>
          <a:xfrm rot="0">
            <a:off x="-31071" y="0"/>
            <a:ext cx="4239083" cy="10287000"/>
            <a:chOff x="0" y="0"/>
            <a:chExt cx="5652111" cy="13716000"/>
          </a:xfrm>
        </p:grpSpPr>
        <p:grpSp>
          <p:nvGrpSpPr>
            <p:cNvPr name="Group 4" id="4"/>
            <p:cNvGrpSpPr/>
            <p:nvPr/>
          </p:nvGrpSpPr>
          <p:grpSpPr>
            <a:xfrm rot="0">
              <a:off x="2826056" y="0"/>
              <a:ext cx="2826056" cy="13716000"/>
              <a:chOff x="0" y="0"/>
              <a:chExt cx="558233" cy="2709333"/>
            </a:xfrm>
          </p:grpSpPr>
          <p:sp>
            <p:nvSpPr>
              <p:cNvPr name="Freeform 5" id="5"/>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E0D9"/>
              </a:solidFill>
            </p:spPr>
          </p:sp>
          <p:sp>
            <p:nvSpPr>
              <p:cNvPr name="TextBox 6" id="6"/>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413028" y="0"/>
              <a:ext cx="2826056" cy="13716000"/>
              <a:chOff x="0" y="0"/>
              <a:chExt cx="558233" cy="2709333"/>
            </a:xfrm>
          </p:grpSpPr>
          <p:sp>
            <p:nvSpPr>
              <p:cNvPr name="Freeform 8" id="8"/>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9FC3D0"/>
              </a:solidFill>
            </p:spPr>
          </p:sp>
          <p:sp>
            <p:nvSpPr>
              <p:cNvPr name="TextBox 9" id="9"/>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0" y="0"/>
              <a:ext cx="2826056" cy="13716000"/>
              <a:chOff x="0" y="0"/>
              <a:chExt cx="558233" cy="2709333"/>
            </a:xfrm>
          </p:grpSpPr>
          <p:sp>
            <p:nvSpPr>
              <p:cNvPr name="Freeform 11" id="11"/>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E9C7C6"/>
              </a:solidFill>
            </p:spPr>
          </p:sp>
          <p:sp>
            <p:nvSpPr>
              <p:cNvPr name="TextBox 12" id="12"/>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sp>
        <p:nvSpPr>
          <p:cNvPr name="Freeform 13" id="13"/>
          <p:cNvSpPr/>
          <p:nvPr/>
        </p:nvSpPr>
        <p:spPr>
          <a:xfrm flipH="false" flipV="false" rot="0">
            <a:off x="13426434" y="6969475"/>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3225200" y="-210192"/>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5" id="15"/>
          <p:cNvGrpSpPr/>
          <p:nvPr/>
        </p:nvGrpSpPr>
        <p:grpSpPr>
          <a:xfrm rot="0">
            <a:off x="-665934" y="8916735"/>
            <a:ext cx="19619868" cy="1360170"/>
            <a:chOff x="0" y="0"/>
            <a:chExt cx="26159824" cy="1813560"/>
          </a:xfrm>
        </p:grpSpPr>
        <p:sp>
          <p:nvSpPr>
            <p:cNvPr name="TextBox 16" id="16"/>
            <p:cNvSpPr txBox="true"/>
            <p:nvPr/>
          </p:nvSpPr>
          <p:spPr>
            <a:xfrm rot="0">
              <a:off x="8535939" y="-57150"/>
              <a:ext cx="9176144" cy="1870710"/>
            </a:xfrm>
            <a:prstGeom prst="rect">
              <a:avLst/>
            </a:prstGeom>
          </p:spPr>
          <p:txBody>
            <a:bodyPr anchor="t" rtlCol="false" tIns="0" lIns="0" bIns="0" rIns="0">
              <a:spAutoFit/>
            </a:bodyPr>
            <a:lstStyle/>
            <a:p>
              <a:pPr algn="ctr">
                <a:lnSpc>
                  <a:spcPts val="3779"/>
                </a:lnSpc>
              </a:pPr>
              <a:r>
                <a:rPr lang="en-US" sz="2700">
                  <a:solidFill>
                    <a:srgbClr val="000000"/>
                  </a:solidFill>
                  <a:latin typeface="Alatsi Bold"/>
                </a:rPr>
                <a:t>Solar Powered Robot for Solid Waste Collection on Water Surfaces</a:t>
              </a:r>
            </a:p>
            <a:p>
              <a:pPr algn="ctr">
                <a:lnSpc>
                  <a:spcPts val="3779"/>
                </a:lnSpc>
              </a:pPr>
            </a:p>
          </p:txBody>
        </p:sp>
        <p:sp>
          <p:nvSpPr>
            <p:cNvPr name="AutoShape 17" id="17"/>
            <p:cNvSpPr/>
            <p:nvPr/>
          </p:nvSpPr>
          <p:spPr>
            <a:xfrm>
              <a:off x="204" y="687046"/>
              <a:ext cx="9473686" cy="25400"/>
            </a:xfrm>
            <a:prstGeom prst="line">
              <a:avLst/>
            </a:prstGeom>
            <a:ln cap="flat" w="152400">
              <a:solidFill>
                <a:srgbClr val="9FC3D0"/>
              </a:solidFill>
              <a:prstDash val="solid"/>
              <a:headEnd type="none" len="sm" w="sm"/>
              <a:tailEnd type="none" len="sm" w="sm"/>
            </a:ln>
          </p:spPr>
        </p:sp>
        <p:sp>
          <p:nvSpPr>
            <p:cNvPr name="AutoShape 18" id="18"/>
            <p:cNvSpPr/>
            <p:nvPr/>
          </p:nvSpPr>
          <p:spPr>
            <a:xfrm>
              <a:off x="16685934" y="674346"/>
              <a:ext cx="9473686" cy="25400"/>
            </a:xfrm>
            <a:prstGeom prst="line">
              <a:avLst/>
            </a:prstGeom>
            <a:ln cap="flat" w="152400">
              <a:solidFill>
                <a:srgbClr val="9FC3D0"/>
              </a:solidFill>
              <a:prstDash val="solid"/>
              <a:headEnd type="none" len="sm" w="sm"/>
              <a:tailEnd type="none" len="sm" w="sm"/>
            </a:ln>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DAGFuoraO_s</dc:identifier>
  <dcterms:modified xsi:type="dcterms:W3CDTF">2011-08-01T06:04:30Z</dcterms:modified>
  <cp:revision>1</cp:revision>
  <dc:title>Solar powered ppt</dc:title>
</cp:coreProperties>
</file>