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75"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Lst>
  <p:sldSz cx="18288000" cy="10287000"/>
  <p:notesSz cx="6858000" cy="9144000"/>
  <p:embeddedFontLst>
    <p:embeddedFont>
      <p:font typeface="Alatsi" panose="020B0604020202020204" charset="0"/>
      <p:regular r:id="rId19"/>
    </p:embeddedFont>
    <p:embeddedFont>
      <p:font typeface="Calibri (MS)" panose="020B0604020202020204" charset="0"/>
      <p:regular r:id="rId20"/>
    </p:embeddedFont>
    <p:embeddedFont>
      <p:font typeface="Calibri (MS) Bold" panose="020B0604020202020204" charset="0"/>
      <p:regular r:id="rId21"/>
    </p:embeddedFont>
    <p:embeddedFont>
      <p:font typeface="Open Sans Bold" panose="020B0604020202020204" charset="0"/>
      <p:regular r:id="rId22"/>
    </p:embeddedFont>
    <p:embeddedFont>
      <p:font typeface="Times New Roman Medium" panose="020B0604020202020204" charset="0"/>
      <p:regular r:id="rId23"/>
    </p:embeddedFont>
    <p:embeddedFont>
      <p:font typeface="Times New Roman Semi-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75" autoAdjust="0"/>
    <p:restoredTop sz="94622" autoAdjust="0"/>
  </p:normalViewPr>
  <p:slideViewPr>
    <p:cSldViewPr>
      <p:cViewPr varScale="1">
        <p:scale>
          <a:sx n="52" d="100"/>
          <a:sy n="52" d="100"/>
        </p:scale>
        <p:origin x="955"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E0F47-B55B-A2EF-46A2-F6BF6F9373CA}"/>
              </a:ext>
            </a:extLst>
          </p:cNvPr>
          <p:cNvSpPr>
            <a:spLocks noGrp="1"/>
          </p:cNvSpPr>
          <p:nvPr>
            <p:ph type="ctrTitle"/>
          </p:nvPr>
        </p:nvSpPr>
        <p:spPr>
          <a:xfrm>
            <a:off x="0" y="0"/>
            <a:ext cx="18288000" cy="1214409"/>
          </a:xfrm>
        </p:spPr>
        <p:style>
          <a:lnRef idx="1">
            <a:schemeClr val="accent1"/>
          </a:lnRef>
          <a:fillRef idx="3">
            <a:schemeClr val="accent1"/>
          </a:fillRef>
          <a:effectRef idx="2">
            <a:schemeClr val="accent1"/>
          </a:effectRef>
          <a:fontRef idx="minor">
            <a:schemeClr val="lt1"/>
          </a:fontRef>
        </p:style>
        <p:txBody>
          <a:bodyPr>
            <a:noAutofit/>
          </a:bodyPr>
          <a:lstStyle/>
          <a:p>
            <a:pPr>
              <a:lnSpc>
                <a:spcPct val="150000"/>
              </a:lnSpc>
            </a:pPr>
            <a:r>
              <a:rPr lang="en-IN" dirty="0">
                <a:solidFill>
                  <a:schemeClr val="bg1"/>
                </a:solidFill>
                <a:latin typeface="Times New Roman" pitchFamily="18" charset="0"/>
                <a:cs typeface="Times New Roman" pitchFamily="18" charset="0"/>
              </a:rPr>
              <a:t>SMART WATER QUALITY MONITORING SYSTEM</a:t>
            </a:r>
            <a:endParaRPr lang="en-US" b="1" dirty="0">
              <a:solidFill>
                <a:schemeClr val="bg1"/>
              </a:solidFill>
              <a:latin typeface="Times New Roman" pitchFamily="18" charset="0"/>
              <a:cs typeface="Times New Roman" pitchFamily="18" charset="0"/>
            </a:endParaRPr>
          </a:p>
        </p:txBody>
      </p:sp>
      <p:sp>
        <p:nvSpPr>
          <p:cNvPr id="11" name="TextBox 10">
            <a:extLst>
              <a:ext uri="{FF2B5EF4-FFF2-40B4-BE49-F238E27FC236}">
                <a16:creationId xmlns:a16="http://schemas.microsoft.com/office/drawing/2014/main" id="{8F6C4F5D-2F0C-4503-9B3C-E21286A4B148}"/>
              </a:ext>
            </a:extLst>
          </p:cNvPr>
          <p:cNvSpPr txBox="1"/>
          <p:nvPr/>
        </p:nvSpPr>
        <p:spPr>
          <a:xfrm>
            <a:off x="8143868" y="9594502"/>
            <a:ext cx="3499755" cy="692498"/>
          </a:xfrm>
          <a:prstGeom prst="rect">
            <a:avLst/>
          </a:prstGeom>
          <a:noFill/>
        </p:spPr>
        <p:txBody>
          <a:bodyPr wrap="square" lIns="137160" tIns="68580" rIns="137160" bIns="68580" rtlCol="0">
            <a:spAutoFit/>
          </a:bodyPr>
          <a:lstStyle/>
          <a:p>
            <a:pPr defTabSz="1371600">
              <a:defRPr/>
            </a:pPr>
            <a:r>
              <a:rPr lang="en-US" sz="3600" b="1" dirty="0">
                <a:solidFill>
                  <a:srgbClr val="70AD47">
                    <a:lumMod val="50000"/>
                  </a:srgbClr>
                </a:solidFill>
                <a:effectLst>
                  <a:outerShdw blurRad="38100" dist="38100" dir="2700000" algn="tl">
                    <a:srgbClr val="000000">
                      <a:alpha val="43137"/>
                    </a:srgbClr>
                  </a:outerShdw>
                </a:effectLst>
                <a:latin typeface="Calibri" panose="020F0502020204030204"/>
              </a:rPr>
              <a:t>FEB 2025</a:t>
            </a:r>
            <a:endParaRPr lang="en-IN" sz="3600" b="1" dirty="0">
              <a:solidFill>
                <a:srgbClr val="70AD47">
                  <a:lumMod val="50000"/>
                </a:srgbClr>
              </a:solidFill>
              <a:effectLst>
                <a:outerShdw blurRad="38100" dist="38100" dir="2700000" algn="tl">
                  <a:srgbClr val="000000">
                    <a:alpha val="43137"/>
                  </a:srgbClr>
                </a:outerShdw>
              </a:effectLst>
              <a:latin typeface="Calibri" panose="020F0502020204030204"/>
            </a:endParaRPr>
          </a:p>
        </p:txBody>
      </p:sp>
      <p:sp>
        <p:nvSpPr>
          <p:cNvPr id="14" name="TextBox 13">
            <a:extLst>
              <a:ext uri="{FF2B5EF4-FFF2-40B4-BE49-F238E27FC236}">
                <a16:creationId xmlns:a16="http://schemas.microsoft.com/office/drawing/2014/main" id="{65C38108-E388-4BF4-A0F0-3B00917FAA6D}"/>
              </a:ext>
            </a:extLst>
          </p:cNvPr>
          <p:cNvSpPr txBox="1"/>
          <p:nvPr/>
        </p:nvSpPr>
        <p:spPr>
          <a:xfrm>
            <a:off x="2519264" y="1615108"/>
            <a:ext cx="13816572" cy="1523494"/>
          </a:xfrm>
          <a:prstGeom prst="rect">
            <a:avLst/>
          </a:prstGeom>
          <a:noFill/>
        </p:spPr>
        <p:txBody>
          <a:bodyPr wrap="square" lIns="137160" tIns="68580" rIns="137160" bIns="68580" rtlCol="0">
            <a:spAutoFit/>
          </a:bodyPr>
          <a:lstStyle/>
          <a:p>
            <a:pPr algn="ctr" defTabSz="1371600">
              <a:defRPr/>
            </a:pPr>
            <a:r>
              <a:rPr lang="en-US" sz="3000" b="1" i="1" dirty="0">
                <a:solidFill>
                  <a:srgbClr val="4472C4">
                    <a:lumMod val="50000"/>
                  </a:srgbClr>
                </a:solidFill>
                <a:latin typeface="Calibri" panose="020F0502020204030204"/>
              </a:rPr>
              <a:t>Project Work done in partial fulfilment of the requirement for the degree of</a:t>
            </a:r>
          </a:p>
          <a:p>
            <a:pPr algn="ctr" defTabSz="1371600">
              <a:defRPr/>
            </a:pPr>
            <a:r>
              <a:rPr lang="en-IN" sz="3000" b="1" i="1" dirty="0">
                <a:solidFill>
                  <a:srgbClr val="70AD47">
                    <a:lumMod val="50000"/>
                  </a:srgbClr>
                </a:solidFill>
              </a:rPr>
              <a:t>FACULTY OF ENGINEERING &amp;TECHNOLOGY</a:t>
            </a:r>
          </a:p>
          <a:p>
            <a:pPr algn="ctr" defTabSz="1371600">
              <a:defRPr/>
            </a:pPr>
            <a:r>
              <a:rPr lang="en-IN" sz="3000" b="1" i="1" dirty="0">
                <a:solidFill>
                  <a:srgbClr val="70AD47">
                    <a:lumMod val="50000"/>
                  </a:srgbClr>
                </a:solidFill>
              </a:rPr>
              <a:t>FIRST YEAR</a:t>
            </a:r>
          </a:p>
        </p:txBody>
      </p:sp>
      <p:sp>
        <p:nvSpPr>
          <p:cNvPr id="20" name="Rectangle 19">
            <a:extLst>
              <a:ext uri="{FF2B5EF4-FFF2-40B4-BE49-F238E27FC236}">
                <a16:creationId xmlns:a16="http://schemas.microsoft.com/office/drawing/2014/main" id="{A793A74D-2201-451F-9921-CB049E8DA255}"/>
              </a:ext>
            </a:extLst>
          </p:cNvPr>
          <p:cNvSpPr/>
          <p:nvPr/>
        </p:nvSpPr>
        <p:spPr>
          <a:xfrm>
            <a:off x="8191538" y="4938780"/>
            <a:ext cx="2472023" cy="523220"/>
          </a:xfrm>
          <a:prstGeom prst="rect">
            <a:avLst/>
          </a:prstGeom>
        </p:spPr>
        <p:txBody>
          <a:bodyPr wrap="none">
            <a:spAutoFit/>
          </a:bodyPr>
          <a:lstStyle/>
          <a:p>
            <a:pPr defTabSz="1371600" rtl="1">
              <a:defRPr/>
            </a:pPr>
            <a:r>
              <a:rPr lang="en-US" sz="2800" b="1" dirty="0">
                <a:solidFill>
                  <a:srgbClr val="4472C4">
                    <a:lumMod val="50000"/>
                  </a:srgbClr>
                </a:solidFill>
              </a:rPr>
              <a:t>Students Name</a:t>
            </a:r>
            <a:endParaRPr lang="en-IN" sz="2000" dirty="0">
              <a:solidFill>
                <a:srgbClr val="70AD47">
                  <a:lumMod val="50000"/>
                </a:srgbClr>
              </a:solidFill>
              <a:latin typeface="Calibri" panose="020F0502020204030204"/>
            </a:endParaRPr>
          </a:p>
        </p:txBody>
      </p:sp>
      <p:sp>
        <p:nvSpPr>
          <p:cNvPr id="24" name="Rectangle 23">
            <a:extLst>
              <a:ext uri="{FF2B5EF4-FFF2-40B4-BE49-F238E27FC236}">
                <a16:creationId xmlns:a16="http://schemas.microsoft.com/office/drawing/2014/main" id="{A793A74D-2201-451F-9921-CB049E8DA255}"/>
              </a:ext>
            </a:extLst>
          </p:cNvPr>
          <p:cNvSpPr/>
          <p:nvPr/>
        </p:nvSpPr>
        <p:spPr>
          <a:xfrm>
            <a:off x="7955309" y="8308618"/>
            <a:ext cx="2377382" cy="523220"/>
          </a:xfrm>
          <a:prstGeom prst="rect">
            <a:avLst/>
          </a:prstGeom>
        </p:spPr>
        <p:txBody>
          <a:bodyPr wrap="none">
            <a:spAutoFit/>
          </a:bodyPr>
          <a:lstStyle/>
          <a:p>
            <a:pPr algn="ctr" defTabSz="1371600" rtl="1">
              <a:defRPr/>
            </a:pPr>
            <a:r>
              <a:rPr lang="en-US" sz="2800" b="1" dirty="0">
                <a:solidFill>
                  <a:srgbClr val="4472C4">
                    <a:lumMod val="50000"/>
                  </a:srgbClr>
                </a:solidFill>
              </a:rPr>
              <a:t>College Details</a:t>
            </a:r>
            <a:endParaRPr lang="en-IN" sz="2000" dirty="0">
              <a:solidFill>
                <a:srgbClr val="70AD47">
                  <a:lumMod val="50000"/>
                </a:srgbClr>
              </a:solidFill>
              <a:latin typeface="Calibri" panose="020F0502020204030204"/>
            </a:endParaRPr>
          </a:p>
        </p:txBody>
      </p:sp>
    </p:spTree>
    <p:extLst>
      <p:ext uri="{BB962C8B-B14F-4D97-AF65-F5344CB8AC3E}">
        <p14:creationId xmlns:p14="http://schemas.microsoft.com/office/powerpoint/2010/main" val="3119675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500266" y="0"/>
            <a:ext cx="13180039" cy="1450976"/>
          </a:xfrm>
          <a:prstGeom prst="rect">
            <a:avLst/>
          </a:prstGeom>
        </p:spPr>
        <p:txBody>
          <a:bodyPr lIns="0" tIns="0" rIns="0" bIns="0" rtlCol="0" anchor="t">
            <a:spAutoFit/>
          </a:bodyPr>
          <a:lstStyle/>
          <a:p>
            <a:pPr algn="ctr">
              <a:lnSpc>
                <a:spcPts val="11899"/>
              </a:lnSpc>
            </a:pPr>
            <a:r>
              <a:rPr lang="en-US" sz="8499" dirty="0">
                <a:solidFill>
                  <a:srgbClr val="000000"/>
                </a:solidFill>
                <a:latin typeface="Alatsi"/>
                <a:ea typeface="Alatsi"/>
                <a:cs typeface="Alatsi"/>
                <a:sym typeface="Alatsi"/>
              </a:rPr>
              <a:t>ABSTRACT</a:t>
            </a:r>
          </a:p>
        </p:txBody>
      </p:sp>
      <p:sp>
        <p:nvSpPr>
          <p:cNvPr id="3" name="TextBox 3"/>
          <p:cNvSpPr txBox="1"/>
          <p:nvPr/>
        </p:nvSpPr>
        <p:spPr>
          <a:xfrm>
            <a:off x="15939040" y="8740214"/>
            <a:ext cx="1562612" cy="959703"/>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1</a:t>
            </a:r>
          </a:p>
        </p:txBody>
      </p:sp>
      <p:grpSp>
        <p:nvGrpSpPr>
          <p:cNvPr id="4" name="Group 4"/>
          <p:cNvGrpSpPr/>
          <p:nvPr/>
        </p:nvGrpSpPr>
        <p:grpSpPr>
          <a:xfrm>
            <a:off x="0" y="9258300"/>
            <a:ext cx="11543796" cy="441617"/>
            <a:chOff x="0" y="0"/>
            <a:chExt cx="15391728" cy="588823"/>
          </a:xfrm>
        </p:grpSpPr>
        <p:sp>
          <p:nvSpPr>
            <p:cNvPr id="5" name="AutoShape 5"/>
            <p:cNvSpPr/>
            <p:nvPr/>
          </p:nvSpPr>
          <p:spPr>
            <a:xfrm>
              <a:off x="0" y="345211"/>
              <a:ext cx="10819962" cy="0"/>
            </a:xfrm>
            <a:prstGeom prst="line">
              <a:avLst/>
            </a:prstGeom>
            <a:ln w="101600" cap="flat">
              <a:solidFill>
                <a:srgbClr val="0F4662"/>
              </a:solidFill>
              <a:prstDash val="solid"/>
              <a:headEnd type="none" w="sm" len="sm"/>
              <a:tailEnd type="none" w="sm" len="sm"/>
            </a:ln>
          </p:spPr>
        </p:sp>
        <p:sp>
          <p:nvSpPr>
            <p:cNvPr id="6" name="Freeform 6"/>
            <p:cNvSpPr/>
            <p:nvPr/>
          </p:nvSpPr>
          <p:spPr>
            <a:xfrm>
              <a:off x="11433257" y="0"/>
              <a:ext cx="3958471" cy="588823"/>
            </a:xfrm>
            <a:custGeom>
              <a:avLst/>
              <a:gdLst/>
              <a:ahLst/>
              <a:cxnLst/>
              <a:rect l="l" t="t" r="r" b="b"/>
              <a:pathLst>
                <a:path w="3958471" h="588823">
                  <a:moveTo>
                    <a:pt x="0" y="0"/>
                  </a:moveTo>
                  <a:lnTo>
                    <a:pt x="3958471" y="0"/>
                  </a:lnTo>
                  <a:lnTo>
                    <a:pt x="3958471" y="588823"/>
                  </a:lnTo>
                  <a:lnTo>
                    <a:pt x="0" y="5888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7" name="TextBox 7"/>
          <p:cNvSpPr txBox="1"/>
          <p:nvPr/>
        </p:nvSpPr>
        <p:spPr>
          <a:xfrm>
            <a:off x="1571572" y="1500162"/>
            <a:ext cx="15152691" cy="7806689"/>
          </a:xfrm>
          <a:prstGeom prst="rect">
            <a:avLst/>
          </a:prstGeom>
        </p:spPr>
        <p:txBody>
          <a:bodyPr lIns="0" tIns="0" rIns="0" bIns="0" rtlCol="0" anchor="t">
            <a:spAutoFit/>
          </a:bodyPr>
          <a:lstStyle/>
          <a:p>
            <a:pPr marL="720259" lvl="1" indent="-360129" algn="just">
              <a:lnSpc>
                <a:spcPts val="4670"/>
              </a:lnSpc>
              <a:buFont typeface="Arial"/>
              <a:buChar char="•"/>
            </a:pPr>
            <a:r>
              <a:rPr lang="en-IN" sz="3600" dirty="0"/>
              <a:t>The Smart Water Monitoring System is an innovative solution designed to monitor and manage water quality by measuring crucial parameters such as pH and temperature. </a:t>
            </a:r>
          </a:p>
          <a:p>
            <a:pPr marL="720259" lvl="1" indent="-360129" algn="just">
              <a:lnSpc>
                <a:spcPts val="4670"/>
              </a:lnSpc>
              <a:buFont typeface="Arial"/>
              <a:buChar char="•"/>
            </a:pPr>
            <a:r>
              <a:rPr lang="en-IN" sz="3600" dirty="0"/>
              <a:t>This system uses advanced sensors connected to an ESP8266 microcontroller, which transmits real-time data to the </a:t>
            </a:r>
            <a:r>
              <a:rPr lang="en-IN" sz="3600" dirty="0" err="1"/>
              <a:t>Blynk</a:t>
            </a:r>
            <a:r>
              <a:rPr lang="en-IN" sz="3600" dirty="0"/>
              <a:t> </a:t>
            </a:r>
            <a:r>
              <a:rPr lang="en-IN" sz="3600" dirty="0" err="1"/>
              <a:t>IoT</a:t>
            </a:r>
            <a:r>
              <a:rPr lang="en-IN" sz="3600" dirty="0"/>
              <a:t> platform. </a:t>
            </a:r>
          </a:p>
          <a:p>
            <a:pPr marL="720259" lvl="1" indent="-360129" algn="just">
              <a:lnSpc>
                <a:spcPts val="4670"/>
              </a:lnSpc>
              <a:buFont typeface="Arial"/>
              <a:buChar char="•"/>
            </a:pPr>
            <a:r>
              <a:rPr lang="en-IN" sz="3600" dirty="0"/>
              <a:t>The data is then accessible via a user-friendly mobile or web interface, enabling efficient monitoring of water quality.</a:t>
            </a:r>
          </a:p>
          <a:p>
            <a:pPr marL="720259" lvl="1" indent="-360129" algn="just">
              <a:lnSpc>
                <a:spcPts val="4670"/>
              </a:lnSpc>
              <a:buFont typeface="Arial"/>
              <a:buChar char="•"/>
            </a:pPr>
            <a:r>
              <a:rPr lang="en-IN" sz="3600" dirty="0"/>
              <a:t> By leveraging the power of </a:t>
            </a:r>
            <a:r>
              <a:rPr lang="en-IN" sz="3600" dirty="0" err="1"/>
              <a:t>IoT</a:t>
            </a:r>
            <a:r>
              <a:rPr lang="en-IN" sz="3600" dirty="0"/>
              <a:t>, this system provides valuable insights into water conditions, supporting applications in agriculture, water treatment, and environmental monitoring. </a:t>
            </a:r>
          </a:p>
          <a:p>
            <a:pPr marL="720259" lvl="1" indent="-360129" algn="just">
              <a:lnSpc>
                <a:spcPts val="4670"/>
              </a:lnSpc>
              <a:buFont typeface="Arial"/>
              <a:buChar char="•"/>
            </a:pPr>
            <a:r>
              <a:rPr lang="en-IN" sz="3600" dirty="0"/>
              <a:t>The system is designed for ease of use, accuracy, and reliability, ensuring that water quality can be efficiently managed and tracked remotely.</a:t>
            </a:r>
          </a:p>
          <a:p>
            <a:pPr marL="720259" lvl="1" indent="-360129" algn="just">
              <a:lnSpc>
                <a:spcPts val="4670"/>
              </a:lnSpc>
            </a:pPr>
            <a:endParaRPr lang="en-IN"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553980" y="417513"/>
            <a:ext cx="13180039"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OVERVIEW</a:t>
            </a:r>
          </a:p>
        </p:txBody>
      </p:sp>
      <p:sp>
        <p:nvSpPr>
          <p:cNvPr id="3" name="TextBox 3"/>
          <p:cNvSpPr txBox="1"/>
          <p:nvPr/>
        </p:nvSpPr>
        <p:spPr>
          <a:xfrm>
            <a:off x="15859155" y="8740214"/>
            <a:ext cx="1562612" cy="959703"/>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2</a:t>
            </a:r>
          </a:p>
        </p:txBody>
      </p:sp>
      <p:grpSp>
        <p:nvGrpSpPr>
          <p:cNvPr id="4" name="Group 4"/>
          <p:cNvGrpSpPr/>
          <p:nvPr/>
        </p:nvGrpSpPr>
        <p:grpSpPr>
          <a:xfrm>
            <a:off x="2385768" y="2042954"/>
            <a:ext cx="5369076" cy="6023339"/>
            <a:chOff x="0" y="-142875"/>
            <a:chExt cx="7158767" cy="8031119"/>
          </a:xfrm>
        </p:grpSpPr>
        <p:sp>
          <p:nvSpPr>
            <p:cNvPr id="5" name="TextBox 5"/>
            <p:cNvSpPr txBox="1"/>
            <p:nvPr/>
          </p:nvSpPr>
          <p:spPr>
            <a:xfrm>
              <a:off x="0" y="-142875"/>
              <a:ext cx="5974613" cy="893868"/>
            </a:xfrm>
            <a:prstGeom prst="rect">
              <a:avLst/>
            </a:prstGeom>
          </p:spPr>
          <p:txBody>
            <a:bodyPr lIns="0" tIns="0" rIns="0" bIns="0" rtlCol="0" anchor="t">
              <a:spAutoFit/>
            </a:bodyPr>
            <a:lstStyle/>
            <a:p>
              <a:pPr marL="798829" lvl="1" indent="-399415" algn="l">
                <a:lnSpc>
                  <a:spcPts val="5179"/>
                </a:lnSpc>
                <a:buFont typeface="Arial"/>
                <a:buChar char="•"/>
              </a:pPr>
              <a:r>
                <a:rPr lang="en-US" sz="3699" b="1">
                  <a:solidFill>
                    <a:srgbClr val="000000"/>
                  </a:solidFill>
                  <a:latin typeface="Times New Roman Semi-Bold"/>
                  <a:ea typeface="Times New Roman Semi-Bold"/>
                  <a:cs typeface="Times New Roman Semi-Bold"/>
                  <a:sym typeface="Times New Roman Semi-Bold"/>
                </a:rPr>
                <a:t>Introduction</a:t>
              </a:r>
            </a:p>
          </p:txBody>
        </p:sp>
        <p:sp>
          <p:nvSpPr>
            <p:cNvPr id="6" name="TextBox 6"/>
            <p:cNvSpPr txBox="1"/>
            <p:nvPr/>
          </p:nvSpPr>
          <p:spPr>
            <a:xfrm>
              <a:off x="0" y="2150223"/>
              <a:ext cx="5974613" cy="893868"/>
            </a:xfrm>
            <a:prstGeom prst="rect">
              <a:avLst/>
            </a:prstGeom>
          </p:spPr>
          <p:txBody>
            <a:bodyPr lIns="0" tIns="0" rIns="0" bIns="0" rtlCol="0" anchor="t">
              <a:spAutoFit/>
            </a:bodyPr>
            <a:lstStyle/>
            <a:p>
              <a:pPr marL="798829" lvl="1" indent="-399415" algn="l">
                <a:lnSpc>
                  <a:spcPts val="5179"/>
                </a:lnSpc>
                <a:buFont typeface="Arial"/>
                <a:buChar char="•"/>
              </a:pPr>
              <a:r>
                <a:rPr lang="en-US" sz="3699" b="1">
                  <a:solidFill>
                    <a:srgbClr val="000000"/>
                  </a:solidFill>
                  <a:latin typeface="Times New Roman Semi-Bold"/>
                  <a:ea typeface="Times New Roman Semi-Bold"/>
                  <a:cs typeface="Times New Roman Semi-Bold"/>
                  <a:sym typeface="Times New Roman Semi-Bold"/>
                </a:rPr>
                <a:t>Existing System</a:t>
              </a:r>
            </a:p>
          </p:txBody>
        </p:sp>
        <p:sp>
          <p:nvSpPr>
            <p:cNvPr id="7" name="TextBox 7"/>
            <p:cNvSpPr txBox="1"/>
            <p:nvPr/>
          </p:nvSpPr>
          <p:spPr>
            <a:xfrm>
              <a:off x="0" y="4534112"/>
              <a:ext cx="6988605" cy="893868"/>
            </a:xfrm>
            <a:prstGeom prst="rect">
              <a:avLst/>
            </a:prstGeom>
          </p:spPr>
          <p:txBody>
            <a:bodyPr lIns="0" tIns="0" rIns="0" bIns="0" rtlCol="0" anchor="t">
              <a:spAutoFit/>
            </a:bodyPr>
            <a:lstStyle/>
            <a:p>
              <a:pPr marL="798829" lvl="1" indent="-399415" algn="l">
                <a:lnSpc>
                  <a:spcPts val="5179"/>
                </a:lnSpc>
                <a:buFont typeface="Arial"/>
                <a:buChar char="•"/>
              </a:pPr>
              <a:r>
                <a:rPr lang="en-US" sz="3699" b="1">
                  <a:solidFill>
                    <a:srgbClr val="000000"/>
                  </a:solidFill>
                  <a:latin typeface="Times New Roman Semi-Bold"/>
                  <a:ea typeface="Times New Roman Semi-Bold"/>
                  <a:cs typeface="Times New Roman Semi-Bold"/>
                  <a:sym typeface="Times New Roman Semi-Bold"/>
                </a:rPr>
                <a:t>Components</a:t>
              </a:r>
            </a:p>
          </p:txBody>
        </p:sp>
        <p:sp>
          <p:nvSpPr>
            <p:cNvPr id="8" name="TextBox 8"/>
            <p:cNvSpPr txBox="1"/>
            <p:nvPr/>
          </p:nvSpPr>
          <p:spPr>
            <a:xfrm>
              <a:off x="0" y="608118"/>
              <a:ext cx="5974613" cy="893868"/>
            </a:xfrm>
            <a:prstGeom prst="rect">
              <a:avLst/>
            </a:prstGeom>
          </p:spPr>
          <p:txBody>
            <a:bodyPr lIns="0" tIns="0" rIns="0" bIns="0" rtlCol="0" anchor="t">
              <a:spAutoFit/>
            </a:bodyPr>
            <a:lstStyle/>
            <a:p>
              <a:pPr marL="798829" lvl="1" indent="-399415" algn="l">
                <a:lnSpc>
                  <a:spcPts val="5179"/>
                </a:lnSpc>
                <a:buFont typeface="Arial"/>
                <a:buChar char="•"/>
              </a:pPr>
              <a:r>
                <a:rPr lang="en-US" sz="3699" b="1">
                  <a:solidFill>
                    <a:srgbClr val="000000"/>
                  </a:solidFill>
                  <a:latin typeface="Times New Roman Semi-Bold"/>
                  <a:ea typeface="Times New Roman Semi-Bold"/>
                  <a:cs typeface="Times New Roman Semi-Bold"/>
                  <a:sym typeface="Times New Roman Semi-Bold"/>
                </a:rPr>
                <a:t>Objectives</a:t>
              </a:r>
            </a:p>
          </p:txBody>
        </p:sp>
        <p:sp>
          <p:nvSpPr>
            <p:cNvPr id="9" name="TextBox 9"/>
            <p:cNvSpPr txBox="1"/>
            <p:nvPr/>
          </p:nvSpPr>
          <p:spPr>
            <a:xfrm>
              <a:off x="0" y="3008320"/>
              <a:ext cx="6223995" cy="893868"/>
            </a:xfrm>
            <a:prstGeom prst="rect">
              <a:avLst/>
            </a:prstGeom>
          </p:spPr>
          <p:txBody>
            <a:bodyPr lIns="0" tIns="0" rIns="0" bIns="0" rtlCol="0" anchor="t">
              <a:spAutoFit/>
            </a:bodyPr>
            <a:lstStyle/>
            <a:p>
              <a:pPr marL="798829" lvl="1" indent="-399415" algn="l">
                <a:lnSpc>
                  <a:spcPts val="5179"/>
                </a:lnSpc>
                <a:buFont typeface="Arial"/>
                <a:buChar char="•"/>
              </a:pPr>
              <a:r>
                <a:rPr lang="en-US" sz="3699" b="1">
                  <a:solidFill>
                    <a:srgbClr val="000000"/>
                  </a:solidFill>
                  <a:latin typeface="Times New Roman Semi-Bold"/>
                  <a:ea typeface="Times New Roman Semi-Bold"/>
                  <a:cs typeface="Times New Roman Semi-Bold"/>
                  <a:sym typeface="Times New Roman Semi-Bold"/>
                </a:rPr>
                <a:t>Proposed System</a:t>
              </a:r>
            </a:p>
          </p:txBody>
        </p:sp>
        <p:sp>
          <p:nvSpPr>
            <p:cNvPr id="11" name="TextBox 11"/>
            <p:cNvSpPr txBox="1"/>
            <p:nvPr/>
          </p:nvSpPr>
          <p:spPr>
            <a:xfrm>
              <a:off x="0" y="1368327"/>
              <a:ext cx="6333649" cy="893868"/>
            </a:xfrm>
            <a:prstGeom prst="rect">
              <a:avLst/>
            </a:prstGeom>
          </p:spPr>
          <p:txBody>
            <a:bodyPr lIns="0" tIns="0" rIns="0" bIns="0" rtlCol="0" anchor="t">
              <a:spAutoFit/>
            </a:bodyPr>
            <a:lstStyle/>
            <a:p>
              <a:pPr marL="798829" lvl="1" indent="-399415" algn="l">
                <a:lnSpc>
                  <a:spcPts val="5179"/>
                </a:lnSpc>
                <a:buFont typeface="Arial"/>
                <a:buChar char="•"/>
              </a:pPr>
              <a:r>
                <a:rPr lang="en-US" sz="3699" b="1">
                  <a:solidFill>
                    <a:srgbClr val="000000"/>
                  </a:solidFill>
                  <a:latin typeface="Times New Roman Semi-Bold"/>
                  <a:ea typeface="Times New Roman Semi-Bold"/>
                  <a:cs typeface="Times New Roman Semi-Bold"/>
                  <a:sym typeface="Times New Roman Semi-Bold"/>
                </a:rPr>
                <a:t>Literature Survey</a:t>
              </a:r>
            </a:p>
          </p:txBody>
        </p:sp>
        <p:sp>
          <p:nvSpPr>
            <p:cNvPr id="12" name="TextBox 12"/>
            <p:cNvSpPr txBox="1"/>
            <p:nvPr/>
          </p:nvSpPr>
          <p:spPr>
            <a:xfrm>
              <a:off x="0" y="3784713"/>
              <a:ext cx="5974613" cy="893868"/>
            </a:xfrm>
            <a:prstGeom prst="rect">
              <a:avLst/>
            </a:prstGeom>
          </p:spPr>
          <p:txBody>
            <a:bodyPr lIns="0" tIns="0" rIns="0" bIns="0" rtlCol="0" anchor="t">
              <a:spAutoFit/>
            </a:bodyPr>
            <a:lstStyle/>
            <a:p>
              <a:pPr marL="798829" lvl="1" indent="-399415" algn="l">
                <a:lnSpc>
                  <a:spcPts val="5179"/>
                </a:lnSpc>
                <a:buFont typeface="Arial"/>
                <a:buChar char="•"/>
              </a:pPr>
              <a:r>
                <a:rPr lang="en-US" sz="3699" b="1">
                  <a:solidFill>
                    <a:srgbClr val="000000"/>
                  </a:solidFill>
                  <a:latin typeface="Times New Roman Semi-Bold"/>
                  <a:ea typeface="Times New Roman Semi-Bold"/>
                  <a:cs typeface="Times New Roman Semi-Bold"/>
                  <a:sym typeface="Times New Roman Semi-Bold"/>
                </a:rPr>
                <a:t>Block Diagram</a:t>
              </a:r>
            </a:p>
          </p:txBody>
        </p:sp>
        <p:sp>
          <p:nvSpPr>
            <p:cNvPr id="13" name="TextBox 13"/>
            <p:cNvSpPr txBox="1"/>
            <p:nvPr/>
          </p:nvSpPr>
          <p:spPr>
            <a:xfrm>
              <a:off x="0" y="5310505"/>
              <a:ext cx="7158767" cy="893868"/>
            </a:xfrm>
            <a:prstGeom prst="rect">
              <a:avLst/>
            </a:prstGeom>
          </p:spPr>
          <p:txBody>
            <a:bodyPr lIns="0" tIns="0" rIns="0" bIns="0" rtlCol="0" anchor="t">
              <a:spAutoFit/>
            </a:bodyPr>
            <a:lstStyle/>
            <a:p>
              <a:pPr marL="798829" lvl="1" indent="-399415" algn="l">
                <a:lnSpc>
                  <a:spcPts val="5179"/>
                </a:lnSpc>
                <a:buFont typeface="Arial"/>
                <a:buChar char="•"/>
              </a:pPr>
              <a:r>
                <a:rPr lang="en-US" sz="3699" b="1">
                  <a:solidFill>
                    <a:srgbClr val="000000"/>
                  </a:solidFill>
                  <a:latin typeface="Times New Roman Semi-Bold"/>
                  <a:ea typeface="Times New Roman Semi-Bold"/>
                  <a:cs typeface="Times New Roman Semi-Bold"/>
                  <a:sym typeface="Times New Roman Semi-Bold"/>
                </a:rPr>
                <a:t>Application</a:t>
              </a:r>
            </a:p>
          </p:txBody>
        </p:sp>
        <p:sp>
          <p:nvSpPr>
            <p:cNvPr id="14" name="TextBox 14"/>
            <p:cNvSpPr txBox="1"/>
            <p:nvPr/>
          </p:nvSpPr>
          <p:spPr>
            <a:xfrm>
              <a:off x="57413" y="7039208"/>
              <a:ext cx="6740756" cy="849036"/>
            </a:xfrm>
            <a:prstGeom prst="rect">
              <a:avLst/>
            </a:prstGeom>
          </p:spPr>
          <p:txBody>
            <a:bodyPr lIns="0" tIns="0" rIns="0" bIns="0" rtlCol="0" anchor="t">
              <a:spAutoFit/>
            </a:bodyPr>
            <a:lstStyle/>
            <a:p>
              <a:pPr marL="798829" lvl="1" indent="-399415" algn="l">
                <a:lnSpc>
                  <a:spcPts val="5179"/>
                </a:lnSpc>
                <a:buFont typeface="Arial"/>
                <a:buChar char="•"/>
              </a:pPr>
              <a:r>
                <a:rPr lang="en-US" sz="3699" b="1">
                  <a:solidFill>
                    <a:srgbClr val="000000"/>
                  </a:solidFill>
                  <a:latin typeface="Times New Roman Semi-Bold"/>
                  <a:ea typeface="Times New Roman Semi-Bold"/>
                  <a:cs typeface="Times New Roman Semi-Bold"/>
                  <a:sym typeface="Times New Roman Semi-Bold"/>
                </a:rPr>
                <a:t>Reference’s</a:t>
              </a:r>
              <a:endParaRPr lang="en-US" sz="3699" b="1" dirty="0">
                <a:solidFill>
                  <a:srgbClr val="000000"/>
                </a:solidFill>
                <a:latin typeface="Times New Roman Semi-Bold"/>
                <a:ea typeface="Times New Roman Semi-Bold"/>
                <a:cs typeface="Times New Roman Semi-Bold"/>
                <a:sym typeface="Times New Roman Semi-Bold"/>
              </a:endParaRPr>
            </a:p>
          </p:txBody>
        </p:sp>
        <p:sp>
          <p:nvSpPr>
            <p:cNvPr id="15" name="TextBox 15"/>
            <p:cNvSpPr txBox="1"/>
            <p:nvPr/>
          </p:nvSpPr>
          <p:spPr>
            <a:xfrm>
              <a:off x="57413" y="6181952"/>
              <a:ext cx="6740756" cy="893868"/>
            </a:xfrm>
            <a:prstGeom prst="rect">
              <a:avLst/>
            </a:prstGeom>
          </p:spPr>
          <p:txBody>
            <a:bodyPr lIns="0" tIns="0" rIns="0" bIns="0" rtlCol="0" anchor="t">
              <a:spAutoFit/>
            </a:bodyPr>
            <a:lstStyle/>
            <a:p>
              <a:pPr marL="798829" lvl="1" indent="-399415" algn="l">
                <a:lnSpc>
                  <a:spcPts val="5179"/>
                </a:lnSpc>
                <a:buFont typeface="Arial"/>
                <a:buChar char="•"/>
              </a:pPr>
              <a:r>
                <a:rPr lang="en-US" sz="3699" b="1" dirty="0">
                  <a:solidFill>
                    <a:srgbClr val="000000"/>
                  </a:solidFill>
                  <a:latin typeface="Times New Roman Semi-Bold"/>
                  <a:ea typeface="Times New Roman Semi-Bold"/>
                  <a:cs typeface="Times New Roman Semi-Bold"/>
                  <a:sym typeface="Times New Roman Semi-Bold"/>
                </a:rPr>
                <a:t>Conclusion</a:t>
              </a:r>
            </a:p>
          </p:txBody>
        </p:sp>
      </p:grpSp>
      <p:grpSp>
        <p:nvGrpSpPr>
          <p:cNvPr id="16" name="Group 16"/>
          <p:cNvGrpSpPr/>
          <p:nvPr/>
        </p:nvGrpSpPr>
        <p:grpSpPr>
          <a:xfrm>
            <a:off x="0" y="9258300"/>
            <a:ext cx="11543796" cy="441617"/>
            <a:chOff x="0" y="0"/>
            <a:chExt cx="15391728" cy="588823"/>
          </a:xfrm>
        </p:grpSpPr>
        <p:sp>
          <p:nvSpPr>
            <p:cNvPr id="17" name="AutoShape 17"/>
            <p:cNvSpPr/>
            <p:nvPr/>
          </p:nvSpPr>
          <p:spPr>
            <a:xfrm>
              <a:off x="0" y="345211"/>
              <a:ext cx="10819962" cy="0"/>
            </a:xfrm>
            <a:prstGeom prst="line">
              <a:avLst/>
            </a:prstGeom>
            <a:ln w="101600" cap="flat">
              <a:solidFill>
                <a:srgbClr val="0F4662"/>
              </a:solidFill>
              <a:prstDash val="solid"/>
              <a:headEnd type="none" w="sm" len="sm"/>
              <a:tailEnd type="none" w="sm" len="sm"/>
            </a:ln>
          </p:spPr>
        </p:sp>
        <p:sp>
          <p:nvSpPr>
            <p:cNvPr id="18" name="Freeform 18"/>
            <p:cNvSpPr/>
            <p:nvPr/>
          </p:nvSpPr>
          <p:spPr>
            <a:xfrm>
              <a:off x="11433257" y="0"/>
              <a:ext cx="3958471" cy="588823"/>
            </a:xfrm>
            <a:custGeom>
              <a:avLst/>
              <a:gdLst/>
              <a:ahLst/>
              <a:cxnLst/>
              <a:rect l="l" t="t" r="r" b="b"/>
              <a:pathLst>
                <a:path w="3958471" h="588823">
                  <a:moveTo>
                    <a:pt x="0" y="0"/>
                  </a:moveTo>
                  <a:lnTo>
                    <a:pt x="3958471" y="0"/>
                  </a:lnTo>
                  <a:lnTo>
                    <a:pt x="3958471" y="588823"/>
                  </a:lnTo>
                  <a:lnTo>
                    <a:pt x="0" y="5888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500266" y="571468"/>
            <a:ext cx="13180039" cy="1450976"/>
          </a:xfrm>
          <a:prstGeom prst="rect">
            <a:avLst/>
          </a:prstGeom>
        </p:spPr>
        <p:txBody>
          <a:bodyPr lIns="0" tIns="0" rIns="0" bIns="0" rtlCol="0" anchor="t">
            <a:spAutoFit/>
          </a:bodyPr>
          <a:lstStyle/>
          <a:p>
            <a:pPr algn="ctr">
              <a:lnSpc>
                <a:spcPts val="11899"/>
              </a:lnSpc>
            </a:pPr>
            <a:r>
              <a:rPr lang="en-US" sz="8499" dirty="0">
                <a:solidFill>
                  <a:srgbClr val="000000"/>
                </a:solidFill>
                <a:latin typeface="Alatsi"/>
                <a:ea typeface="Alatsi"/>
                <a:cs typeface="Alatsi"/>
                <a:sym typeface="Alatsi"/>
              </a:rPr>
              <a:t>INTRODUCTION</a:t>
            </a:r>
          </a:p>
        </p:txBody>
      </p:sp>
      <p:sp>
        <p:nvSpPr>
          <p:cNvPr id="3" name="TextBox 3"/>
          <p:cNvSpPr txBox="1"/>
          <p:nvPr/>
        </p:nvSpPr>
        <p:spPr>
          <a:xfrm>
            <a:off x="15883725" y="8740214"/>
            <a:ext cx="1562612" cy="959703"/>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3</a:t>
            </a:r>
          </a:p>
        </p:txBody>
      </p:sp>
      <p:grpSp>
        <p:nvGrpSpPr>
          <p:cNvPr id="4" name="Group 4"/>
          <p:cNvGrpSpPr/>
          <p:nvPr/>
        </p:nvGrpSpPr>
        <p:grpSpPr>
          <a:xfrm>
            <a:off x="0" y="9258300"/>
            <a:ext cx="11543796" cy="441617"/>
            <a:chOff x="0" y="0"/>
            <a:chExt cx="15391728" cy="588823"/>
          </a:xfrm>
        </p:grpSpPr>
        <p:sp>
          <p:nvSpPr>
            <p:cNvPr id="5" name="AutoShape 5"/>
            <p:cNvSpPr/>
            <p:nvPr/>
          </p:nvSpPr>
          <p:spPr>
            <a:xfrm>
              <a:off x="0" y="345211"/>
              <a:ext cx="10819962" cy="0"/>
            </a:xfrm>
            <a:prstGeom prst="line">
              <a:avLst/>
            </a:prstGeom>
            <a:ln w="101600" cap="flat">
              <a:solidFill>
                <a:srgbClr val="0F4662"/>
              </a:solidFill>
              <a:prstDash val="solid"/>
              <a:headEnd type="none" w="sm" len="sm"/>
              <a:tailEnd type="none" w="sm" len="sm"/>
            </a:ln>
          </p:spPr>
        </p:sp>
        <p:sp>
          <p:nvSpPr>
            <p:cNvPr id="6" name="Freeform 6"/>
            <p:cNvSpPr/>
            <p:nvPr/>
          </p:nvSpPr>
          <p:spPr>
            <a:xfrm>
              <a:off x="11433257" y="0"/>
              <a:ext cx="3958471" cy="588823"/>
            </a:xfrm>
            <a:custGeom>
              <a:avLst/>
              <a:gdLst/>
              <a:ahLst/>
              <a:cxnLst/>
              <a:rect l="l" t="t" r="r" b="b"/>
              <a:pathLst>
                <a:path w="3958471" h="588823">
                  <a:moveTo>
                    <a:pt x="0" y="0"/>
                  </a:moveTo>
                  <a:lnTo>
                    <a:pt x="3958471" y="0"/>
                  </a:lnTo>
                  <a:lnTo>
                    <a:pt x="3958471" y="588823"/>
                  </a:lnTo>
                  <a:lnTo>
                    <a:pt x="0" y="5888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7" name="TextBox 7"/>
          <p:cNvSpPr txBox="1"/>
          <p:nvPr/>
        </p:nvSpPr>
        <p:spPr>
          <a:xfrm>
            <a:off x="1571572" y="2000228"/>
            <a:ext cx="15152691" cy="6587701"/>
          </a:xfrm>
          <a:prstGeom prst="rect">
            <a:avLst/>
          </a:prstGeom>
        </p:spPr>
        <p:txBody>
          <a:bodyPr lIns="0" tIns="0" rIns="0" bIns="0" rtlCol="0" anchor="t">
            <a:spAutoFit/>
          </a:bodyPr>
          <a:lstStyle/>
          <a:p>
            <a:pPr marL="720259" lvl="1" indent="-360129" algn="just">
              <a:lnSpc>
                <a:spcPts val="4670"/>
              </a:lnSpc>
              <a:buFont typeface="Arial"/>
              <a:buChar char="•"/>
            </a:pPr>
            <a:r>
              <a:rPr lang="en-IN" sz="3200" dirty="0"/>
              <a:t>Water quality monitoring is essential for ensuring the safety and sustainability of water resources. Traditional methods of water testing can be time-consuming, </a:t>
            </a:r>
            <a:r>
              <a:rPr lang="en-IN" sz="3200" dirty="0" err="1"/>
              <a:t>labor</a:t>
            </a:r>
            <a:r>
              <a:rPr lang="en-IN" sz="3200" dirty="0"/>
              <a:t>-intensive, and often limited to periodic measurements. </a:t>
            </a:r>
          </a:p>
          <a:p>
            <a:pPr marL="720259" lvl="1" indent="-360129" algn="just">
              <a:lnSpc>
                <a:spcPts val="4670"/>
              </a:lnSpc>
              <a:buFont typeface="Arial"/>
              <a:buChar char="•"/>
            </a:pPr>
            <a:r>
              <a:rPr lang="en-IN" sz="3200" dirty="0"/>
              <a:t>With the advancements in Internet of Things (</a:t>
            </a:r>
            <a:r>
              <a:rPr lang="en-IN" sz="3200" dirty="0" err="1"/>
              <a:t>IoT</a:t>
            </a:r>
            <a:r>
              <a:rPr lang="en-IN" sz="3200" dirty="0"/>
              <a:t>) technology, real-time monitoring of water quality has become more efficient and accessible. This Smart Water Monitoring System leverages modern sensors to measure key water parameters like pH and temperature, providing continuous, real-time data. </a:t>
            </a:r>
          </a:p>
          <a:p>
            <a:pPr marL="720259" lvl="1" indent="-360129" algn="just">
              <a:lnSpc>
                <a:spcPts val="4670"/>
              </a:lnSpc>
              <a:buFont typeface="Arial"/>
              <a:buChar char="•"/>
            </a:pPr>
            <a:r>
              <a:rPr lang="en-IN" sz="3200" dirty="0"/>
              <a:t>The system is based on an ESP8266 microcontroller that sends the data to the </a:t>
            </a:r>
            <a:r>
              <a:rPr lang="en-IN" sz="3200" dirty="0" err="1"/>
              <a:t>Blynk</a:t>
            </a:r>
            <a:r>
              <a:rPr lang="en-IN" sz="3200" dirty="0"/>
              <a:t> </a:t>
            </a:r>
            <a:r>
              <a:rPr lang="en-IN" sz="3200" dirty="0" err="1"/>
              <a:t>IoT</a:t>
            </a:r>
            <a:r>
              <a:rPr lang="en-IN" sz="3200" dirty="0"/>
              <a:t> platform, where users can remotely access and monitor the water quality. By enabling instant access to water condition data, this system helps in timely decision-making for industries, agriculture, and environmental conservation.</a:t>
            </a:r>
            <a:endParaRPr lang="en-IN" sz="3200" dirty="0">
              <a:solidFill>
                <a:srgbClr val="000000"/>
              </a:solidFill>
              <a:latin typeface="+mj-lt"/>
              <a:ea typeface="Times New Roman Medium"/>
              <a:cs typeface="Times New Roman Medium"/>
              <a:sym typeface="Times New Roman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467305"/>
            <a:ext cx="16230600"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OBJECTIVES</a:t>
            </a:r>
          </a:p>
        </p:txBody>
      </p:sp>
      <p:sp>
        <p:nvSpPr>
          <p:cNvPr id="3" name="TextBox 3"/>
          <p:cNvSpPr txBox="1"/>
          <p:nvPr/>
        </p:nvSpPr>
        <p:spPr>
          <a:xfrm>
            <a:off x="15810988" y="8740214"/>
            <a:ext cx="1562612" cy="959703"/>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4</a:t>
            </a:r>
          </a:p>
        </p:txBody>
      </p:sp>
      <p:grpSp>
        <p:nvGrpSpPr>
          <p:cNvPr id="4" name="Group 4"/>
          <p:cNvGrpSpPr/>
          <p:nvPr/>
        </p:nvGrpSpPr>
        <p:grpSpPr>
          <a:xfrm>
            <a:off x="0" y="9258300"/>
            <a:ext cx="11543796" cy="441617"/>
            <a:chOff x="0" y="0"/>
            <a:chExt cx="15391728" cy="588823"/>
          </a:xfrm>
        </p:grpSpPr>
        <p:sp>
          <p:nvSpPr>
            <p:cNvPr id="5" name="AutoShape 5"/>
            <p:cNvSpPr/>
            <p:nvPr/>
          </p:nvSpPr>
          <p:spPr>
            <a:xfrm>
              <a:off x="0" y="345211"/>
              <a:ext cx="10819962" cy="0"/>
            </a:xfrm>
            <a:prstGeom prst="line">
              <a:avLst/>
            </a:prstGeom>
            <a:ln w="101600" cap="flat">
              <a:solidFill>
                <a:srgbClr val="0F4662"/>
              </a:solidFill>
              <a:prstDash val="solid"/>
              <a:headEnd type="none" w="sm" len="sm"/>
              <a:tailEnd type="none" w="sm" len="sm"/>
            </a:ln>
          </p:spPr>
        </p:sp>
        <p:sp>
          <p:nvSpPr>
            <p:cNvPr id="6" name="Freeform 6"/>
            <p:cNvSpPr/>
            <p:nvPr/>
          </p:nvSpPr>
          <p:spPr>
            <a:xfrm>
              <a:off x="11433257" y="0"/>
              <a:ext cx="3958471" cy="588823"/>
            </a:xfrm>
            <a:custGeom>
              <a:avLst/>
              <a:gdLst/>
              <a:ahLst/>
              <a:cxnLst/>
              <a:rect l="l" t="t" r="r" b="b"/>
              <a:pathLst>
                <a:path w="3958471" h="588823">
                  <a:moveTo>
                    <a:pt x="0" y="0"/>
                  </a:moveTo>
                  <a:lnTo>
                    <a:pt x="3958471" y="0"/>
                  </a:lnTo>
                  <a:lnTo>
                    <a:pt x="3958471" y="588823"/>
                  </a:lnTo>
                  <a:lnTo>
                    <a:pt x="0" y="5888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7" name="TextBox 7"/>
          <p:cNvSpPr txBox="1"/>
          <p:nvPr/>
        </p:nvSpPr>
        <p:spPr>
          <a:xfrm>
            <a:off x="1357258" y="2285980"/>
            <a:ext cx="15895582" cy="5334794"/>
          </a:xfrm>
          <a:prstGeom prst="rect">
            <a:avLst/>
          </a:prstGeom>
        </p:spPr>
        <p:txBody>
          <a:bodyPr lIns="0" tIns="0" rIns="0" bIns="0" rtlCol="0" anchor="t">
            <a:spAutoFit/>
          </a:bodyPr>
          <a:lstStyle/>
          <a:p>
            <a:pPr marL="662874" lvl="1" indent="-331437" algn="just">
              <a:lnSpc>
                <a:spcPts val="5158"/>
              </a:lnSpc>
              <a:buFont typeface="Arial"/>
              <a:buChar char="•"/>
            </a:pPr>
            <a:r>
              <a:rPr lang="en-IN" sz="3200" dirty="0"/>
              <a:t>The Smart Water Monitoring System aims to provide real-time monitoring of water quality using pH and temperature sensors, integrated with the ESP8266 microcontroller. </a:t>
            </a:r>
          </a:p>
          <a:p>
            <a:pPr marL="662874" lvl="1" indent="-331437" algn="just">
              <a:lnSpc>
                <a:spcPts val="5158"/>
              </a:lnSpc>
              <a:buFont typeface="Arial"/>
              <a:buChar char="•"/>
            </a:pPr>
            <a:r>
              <a:rPr lang="en-IN" sz="3200" dirty="0"/>
              <a:t>The system transmits data to the </a:t>
            </a:r>
            <a:r>
              <a:rPr lang="en-IN" sz="3200" dirty="0" err="1"/>
              <a:t>Blynk</a:t>
            </a:r>
            <a:r>
              <a:rPr lang="en-IN" sz="3200" dirty="0"/>
              <a:t> </a:t>
            </a:r>
            <a:r>
              <a:rPr lang="en-IN" sz="3200" dirty="0" err="1"/>
              <a:t>IoT</a:t>
            </a:r>
            <a:r>
              <a:rPr lang="en-IN" sz="3200" dirty="0"/>
              <a:t> platform, enabling users to remotely access and visualize water parameters through a mobile or web application.</a:t>
            </a:r>
          </a:p>
          <a:p>
            <a:pPr marL="662874" lvl="1" indent="-331437" algn="just">
              <a:lnSpc>
                <a:spcPts val="5158"/>
              </a:lnSpc>
              <a:buFont typeface="Arial"/>
              <a:buChar char="•"/>
            </a:pPr>
            <a:r>
              <a:rPr lang="en-IN" sz="3200" dirty="0"/>
              <a:t>This approach ensures accurate, reliable, and continuous monitoring, allowing for timely intervention when water quality issues arise. </a:t>
            </a:r>
          </a:p>
          <a:p>
            <a:pPr marL="662874" lvl="1" indent="-331437" algn="just">
              <a:lnSpc>
                <a:spcPts val="5158"/>
              </a:lnSpc>
              <a:buFont typeface="Arial"/>
              <a:buChar char="•"/>
            </a:pPr>
            <a:r>
              <a:rPr lang="en-IN" sz="3200" dirty="0"/>
              <a:t>By utilizing </a:t>
            </a:r>
            <a:r>
              <a:rPr lang="en-IN" sz="3200" dirty="0" err="1"/>
              <a:t>IoT</a:t>
            </a:r>
            <a:r>
              <a:rPr lang="en-IN" sz="3200" dirty="0"/>
              <a:t> technology, the system offers an efficient and scalable solution for various applications, including environmental monitoring and agriculture.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222250"/>
            <a:ext cx="16230600" cy="1377947"/>
          </a:xfrm>
          <a:prstGeom prst="rect">
            <a:avLst/>
          </a:prstGeom>
        </p:spPr>
        <p:txBody>
          <a:bodyPr lIns="0" tIns="0" rIns="0" bIns="0" rtlCol="0" anchor="t">
            <a:spAutoFit/>
          </a:bodyPr>
          <a:lstStyle/>
          <a:p>
            <a:pPr algn="ctr">
              <a:lnSpc>
                <a:spcPts val="11200"/>
              </a:lnSpc>
            </a:pPr>
            <a:r>
              <a:rPr lang="en-US" sz="8000" dirty="0">
                <a:solidFill>
                  <a:srgbClr val="000000"/>
                </a:solidFill>
                <a:latin typeface="Alatsi"/>
                <a:ea typeface="Alatsi"/>
                <a:cs typeface="Alatsi"/>
                <a:sym typeface="Alatsi"/>
              </a:rPr>
              <a:t>LITERATURE SURVEY</a:t>
            </a:r>
          </a:p>
        </p:txBody>
      </p:sp>
      <p:sp>
        <p:nvSpPr>
          <p:cNvPr id="3" name="TextBox 3"/>
          <p:cNvSpPr txBox="1"/>
          <p:nvPr/>
        </p:nvSpPr>
        <p:spPr>
          <a:xfrm>
            <a:off x="15883840" y="8740214"/>
            <a:ext cx="1562612" cy="959703"/>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5</a:t>
            </a:r>
          </a:p>
        </p:txBody>
      </p:sp>
      <p:grpSp>
        <p:nvGrpSpPr>
          <p:cNvPr id="4" name="Group 4"/>
          <p:cNvGrpSpPr/>
          <p:nvPr/>
        </p:nvGrpSpPr>
        <p:grpSpPr>
          <a:xfrm>
            <a:off x="0" y="9258300"/>
            <a:ext cx="11543796" cy="441617"/>
            <a:chOff x="0" y="0"/>
            <a:chExt cx="15391728" cy="588823"/>
          </a:xfrm>
        </p:grpSpPr>
        <p:sp>
          <p:nvSpPr>
            <p:cNvPr id="5" name="AutoShape 5"/>
            <p:cNvSpPr/>
            <p:nvPr/>
          </p:nvSpPr>
          <p:spPr>
            <a:xfrm>
              <a:off x="0" y="345211"/>
              <a:ext cx="10819962" cy="0"/>
            </a:xfrm>
            <a:prstGeom prst="line">
              <a:avLst/>
            </a:prstGeom>
            <a:ln w="101600" cap="flat">
              <a:solidFill>
                <a:srgbClr val="0F4662"/>
              </a:solidFill>
              <a:prstDash val="solid"/>
              <a:headEnd type="none" w="sm" len="sm"/>
              <a:tailEnd type="none" w="sm" len="sm"/>
            </a:ln>
          </p:spPr>
        </p:sp>
        <p:sp>
          <p:nvSpPr>
            <p:cNvPr id="6" name="Freeform 6"/>
            <p:cNvSpPr/>
            <p:nvPr/>
          </p:nvSpPr>
          <p:spPr>
            <a:xfrm>
              <a:off x="11433257" y="0"/>
              <a:ext cx="3958471" cy="588823"/>
            </a:xfrm>
            <a:custGeom>
              <a:avLst/>
              <a:gdLst/>
              <a:ahLst/>
              <a:cxnLst/>
              <a:rect l="l" t="t" r="r" b="b"/>
              <a:pathLst>
                <a:path w="3958471" h="588823">
                  <a:moveTo>
                    <a:pt x="0" y="0"/>
                  </a:moveTo>
                  <a:lnTo>
                    <a:pt x="3958471" y="0"/>
                  </a:lnTo>
                  <a:lnTo>
                    <a:pt x="3958471" y="588823"/>
                  </a:lnTo>
                  <a:lnTo>
                    <a:pt x="0" y="5888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8" name="TextBox 8"/>
          <p:cNvSpPr txBox="1"/>
          <p:nvPr/>
        </p:nvSpPr>
        <p:spPr>
          <a:xfrm>
            <a:off x="1976764" y="1835493"/>
            <a:ext cx="2910952" cy="569942"/>
          </a:xfrm>
          <a:prstGeom prst="rect">
            <a:avLst/>
          </a:prstGeom>
        </p:spPr>
        <p:txBody>
          <a:bodyPr lIns="0" tIns="0" rIns="0" bIns="0" rtlCol="0" anchor="t">
            <a:spAutoFit/>
          </a:bodyPr>
          <a:lstStyle/>
          <a:p>
            <a:pPr algn="ctr">
              <a:lnSpc>
                <a:spcPts val="2197"/>
              </a:lnSpc>
            </a:pPr>
            <a:r>
              <a:rPr lang="en-US" sz="1775" b="1" spc="1">
                <a:solidFill>
                  <a:srgbClr val="FFFFFF"/>
                </a:solidFill>
                <a:latin typeface="Calibri (MS) Bold"/>
                <a:ea typeface="Calibri (MS) Bold"/>
                <a:cs typeface="Calibri (MS) Bold"/>
                <a:sym typeface="Calibri (MS) Bold"/>
              </a:rPr>
              <a:t>TITLE OF THE PAPER WITH AUTHOR NAME</a:t>
            </a:r>
          </a:p>
        </p:txBody>
      </p:sp>
      <p:sp>
        <p:nvSpPr>
          <p:cNvPr id="9" name="TextBox 9"/>
          <p:cNvSpPr txBox="1"/>
          <p:nvPr/>
        </p:nvSpPr>
        <p:spPr>
          <a:xfrm>
            <a:off x="5969792" y="1843993"/>
            <a:ext cx="2514562" cy="569942"/>
          </a:xfrm>
          <a:prstGeom prst="rect">
            <a:avLst/>
          </a:prstGeom>
        </p:spPr>
        <p:txBody>
          <a:bodyPr lIns="0" tIns="0" rIns="0" bIns="0" rtlCol="0" anchor="t">
            <a:spAutoFit/>
          </a:bodyPr>
          <a:lstStyle/>
          <a:p>
            <a:pPr algn="ctr">
              <a:lnSpc>
                <a:spcPts val="2197"/>
              </a:lnSpc>
            </a:pPr>
            <a:r>
              <a:rPr lang="en-US" sz="1775" b="1" spc="12" dirty="0">
                <a:solidFill>
                  <a:srgbClr val="FFFFFF"/>
                </a:solidFill>
                <a:latin typeface="Calibri (MS) Bold"/>
                <a:ea typeface="Calibri (MS) Bold"/>
                <a:cs typeface="Calibri (MS) Bold"/>
                <a:sym typeface="Calibri (MS) Bold"/>
              </a:rPr>
              <a:t>JOURNAL NAME/YEAR OF PUBLICATION </a:t>
            </a:r>
            <a:r>
              <a:rPr lang="en-US" sz="1775" spc="12" dirty="0">
                <a:solidFill>
                  <a:srgbClr val="000000"/>
                </a:solidFill>
                <a:latin typeface="Calibri (MS)"/>
                <a:ea typeface="Calibri (MS)"/>
                <a:cs typeface="Calibri (MS)"/>
                <a:sym typeface="Calibri (MS)"/>
              </a:rPr>
              <a:t> </a:t>
            </a:r>
          </a:p>
        </p:txBody>
      </p:sp>
      <p:sp>
        <p:nvSpPr>
          <p:cNvPr id="10" name="TextBox 10"/>
          <p:cNvSpPr txBox="1"/>
          <p:nvPr/>
        </p:nvSpPr>
        <p:spPr>
          <a:xfrm>
            <a:off x="10303732" y="1736566"/>
            <a:ext cx="2498376" cy="522486"/>
          </a:xfrm>
          <a:prstGeom prst="rect">
            <a:avLst/>
          </a:prstGeom>
        </p:spPr>
        <p:txBody>
          <a:bodyPr lIns="0" tIns="0" rIns="0" bIns="0" rtlCol="0" anchor="t">
            <a:spAutoFit/>
          </a:bodyPr>
          <a:lstStyle/>
          <a:p>
            <a:pPr algn="l">
              <a:lnSpc>
                <a:spcPts val="4438"/>
              </a:lnSpc>
            </a:pPr>
            <a:r>
              <a:rPr lang="en-US" sz="1775" b="1" spc="7" dirty="0">
                <a:solidFill>
                  <a:srgbClr val="FFFFFF"/>
                </a:solidFill>
                <a:latin typeface="Calibri (MS) Bold"/>
                <a:ea typeface="Calibri (MS) Bold"/>
                <a:cs typeface="Calibri (MS) Bold"/>
                <a:sym typeface="Calibri (MS) Bold"/>
              </a:rPr>
              <a:t>FINDINGS</a:t>
            </a:r>
          </a:p>
        </p:txBody>
      </p:sp>
      <p:sp>
        <p:nvSpPr>
          <p:cNvPr id="11" name="TextBox 11"/>
          <p:cNvSpPr txBox="1"/>
          <p:nvPr/>
        </p:nvSpPr>
        <p:spPr>
          <a:xfrm>
            <a:off x="13882927" y="1758183"/>
            <a:ext cx="2643683" cy="522486"/>
          </a:xfrm>
          <a:prstGeom prst="rect">
            <a:avLst/>
          </a:prstGeom>
        </p:spPr>
        <p:txBody>
          <a:bodyPr lIns="0" tIns="0" rIns="0" bIns="0" rtlCol="0" anchor="t">
            <a:spAutoFit/>
          </a:bodyPr>
          <a:lstStyle/>
          <a:p>
            <a:pPr algn="l">
              <a:lnSpc>
                <a:spcPts val="4438"/>
              </a:lnSpc>
            </a:pPr>
            <a:r>
              <a:rPr lang="en-US" sz="1775" b="1">
                <a:solidFill>
                  <a:srgbClr val="FFFFFF"/>
                </a:solidFill>
                <a:latin typeface="Calibri (MS) Bold"/>
                <a:ea typeface="Calibri (MS) Bold"/>
                <a:cs typeface="Calibri (MS) Bold"/>
                <a:sym typeface="Calibri (MS) Bold"/>
              </a:rPr>
              <a:t>LIMITATIONS </a:t>
            </a:r>
          </a:p>
        </p:txBody>
      </p:sp>
      <p:pic>
        <p:nvPicPr>
          <p:cNvPr id="7" name="Picture 2"/>
          <p:cNvPicPr>
            <a:picLocks noChangeAspect="1" noChangeArrowheads="1"/>
          </p:cNvPicPr>
          <p:nvPr/>
        </p:nvPicPr>
        <p:blipFill>
          <a:blip r:embed="rId4"/>
          <a:srcRect/>
          <a:stretch>
            <a:fillRect/>
          </a:stretch>
        </p:blipFill>
        <p:spPr bwMode="auto">
          <a:xfrm>
            <a:off x="2357390" y="1571600"/>
            <a:ext cx="13858972" cy="7493514"/>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883840" y="8740214"/>
            <a:ext cx="1562612" cy="959703"/>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6</a:t>
            </a:r>
          </a:p>
        </p:txBody>
      </p:sp>
      <p:grpSp>
        <p:nvGrpSpPr>
          <p:cNvPr id="3" name="Group 3"/>
          <p:cNvGrpSpPr/>
          <p:nvPr/>
        </p:nvGrpSpPr>
        <p:grpSpPr>
          <a:xfrm>
            <a:off x="0" y="9258300"/>
            <a:ext cx="11543796" cy="441617"/>
            <a:chOff x="0" y="0"/>
            <a:chExt cx="15391728" cy="588823"/>
          </a:xfrm>
        </p:grpSpPr>
        <p:sp>
          <p:nvSpPr>
            <p:cNvPr id="4" name="AutoShape 4"/>
            <p:cNvSpPr/>
            <p:nvPr/>
          </p:nvSpPr>
          <p:spPr>
            <a:xfrm>
              <a:off x="0" y="345211"/>
              <a:ext cx="10819962" cy="0"/>
            </a:xfrm>
            <a:prstGeom prst="line">
              <a:avLst/>
            </a:prstGeom>
            <a:ln w="101600" cap="flat">
              <a:solidFill>
                <a:srgbClr val="0F4662"/>
              </a:solidFill>
              <a:prstDash val="solid"/>
              <a:headEnd type="none" w="sm" len="sm"/>
              <a:tailEnd type="none" w="sm" len="sm"/>
            </a:ln>
          </p:spPr>
        </p:sp>
        <p:sp>
          <p:nvSpPr>
            <p:cNvPr id="5" name="Freeform 5"/>
            <p:cNvSpPr/>
            <p:nvPr/>
          </p:nvSpPr>
          <p:spPr>
            <a:xfrm>
              <a:off x="11433257" y="0"/>
              <a:ext cx="3958471" cy="588823"/>
            </a:xfrm>
            <a:custGeom>
              <a:avLst/>
              <a:gdLst/>
              <a:ahLst/>
              <a:cxnLst/>
              <a:rect l="l" t="t" r="r" b="b"/>
              <a:pathLst>
                <a:path w="3958471" h="588823">
                  <a:moveTo>
                    <a:pt x="0" y="0"/>
                  </a:moveTo>
                  <a:lnTo>
                    <a:pt x="3958471" y="0"/>
                  </a:lnTo>
                  <a:lnTo>
                    <a:pt x="3958471" y="588823"/>
                  </a:lnTo>
                  <a:lnTo>
                    <a:pt x="0" y="5888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10" name="TextBox 10"/>
          <p:cNvSpPr txBox="1"/>
          <p:nvPr/>
        </p:nvSpPr>
        <p:spPr>
          <a:xfrm>
            <a:off x="14128577" y="1121867"/>
            <a:ext cx="2780723" cy="545764"/>
          </a:xfrm>
          <a:prstGeom prst="rect">
            <a:avLst/>
          </a:prstGeom>
        </p:spPr>
        <p:txBody>
          <a:bodyPr lIns="0" tIns="0" rIns="0" bIns="0" rtlCol="0" anchor="t">
            <a:spAutoFit/>
          </a:bodyPr>
          <a:lstStyle/>
          <a:p>
            <a:pPr algn="l">
              <a:lnSpc>
                <a:spcPts val="4668"/>
              </a:lnSpc>
            </a:pPr>
            <a:r>
              <a:rPr lang="en-US" sz="1867" b="1">
                <a:solidFill>
                  <a:srgbClr val="FFFFFF"/>
                </a:solidFill>
                <a:latin typeface="Calibri (MS) Bold"/>
                <a:ea typeface="Calibri (MS) Bold"/>
                <a:cs typeface="Calibri (MS) Bold"/>
                <a:sym typeface="Calibri (MS) Bold"/>
              </a:rPr>
              <a:t>LIMITATIONS </a:t>
            </a:r>
          </a:p>
        </p:txBody>
      </p:sp>
      <p:sp>
        <p:nvSpPr>
          <p:cNvPr id="28" name="TextBox 2"/>
          <p:cNvSpPr txBox="1"/>
          <p:nvPr/>
        </p:nvSpPr>
        <p:spPr>
          <a:xfrm>
            <a:off x="1028700" y="222250"/>
            <a:ext cx="16230600" cy="1377947"/>
          </a:xfrm>
          <a:prstGeom prst="rect">
            <a:avLst/>
          </a:prstGeom>
        </p:spPr>
        <p:txBody>
          <a:bodyPr lIns="0" tIns="0" rIns="0" bIns="0" rtlCol="0" anchor="t">
            <a:spAutoFit/>
          </a:bodyPr>
          <a:lstStyle/>
          <a:p>
            <a:pPr algn="ctr">
              <a:lnSpc>
                <a:spcPts val="11200"/>
              </a:lnSpc>
            </a:pPr>
            <a:r>
              <a:rPr lang="en-US" sz="8000" dirty="0">
                <a:solidFill>
                  <a:srgbClr val="000000"/>
                </a:solidFill>
                <a:latin typeface="Alatsi"/>
                <a:ea typeface="Alatsi"/>
                <a:cs typeface="Alatsi"/>
                <a:sym typeface="Alatsi"/>
              </a:rPr>
              <a:t>LITERATURE SURVEY</a:t>
            </a:r>
          </a:p>
        </p:txBody>
      </p:sp>
      <p:pic>
        <p:nvPicPr>
          <p:cNvPr id="6" name="Picture 2"/>
          <p:cNvPicPr>
            <a:picLocks noChangeAspect="1" noChangeArrowheads="1"/>
          </p:cNvPicPr>
          <p:nvPr/>
        </p:nvPicPr>
        <p:blipFill>
          <a:blip r:embed="rId4"/>
          <a:srcRect/>
          <a:stretch>
            <a:fillRect/>
          </a:stretch>
        </p:blipFill>
        <p:spPr bwMode="auto">
          <a:xfrm>
            <a:off x="2500266" y="1714476"/>
            <a:ext cx="13858972" cy="7215238"/>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674688"/>
            <a:ext cx="16230600"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EXISTING SYSTEM</a:t>
            </a:r>
          </a:p>
        </p:txBody>
      </p:sp>
      <p:sp>
        <p:nvSpPr>
          <p:cNvPr id="3" name="TextBox 3"/>
          <p:cNvSpPr txBox="1"/>
          <p:nvPr/>
        </p:nvSpPr>
        <p:spPr>
          <a:xfrm>
            <a:off x="1500134" y="2214542"/>
            <a:ext cx="15368516" cy="6063006"/>
          </a:xfrm>
          <a:prstGeom prst="rect">
            <a:avLst/>
          </a:prstGeom>
        </p:spPr>
        <p:txBody>
          <a:bodyPr lIns="0" tIns="0" rIns="0" bIns="0" rtlCol="0" anchor="t">
            <a:spAutoFit/>
          </a:bodyPr>
          <a:lstStyle/>
          <a:p>
            <a:pPr marL="688233" lvl="1" indent="-344117">
              <a:lnSpc>
                <a:spcPts val="5259"/>
              </a:lnSpc>
              <a:buFont typeface="Arial"/>
              <a:buChar char="•"/>
            </a:pPr>
            <a:r>
              <a:rPr lang="en-IN" sz="3200" dirty="0"/>
              <a:t>Current water quality monitoring systems typically rely on manual testing or local sensors that provide limited data access. These systems are often bulky, expensive, and not easily scalable for continuous monitoring. </a:t>
            </a:r>
          </a:p>
          <a:p>
            <a:pPr marL="688233" lvl="1" indent="-344117">
              <a:lnSpc>
                <a:spcPts val="5259"/>
              </a:lnSpc>
              <a:buFont typeface="Arial"/>
              <a:buChar char="•"/>
            </a:pPr>
            <a:r>
              <a:rPr lang="en-IN" sz="3200" dirty="0"/>
              <a:t>Traditional methods involve taking water samples and sending them to laboratories for analysis, which can be time-consuming and may not provide real-time results. Some automated systems exist, but many are standalone devices that require manual intervention for data collection and analysis. </a:t>
            </a:r>
          </a:p>
          <a:p>
            <a:pPr marL="688233" lvl="1" indent="-344117">
              <a:lnSpc>
                <a:spcPts val="5259"/>
              </a:lnSpc>
              <a:buFont typeface="Arial"/>
              <a:buChar char="•"/>
            </a:pPr>
            <a:r>
              <a:rPr lang="en-IN" sz="3200" dirty="0"/>
              <a:t>Furthermore, remote monitoring is not always available, making it difficult for users to track water quality in real-time, especially in remote or hard-to-reach locations.</a:t>
            </a:r>
            <a:endParaRPr lang="en-US" sz="3187" b="1" dirty="0">
              <a:solidFill>
                <a:srgbClr val="000000"/>
              </a:solidFill>
              <a:latin typeface="Times New Roman Semi-Bold"/>
              <a:ea typeface="Times New Roman Semi-Bold"/>
              <a:cs typeface="Times New Roman Semi-Bold"/>
              <a:sym typeface="Times New Roman Semi-Bold"/>
            </a:endParaRPr>
          </a:p>
        </p:txBody>
      </p:sp>
      <p:sp>
        <p:nvSpPr>
          <p:cNvPr id="4" name="TextBox 4"/>
          <p:cNvSpPr txBox="1"/>
          <p:nvPr/>
        </p:nvSpPr>
        <p:spPr>
          <a:xfrm>
            <a:off x="15852577" y="8721298"/>
            <a:ext cx="1562612" cy="959703"/>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7</a:t>
            </a:r>
          </a:p>
        </p:txBody>
      </p:sp>
      <p:grpSp>
        <p:nvGrpSpPr>
          <p:cNvPr id="5" name="Group 5"/>
          <p:cNvGrpSpPr/>
          <p:nvPr/>
        </p:nvGrpSpPr>
        <p:grpSpPr>
          <a:xfrm>
            <a:off x="0" y="9258300"/>
            <a:ext cx="11543796" cy="441617"/>
            <a:chOff x="0" y="0"/>
            <a:chExt cx="15391728" cy="588823"/>
          </a:xfrm>
        </p:grpSpPr>
        <p:sp>
          <p:nvSpPr>
            <p:cNvPr id="6" name="AutoShape 6"/>
            <p:cNvSpPr/>
            <p:nvPr/>
          </p:nvSpPr>
          <p:spPr>
            <a:xfrm>
              <a:off x="0" y="345211"/>
              <a:ext cx="10819962" cy="0"/>
            </a:xfrm>
            <a:prstGeom prst="line">
              <a:avLst/>
            </a:prstGeom>
            <a:ln w="101600" cap="flat">
              <a:solidFill>
                <a:srgbClr val="0F4662"/>
              </a:solidFill>
              <a:prstDash val="solid"/>
              <a:headEnd type="none" w="sm" len="sm"/>
              <a:tailEnd type="none" w="sm" len="sm"/>
            </a:ln>
          </p:spPr>
        </p:sp>
        <p:sp>
          <p:nvSpPr>
            <p:cNvPr id="7" name="Freeform 7"/>
            <p:cNvSpPr/>
            <p:nvPr/>
          </p:nvSpPr>
          <p:spPr>
            <a:xfrm>
              <a:off x="11433257" y="0"/>
              <a:ext cx="3958471" cy="588823"/>
            </a:xfrm>
            <a:custGeom>
              <a:avLst/>
              <a:gdLst/>
              <a:ahLst/>
              <a:cxnLst/>
              <a:rect l="l" t="t" r="r" b="b"/>
              <a:pathLst>
                <a:path w="3958471" h="588823">
                  <a:moveTo>
                    <a:pt x="0" y="0"/>
                  </a:moveTo>
                  <a:lnTo>
                    <a:pt x="3958471" y="0"/>
                  </a:lnTo>
                  <a:lnTo>
                    <a:pt x="3958471" y="588823"/>
                  </a:lnTo>
                  <a:lnTo>
                    <a:pt x="0" y="5888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366600"/>
            <a:ext cx="16230600"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PROPOSED SYSTEM</a:t>
            </a:r>
          </a:p>
        </p:txBody>
      </p:sp>
      <p:sp>
        <p:nvSpPr>
          <p:cNvPr id="3" name="TextBox 3"/>
          <p:cNvSpPr txBox="1"/>
          <p:nvPr/>
        </p:nvSpPr>
        <p:spPr>
          <a:xfrm>
            <a:off x="15941656" y="8740214"/>
            <a:ext cx="1562612" cy="959703"/>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8</a:t>
            </a:r>
          </a:p>
        </p:txBody>
      </p:sp>
      <p:grpSp>
        <p:nvGrpSpPr>
          <p:cNvPr id="4" name="Group 4"/>
          <p:cNvGrpSpPr/>
          <p:nvPr/>
        </p:nvGrpSpPr>
        <p:grpSpPr>
          <a:xfrm>
            <a:off x="0" y="9258300"/>
            <a:ext cx="11543796" cy="441617"/>
            <a:chOff x="0" y="0"/>
            <a:chExt cx="15391728" cy="588823"/>
          </a:xfrm>
        </p:grpSpPr>
        <p:sp>
          <p:nvSpPr>
            <p:cNvPr id="5" name="AutoShape 5"/>
            <p:cNvSpPr/>
            <p:nvPr/>
          </p:nvSpPr>
          <p:spPr>
            <a:xfrm>
              <a:off x="0" y="345211"/>
              <a:ext cx="10819962" cy="0"/>
            </a:xfrm>
            <a:prstGeom prst="line">
              <a:avLst/>
            </a:prstGeom>
            <a:ln w="101600" cap="flat">
              <a:solidFill>
                <a:srgbClr val="0F4662"/>
              </a:solidFill>
              <a:prstDash val="solid"/>
              <a:headEnd type="none" w="sm" len="sm"/>
              <a:tailEnd type="none" w="sm" len="sm"/>
            </a:ln>
          </p:spPr>
        </p:sp>
        <p:sp>
          <p:nvSpPr>
            <p:cNvPr id="6" name="Freeform 6"/>
            <p:cNvSpPr/>
            <p:nvPr/>
          </p:nvSpPr>
          <p:spPr>
            <a:xfrm>
              <a:off x="11433257" y="0"/>
              <a:ext cx="3958471" cy="588823"/>
            </a:xfrm>
            <a:custGeom>
              <a:avLst/>
              <a:gdLst/>
              <a:ahLst/>
              <a:cxnLst/>
              <a:rect l="l" t="t" r="r" b="b"/>
              <a:pathLst>
                <a:path w="3958471" h="588823">
                  <a:moveTo>
                    <a:pt x="0" y="0"/>
                  </a:moveTo>
                  <a:lnTo>
                    <a:pt x="3958471" y="0"/>
                  </a:lnTo>
                  <a:lnTo>
                    <a:pt x="3958471" y="588823"/>
                  </a:lnTo>
                  <a:lnTo>
                    <a:pt x="0" y="5888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7" name="TextBox 7"/>
          <p:cNvSpPr txBox="1"/>
          <p:nvPr/>
        </p:nvSpPr>
        <p:spPr>
          <a:xfrm>
            <a:off x="1714448" y="1928790"/>
            <a:ext cx="14644790" cy="6735177"/>
          </a:xfrm>
          <a:prstGeom prst="rect">
            <a:avLst/>
          </a:prstGeom>
        </p:spPr>
        <p:txBody>
          <a:bodyPr wrap="square" lIns="0" tIns="0" rIns="0" bIns="0" rtlCol="0" anchor="t">
            <a:spAutoFit/>
          </a:bodyPr>
          <a:lstStyle/>
          <a:p>
            <a:pPr marL="688233" lvl="1" indent="-344117">
              <a:lnSpc>
                <a:spcPts val="5259"/>
              </a:lnSpc>
              <a:buFont typeface="Arial"/>
              <a:buChar char="•"/>
            </a:pPr>
            <a:r>
              <a:rPr lang="en-IN" sz="3200" dirty="0"/>
              <a:t>The proposed Smart Water Monitoring System aims to address the limitations of existing systems by utilizing </a:t>
            </a:r>
            <a:r>
              <a:rPr lang="en-IN" sz="3200" dirty="0" err="1"/>
              <a:t>IoT</a:t>
            </a:r>
            <a:r>
              <a:rPr lang="en-IN" sz="3200" dirty="0"/>
              <a:t> technology for continuous, real-time water quality monitoring. </a:t>
            </a:r>
          </a:p>
          <a:p>
            <a:pPr marL="688233" lvl="1" indent="-344117">
              <a:lnSpc>
                <a:spcPts val="5259"/>
              </a:lnSpc>
              <a:buFont typeface="Arial"/>
              <a:buChar char="•"/>
            </a:pPr>
            <a:r>
              <a:rPr lang="en-IN" sz="3200" dirty="0"/>
              <a:t>By integrating pH and temperature sensors with an ESP8266 microcontroller, the system collects data and transmits it to the </a:t>
            </a:r>
            <a:r>
              <a:rPr lang="en-IN" sz="3200" dirty="0" err="1"/>
              <a:t>Blynk</a:t>
            </a:r>
            <a:r>
              <a:rPr lang="en-IN" sz="3200" dirty="0"/>
              <a:t> </a:t>
            </a:r>
            <a:r>
              <a:rPr lang="en-IN" sz="3200" dirty="0" err="1"/>
              <a:t>IoT</a:t>
            </a:r>
            <a:r>
              <a:rPr lang="en-IN" sz="3200" dirty="0"/>
              <a:t> platform. </a:t>
            </a:r>
          </a:p>
          <a:p>
            <a:pPr marL="688233" lvl="1" indent="-344117">
              <a:lnSpc>
                <a:spcPts val="5259"/>
              </a:lnSpc>
              <a:buFont typeface="Arial"/>
              <a:buChar char="•"/>
            </a:pPr>
            <a:r>
              <a:rPr lang="en-IN" sz="3200" dirty="0"/>
              <a:t>This cloud-based solution allows users to remotely monitor water quality through a mobile or web application, ensuring accessibility and real-time updates. </a:t>
            </a:r>
          </a:p>
          <a:p>
            <a:pPr marL="688233" lvl="1" indent="-344117">
              <a:lnSpc>
                <a:spcPts val="5259"/>
              </a:lnSpc>
              <a:buFont typeface="Arial"/>
              <a:buChar char="•"/>
            </a:pPr>
            <a:r>
              <a:rPr lang="en-IN" sz="3200" dirty="0"/>
              <a:t>The system is designed to be cost-effective, scalable, and easy to use, providing an efficient solution for water quality management in various sectors, including agriculture, industry, and environmental conservation.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9258300"/>
            <a:ext cx="11543796" cy="441617"/>
            <a:chOff x="0" y="0"/>
            <a:chExt cx="15391728" cy="588823"/>
          </a:xfrm>
        </p:grpSpPr>
        <p:sp>
          <p:nvSpPr>
            <p:cNvPr id="3" name="AutoShape 3"/>
            <p:cNvSpPr/>
            <p:nvPr/>
          </p:nvSpPr>
          <p:spPr>
            <a:xfrm>
              <a:off x="0" y="345211"/>
              <a:ext cx="10819962" cy="0"/>
            </a:xfrm>
            <a:prstGeom prst="line">
              <a:avLst/>
            </a:prstGeom>
            <a:ln w="101600" cap="flat">
              <a:solidFill>
                <a:srgbClr val="0F4662"/>
              </a:solidFill>
              <a:prstDash val="solid"/>
              <a:headEnd type="none" w="sm" len="sm"/>
              <a:tailEnd type="none" w="sm" len="sm"/>
            </a:ln>
          </p:spPr>
        </p:sp>
        <p:sp>
          <p:nvSpPr>
            <p:cNvPr id="4" name="Freeform 4"/>
            <p:cNvSpPr/>
            <p:nvPr/>
          </p:nvSpPr>
          <p:spPr>
            <a:xfrm>
              <a:off x="11433257" y="0"/>
              <a:ext cx="3958471" cy="588823"/>
            </a:xfrm>
            <a:custGeom>
              <a:avLst/>
              <a:gdLst/>
              <a:ahLst/>
              <a:cxnLst/>
              <a:rect l="l" t="t" r="r" b="b"/>
              <a:pathLst>
                <a:path w="3958471" h="588823">
                  <a:moveTo>
                    <a:pt x="0" y="0"/>
                  </a:moveTo>
                  <a:lnTo>
                    <a:pt x="3958471" y="0"/>
                  </a:lnTo>
                  <a:lnTo>
                    <a:pt x="3958471" y="588823"/>
                  </a:lnTo>
                  <a:lnTo>
                    <a:pt x="0" y="5888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6" name="TextBox 6"/>
          <p:cNvSpPr txBox="1"/>
          <p:nvPr/>
        </p:nvSpPr>
        <p:spPr>
          <a:xfrm>
            <a:off x="1028700" y="674688"/>
            <a:ext cx="16230600"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BLOCK DIAGRAM</a:t>
            </a:r>
          </a:p>
        </p:txBody>
      </p:sp>
      <p:sp>
        <p:nvSpPr>
          <p:cNvPr id="7" name="TextBox 7"/>
          <p:cNvSpPr txBox="1"/>
          <p:nvPr/>
        </p:nvSpPr>
        <p:spPr>
          <a:xfrm>
            <a:off x="15963064" y="8721298"/>
            <a:ext cx="1562612" cy="959703"/>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9</a:t>
            </a:r>
          </a:p>
        </p:txBody>
      </p:sp>
      <p:pic>
        <p:nvPicPr>
          <p:cNvPr id="8" name="Picture 7"/>
          <p:cNvPicPr/>
          <p:nvPr/>
        </p:nvPicPr>
        <p:blipFill>
          <a:blip r:embed="rId4"/>
          <a:srcRect/>
          <a:stretch>
            <a:fillRect/>
          </a:stretch>
        </p:blipFill>
        <p:spPr bwMode="auto">
          <a:xfrm>
            <a:off x="3929026" y="2143104"/>
            <a:ext cx="10144196" cy="7000924"/>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00068" y="214278"/>
            <a:ext cx="16230600" cy="1450976"/>
          </a:xfrm>
          <a:prstGeom prst="rect">
            <a:avLst/>
          </a:prstGeom>
        </p:spPr>
        <p:txBody>
          <a:bodyPr lIns="0" tIns="0" rIns="0" bIns="0" rtlCol="0" anchor="t">
            <a:spAutoFit/>
          </a:bodyPr>
          <a:lstStyle/>
          <a:p>
            <a:pPr algn="ctr">
              <a:lnSpc>
                <a:spcPts val="11899"/>
              </a:lnSpc>
            </a:pPr>
            <a:r>
              <a:rPr lang="en-US" sz="8499" dirty="0">
                <a:solidFill>
                  <a:srgbClr val="000000"/>
                </a:solidFill>
                <a:latin typeface="Alatsi"/>
                <a:ea typeface="Alatsi"/>
                <a:cs typeface="Alatsi"/>
                <a:sym typeface="Alatsi"/>
              </a:rPr>
              <a:t>COMPONENTS</a:t>
            </a:r>
          </a:p>
        </p:txBody>
      </p:sp>
      <p:sp>
        <p:nvSpPr>
          <p:cNvPr id="3" name="TextBox 3"/>
          <p:cNvSpPr txBox="1"/>
          <p:nvPr/>
        </p:nvSpPr>
        <p:spPr>
          <a:xfrm>
            <a:off x="16046952" y="8740214"/>
            <a:ext cx="1562612" cy="959703"/>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10</a:t>
            </a:r>
          </a:p>
        </p:txBody>
      </p:sp>
      <p:grpSp>
        <p:nvGrpSpPr>
          <p:cNvPr id="4" name="Group 4"/>
          <p:cNvGrpSpPr/>
          <p:nvPr/>
        </p:nvGrpSpPr>
        <p:grpSpPr>
          <a:xfrm>
            <a:off x="0" y="9258300"/>
            <a:ext cx="11543796" cy="441617"/>
            <a:chOff x="0" y="0"/>
            <a:chExt cx="15391728" cy="588823"/>
          </a:xfrm>
        </p:grpSpPr>
        <p:sp>
          <p:nvSpPr>
            <p:cNvPr id="5" name="AutoShape 5"/>
            <p:cNvSpPr/>
            <p:nvPr/>
          </p:nvSpPr>
          <p:spPr>
            <a:xfrm>
              <a:off x="0" y="345211"/>
              <a:ext cx="10819962" cy="0"/>
            </a:xfrm>
            <a:prstGeom prst="line">
              <a:avLst/>
            </a:prstGeom>
            <a:ln w="101600" cap="flat">
              <a:solidFill>
                <a:srgbClr val="0F4662"/>
              </a:solidFill>
              <a:prstDash val="solid"/>
              <a:headEnd type="none" w="sm" len="sm"/>
              <a:tailEnd type="none" w="sm" len="sm"/>
            </a:ln>
          </p:spPr>
        </p:sp>
        <p:sp>
          <p:nvSpPr>
            <p:cNvPr id="6" name="Freeform 6"/>
            <p:cNvSpPr/>
            <p:nvPr/>
          </p:nvSpPr>
          <p:spPr>
            <a:xfrm>
              <a:off x="11433257" y="0"/>
              <a:ext cx="3958471" cy="588823"/>
            </a:xfrm>
            <a:custGeom>
              <a:avLst/>
              <a:gdLst/>
              <a:ahLst/>
              <a:cxnLst/>
              <a:rect l="l" t="t" r="r" b="b"/>
              <a:pathLst>
                <a:path w="3958471" h="588823">
                  <a:moveTo>
                    <a:pt x="0" y="0"/>
                  </a:moveTo>
                  <a:lnTo>
                    <a:pt x="3958471" y="0"/>
                  </a:lnTo>
                  <a:lnTo>
                    <a:pt x="3958471" y="588823"/>
                  </a:lnTo>
                  <a:lnTo>
                    <a:pt x="0" y="5888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8" name="Rectangle 7"/>
          <p:cNvSpPr/>
          <p:nvPr/>
        </p:nvSpPr>
        <p:spPr>
          <a:xfrm>
            <a:off x="1500134" y="1643038"/>
            <a:ext cx="15287732" cy="6986528"/>
          </a:xfrm>
          <a:prstGeom prst="rect">
            <a:avLst/>
          </a:prstGeom>
        </p:spPr>
        <p:txBody>
          <a:bodyPr wrap="square">
            <a:spAutoFit/>
          </a:bodyPr>
          <a:lstStyle/>
          <a:p>
            <a:pPr algn="just"/>
            <a:r>
              <a:rPr lang="en-IN" sz="2800" b="1" dirty="0"/>
              <a:t>1. ESP8266 Microcontroller:</a:t>
            </a:r>
          </a:p>
          <a:p>
            <a:pPr algn="just"/>
            <a:r>
              <a:rPr lang="en-IN" sz="2800" dirty="0"/>
              <a:t>The ESP8266 is a low-cost </a:t>
            </a:r>
            <a:r>
              <a:rPr lang="en-IN" sz="2800" dirty="0" err="1"/>
              <a:t>WiFi</a:t>
            </a:r>
            <a:r>
              <a:rPr lang="en-IN" sz="2800" dirty="0"/>
              <a:t> microcontroller used for wireless communication in </a:t>
            </a:r>
            <a:r>
              <a:rPr lang="en-IN" sz="2800" dirty="0" err="1"/>
              <a:t>IoT</a:t>
            </a:r>
            <a:r>
              <a:rPr lang="en-IN" sz="2800" dirty="0"/>
              <a:t> applications. It handles data acquisition from sensors and sends the data to the </a:t>
            </a:r>
            <a:r>
              <a:rPr lang="en-IN" sz="2800" dirty="0" err="1"/>
              <a:t>Blynk</a:t>
            </a:r>
            <a:r>
              <a:rPr lang="en-IN" sz="2800" dirty="0"/>
              <a:t> </a:t>
            </a:r>
            <a:r>
              <a:rPr lang="en-IN" sz="2800" dirty="0" err="1"/>
              <a:t>IoT</a:t>
            </a:r>
            <a:r>
              <a:rPr lang="en-IN" sz="2800" dirty="0"/>
              <a:t> platform.</a:t>
            </a:r>
          </a:p>
          <a:p>
            <a:pPr algn="just"/>
            <a:r>
              <a:rPr lang="en-IN" sz="2800" b="1" dirty="0"/>
              <a:t>2. pH Sensor:</a:t>
            </a:r>
          </a:p>
          <a:p>
            <a:pPr algn="just"/>
            <a:r>
              <a:rPr lang="en-IN" sz="2800" dirty="0"/>
              <a:t>The pH sensor measures the acidity or alkalinity of water, providing essential data for monitoring water quality. It works by detecting the hydrogen ion concentration in the water sample.</a:t>
            </a:r>
          </a:p>
          <a:p>
            <a:pPr algn="just"/>
            <a:r>
              <a:rPr lang="en-IN" sz="2800" b="1" dirty="0"/>
              <a:t>3. Temperature Sensor:</a:t>
            </a:r>
          </a:p>
          <a:p>
            <a:pPr algn="just"/>
            <a:r>
              <a:rPr lang="en-IN" sz="2800" dirty="0"/>
              <a:t>The temperature sensor measures the water's temperature, which is crucial for evaluating its quality and suitability for various applications. It provides accurate and real-time temperature readings.</a:t>
            </a:r>
          </a:p>
          <a:p>
            <a:pPr algn="just"/>
            <a:r>
              <a:rPr lang="en-IN" sz="2800" b="1" dirty="0"/>
              <a:t>4. </a:t>
            </a:r>
            <a:r>
              <a:rPr lang="en-IN" sz="2800" b="1" dirty="0" err="1"/>
              <a:t>Blynk</a:t>
            </a:r>
            <a:r>
              <a:rPr lang="en-IN" sz="2800" b="1" dirty="0"/>
              <a:t> </a:t>
            </a:r>
            <a:r>
              <a:rPr lang="en-IN" sz="2800" b="1" dirty="0" err="1"/>
              <a:t>IoT</a:t>
            </a:r>
            <a:r>
              <a:rPr lang="en-IN" sz="2800" b="1" dirty="0"/>
              <a:t> Platform:</a:t>
            </a:r>
          </a:p>
          <a:p>
            <a:pPr algn="just"/>
            <a:r>
              <a:rPr lang="en-IN" sz="2800" dirty="0"/>
              <a:t>The </a:t>
            </a:r>
            <a:r>
              <a:rPr lang="en-IN" sz="2800" dirty="0" err="1"/>
              <a:t>Blynk</a:t>
            </a:r>
            <a:r>
              <a:rPr lang="en-IN" sz="2800" dirty="0"/>
              <a:t> </a:t>
            </a:r>
            <a:r>
              <a:rPr lang="en-IN" sz="2800" dirty="0" err="1"/>
              <a:t>IoT</a:t>
            </a:r>
            <a:r>
              <a:rPr lang="en-IN" sz="2800" dirty="0"/>
              <a:t> platform enables remote monitoring and control of the system through a mobile or web application. It collects data from the ESP8266 and visualizes it in a user-friendly interface for real-time access.</a:t>
            </a:r>
          </a:p>
          <a:p>
            <a:pPr algn="just"/>
            <a:r>
              <a:rPr lang="en-IN" sz="2800" b="1" dirty="0"/>
              <a:t>5. Power Supply:</a:t>
            </a:r>
          </a:p>
          <a:p>
            <a:pPr algn="just"/>
            <a:r>
              <a:rPr lang="en-IN" sz="2800" dirty="0"/>
              <a:t>A stable power supply is required to power the ESP8266 microcontroller and sensors. It ensures that the system operates reliably without interruptions, especially for remote monitoring.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00068" y="357154"/>
            <a:ext cx="16230600" cy="1450976"/>
          </a:xfrm>
          <a:prstGeom prst="rect">
            <a:avLst/>
          </a:prstGeom>
        </p:spPr>
        <p:txBody>
          <a:bodyPr lIns="0" tIns="0" rIns="0" bIns="0" rtlCol="0" anchor="t">
            <a:spAutoFit/>
          </a:bodyPr>
          <a:lstStyle/>
          <a:p>
            <a:pPr algn="ctr">
              <a:lnSpc>
                <a:spcPts val="11899"/>
              </a:lnSpc>
            </a:pPr>
            <a:r>
              <a:rPr lang="en-US" sz="8499" dirty="0">
                <a:solidFill>
                  <a:srgbClr val="000000"/>
                </a:solidFill>
                <a:latin typeface="Alatsi"/>
                <a:ea typeface="Alatsi"/>
                <a:cs typeface="Alatsi"/>
                <a:sym typeface="Alatsi"/>
              </a:rPr>
              <a:t>FEATURES</a:t>
            </a:r>
          </a:p>
        </p:txBody>
      </p:sp>
      <p:sp>
        <p:nvSpPr>
          <p:cNvPr id="3" name="TextBox 3"/>
          <p:cNvSpPr txBox="1"/>
          <p:nvPr/>
        </p:nvSpPr>
        <p:spPr>
          <a:xfrm>
            <a:off x="15921501" y="8721298"/>
            <a:ext cx="1562612" cy="959703"/>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11</a:t>
            </a:r>
          </a:p>
        </p:txBody>
      </p:sp>
      <p:grpSp>
        <p:nvGrpSpPr>
          <p:cNvPr id="4" name="Group 4"/>
          <p:cNvGrpSpPr/>
          <p:nvPr/>
        </p:nvGrpSpPr>
        <p:grpSpPr>
          <a:xfrm>
            <a:off x="0" y="9258300"/>
            <a:ext cx="11543796" cy="441617"/>
            <a:chOff x="0" y="0"/>
            <a:chExt cx="15391728" cy="588823"/>
          </a:xfrm>
        </p:grpSpPr>
        <p:sp>
          <p:nvSpPr>
            <p:cNvPr id="5" name="AutoShape 5"/>
            <p:cNvSpPr/>
            <p:nvPr/>
          </p:nvSpPr>
          <p:spPr>
            <a:xfrm>
              <a:off x="0" y="345211"/>
              <a:ext cx="10819962" cy="0"/>
            </a:xfrm>
            <a:prstGeom prst="line">
              <a:avLst/>
            </a:prstGeom>
            <a:ln w="101600" cap="flat">
              <a:solidFill>
                <a:srgbClr val="0F4662"/>
              </a:solidFill>
              <a:prstDash val="solid"/>
              <a:headEnd type="none" w="sm" len="sm"/>
              <a:tailEnd type="none" w="sm" len="sm"/>
            </a:ln>
          </p:spPr>
        </p:sp>
        <p:sp>
          <p:nvSpPr>
            <p:cNvPr id="6" name="Freeform 6"/>
            <p:cNvSpPr/>
            <p:nvPr/>
          </p:nvSpPr>
          <p:spPr>
            <a:xfrm>
              <a:off x="11433257" y="0"/>
              <a:ext cx="3958471" cy="588823"/>
            </a:xfrm>
            <a:custGeom>
              <a:avLst/>
              <a:gdLst/>
              <a:ahLst/>
              <a:cxnLst/>
              <a:rect l="l" t="t" r="r" b="b"/>
              <a:pathLst>
                <a:path w="3958471" h="588823">
                  <a:moveTo>
                    <a:pt x="0" y="0"/>
                  </a:moveTo>
                  <a:lnTo>
                    <a:pt x="3958471" y="0"/>
                  </a:lnTo>
                  <a:lnTo>
                    <a:pt x="3958471" y="588823"/>
                  </a:lnTo>
                  <a:lnTo>
                    <a:pt x="0" y="5888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7" name="TextBox 7"/>
          <p:cNvSpPr txBox="1"/>
          <p:nvPr/>
        </p:nvSpPr>
        <p:spPr>
          <a:xfrm>
            <a:off x="2000200" y="1785914"/>
            <a:ext cx="14263191" cy="7414850"/>
          </a:xfrm>
          <a:prstGeom prst="rect">
            <a:avLst/>
          </a:prstGeom>
        </p:spPr>
        <p:txBody>
          <a:bodyPr lIns="0" tIns="0" rIns="0" bIns="0" rtlCol="0" anchor="t">
            <a:spAutoFit/>
          </a:bodyPr>
          <a:lstStyle/>
          <a:p>
            <a:pPr marL="688233" lvl="1" indent="-344117" algn="just">
              <a:lnSpc>
                <a:spcPts val="5259"/>
              </a:lnSpc>
              <a:buFont typeface="Arial"/>
              <a:buChar char="•"/>
            </a:pPr>
            <a:r>
              <a:rPr lang="en-IN" sz="3200" dirty="0"/>
              <a:t>The Smart Water Monitoring System offers several key features that make it an effective solution for real-time water quality monitoring. It allows for continuous tracking of critical parameters such as pH and temperature, providing real-time data on water quality. </a:t>
            </a:r>
          </a:p>
          <a:p>
            <a:pPr marL="688233" lvl="1" indent="-344117" algn="just">
              <a:lnSpc>
                <a:spcPts val="5259"/>
              </a:lnSpc>
              <a:buFont typeface="Arial"/>
              <a:buChar char="•"/>
            </a:pPr>
            <a:r>
              <a:rPr lang="en-IN" sz="3200" dirty="0"/>
              <a:t>The system integrates seamlessly with the </a:t>
            </a:r>
            <a:r>
              <a:rPr lang="en-IN" sz="3200" dirty="0" err="1"/>
              <a:t>Blynk</a:t>
            </a:r>
            <a:r>
              <a:rPr lang="en-IN" sz="3200" dirty="0"/>
              <a:t> </a:t>
            </a:r>
            <a:r>
              <a:rPr lang="en-IN" sz="3200" dirty="0" err="1"/>
              <a:t>IoT</a:t>
            </a:r>
            <a:r>
              <a:rPr lang="en-IN" sz="3200" dirty="0"/>
              <a:t> platform, allowing users to access the data remotely via mobile or web applications. The cloud-based design ensures that data is stored and can be easily accessed anytime, anywhere, making monitoring efficient and convenient. </a:t>
            </a:r>
          </a:p>
          <a:p>
            <a:pPr marL="688233" lvl="1" indent="-344117" algn="just">
              <a:lnSpc>
                <a:spcPts val="5259"/>
              </a:lnSpc>
              <a:buFont typeface="Arial"/>
              <a:buChar char="•"/>
            </a:pPr>
            <a:r>
              <a:rPr lang="en-IN" sz="3200" dirty="0"/>
              <a:t>Additionally, the system is cost-effective, scalable, and equipped with a user-friendly interface for easy operation and analysis, making it suitable for a wide range of applications.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28630" y="214278"/>
            <a:ext cx="16230600" cy="1450976"/>
          </a:xfrm>
          <a:prstGeom prst="rect">
            <a:avLst/>
          </a:prstGeom>
        </p:spPr>
        <p:txBody>
          <a:bodyPr lIns="0" tIns="0" rIns="0" bIns="0" rtlCol="0" anchor="t">
            <a:spAutoFit/>
          </a:bodyPr>
          <a:lstStyle/>
          <a:p>
            <a:pPr algn="ctr">
              <a:lnSpc>
                <a:spcPts val="11899"/>
              </a:lnSpc>
            </a:pPr>
            <a:r>
              <a:rPr lang="en-US" sz="8499" dirty="0">
                <a:solidFill>
                  <a:srgbClr val="000000"/>
                </a:solidFill>
                <a:latin typeface="Alatsi"/>
                <a:ea typeface="Alatsi"/>
                <a:cs typeface="Alatsi"/>
                <a:sym typeface="Alatsi"/>
              </a:rPr>
              <a:t>APPLICATION</a:t>
            </a:r>
          </a:p>
        </p:txBody>
      </p:sp>
      <p:sp>
        <p:nvSpPr>
          <p:cNvPr id="3" name="TextBox 3"/>
          <p:cNvSpPr txBox="1"/>
          <p:nvPr/>
        </p:nvSpPr>
        <p:spPr>
          <a:xfrm>
            <a:off x="15900719" y="8740214"/>
            <a:ext cx="1562612" cy="959703"/>
          </a:xfrm>
          <a:prstGeom prst="rect">
            <a:avLst/>
          </a:prstGeom>
        </p:spPr>
        <p:txBody>
          <a:bodyPr lIns="0" tIns="0" rIns="0" bIns="0" rtlCol="0" anchor="t">
            <a:spAutoFit/>
          </a:bodyPr>
          <a:lstStyle/>
          <a:p>
            <a:pPr algn="ctr">
              <a:lnSpc>
                <a:spcPts val="7805"/>
              </a:lnSpc>
            </a:pPr>
            <a:r>
              <a:rPr lang="en-US" sz="5575" b="1">
                <a:solidFill>
                  <a:srgbClr val="000000"/>
                </a:solidFill>
                <a:latin typeface="Open Sans Bold"/>
                <a:ea typeface="Open Sans Bold"/>
                <a:cs typeface="Open Sans Bold"/>
                <a:sym typeface="Open Sans Bold"/>
              </a:rPr>
              <a:t>12</a:t>
            </a:r>
          </a:p>
        </p:txBody>
      </p:sp>
      <p:sp>
        <p:nvSpPr>
          <p:cNvPr id="4" name="TextBox 4"/>
          <p:cNvSpPr txBox="1"/>
          <p:nvPr/>
        </p:nvSpPr>
        <p:spPr>
          <a:xfrm>
            <a:off x="1785886" y="1643038"/>
            <a:ext cx="15428157" cy="7476406"/>
          </a:xfrm>
          <a:prstGeom prst="rect">
            <a:avLst/>
          </a:prstGeom>
        </p:spPr>
        <p:txBody>
          <a:bodyPr lIns="0" tIns="0" rIns="0" bIns="0" rtlCol="0" anchor="t">
            <a:spAutoFit/>
          </a:bodyPr>
          <a:lstStyle/>
          <a:p>
            <a:pPr marL="688233" lvl="1" indent="-344117" algn="just">
              <a:lnSpc>
                <a:spcPts val="5259"/>
              </a:lnSpc>
              <a:buFont typeface="Arial"/>
              <a:buChar char="•"/>
            </a:pPr>
            <a:r>
              <a:rPr lang="en-IN" sz="3200" dirty="0"/>
              <a:t>The Smart Water Monitoring System can be applied across various industries where water quality is a critical factor. </a:t>
            </a:r>
          </a:p>
          <a:p>
            <a:pPr marL="688233" lvl="1" indent="-344117" algn="just">
              <a:lnSpc>
                <a:spcPts val="5259"/>
              </a:lnSpc>
              <a:buFont typeface="Arial"/>
              <a:buChar char="•"/>
            </a:pPr>
            <a:r>
              <a:rPr lang="en-IN" sz="3200" dirty="0"/>
              <a:t>In agriculture, it helps farmers monitor irrigation water to ensure the optimal health of crops. </a:t>
            </a:r>
          </a:p>
          <a:p>
            <a:pPr marL="688233" lvl="1" indent="-344117" algn="just">
              <a:lnSpc>
                <a:spcPts val="5259"/>
              </a:lnSpc>
              <a:buFont typeface="Arial"/>
              <a:buChar char="•"/>
            </a:pPr>
            <a:r>
              <a:rPr lang="en-IN" sz="3200" dirty="0"/>
              <a:t>Environmental monitoring is another important application, allowing the system to track the quality of rivers, lakes, and other water bodies, ensuring they remain safe for ecosystems and human use. </a:t>
            </a:r>
          </a:p>
          <a:p>
            <a:pPr marL="688233" lvl="1" indent="-344117" algn="just">
              <a:lnSpc>
                <a:spcPts val="5259"/>
              </a:lnSpc>
              <a:buFont typeface="Arial"/>
              <a:buChar char="•"/>
            </a:pPr>
            <a:r>
              <a:rPr lang="en-IN" sz="3200" dirty="0"/>
              <a:t>Water treatment plants benefit from continuous monitoring, ensuring that water quality meets regulatory standards before it is distributed. </a:t>
            </a:r>
          </a:p>
          <a:p>
            <a:pPr marL="688233" lvl="1" indent="-344117" algn="just">
              <a:lnSpc>
                <a:spcPts val="5259"/>
              </a:lnSpc>
              <a:buFont typeface="Arial"/>
              <a:buChar char="•"/>
            </a:pPr>
            <a:r>
              <a:rPr lang="en-IN" sz="3200" dirty="0"/>
              <a:t>In industrial applications, the system can be used to monitor water conditions in manufacturing processes, cooling systems, or other water-dependent operations. </a:t>
            </a:r>
          </a:p>
        </p:txBody>
      </p:sp>
      <p:grpSp>
        <p:nvGrpSpPr>
          <p:cNvPr id="5" name="Group 5"/>
          <p:cNvGrpSpPr/>
          <p:nvPr/>
        </p:nvGrpSpPr>
        <p:grpSpPr>
          <a:xfrm>
            <a:off x="0" y="9258300"/>
            <a:ext cx="11543796" cy="441617"/>
            <a:chOff x="0" y="0"/>
            <a:chExt cx="15391728" cy="588823"/>
          </a:xfrm>
        </p:grpSpPr>
        <p:sp>
          <p:nvSpPr>
            <p:cNvPr id="6" name="AutoShape 6"/>
            <p:cNvSpPr/>
            <p:nvPr/>
          </p:nvSpPr>
          <p:spPr>
            <a:xfrm>
              <a:off x="0" y="345211"/>
              <a:ext cx="10819962" cy="0"/>
            </a:xfrm>
            <a:prstGeom prst="line">
              <a:avLst/>
            </a:prstGeom>
            <a:ln w="101600" cap="flat">
              <a:solidFill>
                <a:srgbClr val="0F4662"/>
              </a:solidFill>
              <a:prstDash val="solid"/>
              <a:headEnd type="none" w="sm" len="sm"/>
              <a:tailEnd type="none" w="sm" len="sm"/>
            </a:ln>
          </p:spPr>
        </p:sp>
        <p:sp>
          <p:nvSpPr>
            <p:cNvPr id="7" name="Freeform 7"/>
            <p:cNvSpPr/>
            <p:nvPr/>
          </p:nvSpPr>
          <p:spPr>
            <a:xfrm>
              <a:off x="11433257" y="0"/>
              <a:ext cx="3958471" cy="588823"/>
            </a:xfrm>
            <a:custGeom>
              <a:avLst/>
              <a:gdLst/>
              <a:ahLst/>
              <a:cxnLst/>
              <a:rect l="l" t="t" r="r" b="b"/>
              <a:pathLst>
                <a:path w="3958471" h="588823">
                  <a:moveTo>
                    <a:pt x="0" y="0"/>
                  </a:moveTo>
                  <a:lnTo>
                    <a:pt x="3958471" y="0"/>
                  </a:lnTo>
                  <a:lnTo>
                    <a:pt x="3958471" y="588823"/>
                  </a:lnTo>
                  <a:lnTo>
                    <a:pt x="0" y="5888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963064" y="8740214"/>
            <a:ext cx="1562612" cy="959703"/>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13</a:t>
            </a:r>
          </a:p>
        </p:txBody>
      </p:sp>
      <p:sp>
        <p:nvSpPr>
          <p:cNvPr id="3" name="TextBox 3"/>
          <p:cNvSpPr txBox="1"/>
          <p:nvPr/>
        </p:nvSpPr>
        <p:spPr>
          <a:xfrm>
            <a:off x="3679044" y="866775"/>
            <a:ext cx="10929913" cy="1450976"/>
          </a:xfrm>
          <a:prstGeom prst="rect">
            <a:avLst/>
          </a:prstGeom>
        </p:spPr>
        <p:txBody>
          <a:bodyPr lIns="0" tIns="0" rIns="0" bIns="0" rtlCol="0" anchor="t">
            <a:spAutoFit/>
          </a:bodyPr>
          <a:lstStyle/>
          <a:p>
            <a:pPr algn="ctr">
              <a:lnSpc>
                <a:spcPts val="11899"/>
              </a:lnSpc>
            </a:pPr>
            <a:r>
              <a:rPr lang="en-US" sz="8499">
                <a:solidFill>
                  <a:srgbClr val="000000"/>
                </a:solidFill>
                <a:latin typeface="Alatsi"/>
                <a:ea typeface="Alatsi"/>
                <a:cs typeface="Alatsi"/>
                <a:sym typeface="Alatsi"/>
              </a:rPr>
              <a:t>CONCLUSION</a:t>
            </a:r>
          </a:p>
        </p:txBody>
      </p:sp>
      <p:grpSp>
        <p:nvGrpSpPr>
          <p:cNvPr id="4" name="Group 4"/>
          <p:cNvGrpSpPr/>
          <p:nvPr/>
        </p:nvGrpSpPr>
        <p:grpSpPr>
          <a:xfrm>
            <a:off x="0" y="9258300"/>
            <a:ext cx="11543796" cy="441617"/>
            <a:chOff x="0" y="0"/>
            <a:chExt cx="15391728" cy="588823"/>
          </a:xfrm>
        </p:grpSpPr>
        <p:sp>
          <p:nvSpPr>
            <p:cNvPr id="5" name="AutoShape 5"/>
            <p:cNvSpPr/>
            <p:nvPr/>
          </p:nvSpPr>
          <p:spPr>
            <a:xfrm>
              <a:off x="0" y="345211"/>
              <a:ext cx="10819962" cy="0"/>
            </a:xfrm>
            <a:prstGeom prst="line">
              <a:avLst/>
            </a:prstGeom>
            <a:ln w="101600" cap="flat">
              <a:solidFill>
                <a:srgbClr val="0F4662"/>
              </a:solidFill>
              <a:prstDash val="solid"/>
              <a:headEnd type="none" w="sm" len="sm"/>
              <a:tailEnd type="none" w="sm" len="sm"/>
            </a:ln>
          </p:spPr>
        </p:sp>
        <p:sp>
          <p:nvSpPr>
            <p:cNvPr id="6" name="Freeform 6"/>
            <p:cNvSpPr/>
            <p:nvPr/>
          </p:nvSpPr>
          <p:spPr>
            <a:xfrm>
              <a:off x="11433257" y="0"/>
              <a:ext cx="3958471" cy="588823"/>
            </a:xfrm>
            <a:custGeom>
              <a:avLst/>
              <a:gdLst/>
              <a:ahLst/>
              <a:cxnLst/>
              <a:rect l="l" t="t" r="r" b="b"/>
              <a:pathLst>
                <a:path w="3958471" h="588823">
                  <a:moveTo>
                    <a:pt x="0" y="0"/>
                  </a:moveTo>
                  <a:lnTo>
                    <a:pt x="3958471" y="0"/>
                  </a:lnTo>
                  <a:lnTo>
                    <a:pt x="3958471" y="588823"/>
                  </a:lnTo>
                  <a:lnTo>
                    <a:pt x="0" y="5888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7" name="TextBox 7"/>
          <p:cNvSpPr txBox="1"/>
          <p:nvPr/>
        </p:nvSpPr>
        <p:spPr>
          <a:xfrm>
            <a:off x="1571572" y="2571732"/>
            <a:ext cx="15152691" cy="5389745"/>
          </a:xfrm>
          <a:prstGeom prst="rect">
            <a:avLst/>
          </a:prstGeom>
        </p:spPr>
        <p:txBody>
          <a:bodyPr lIns="0" tIns="0" rIns="0" bIns="0" rtlCol="0" anchor="t">
            <a:spAutoFit/>
          </a:bodyPr>
          <a:lstStyle/>
          <a:p>
            <a:pPr algn="just">
              <a:lnSpc>
                <a:spcPts val="4670"/>
              </a:lnSpc>
            </a:pPr>
            <a:r>
              <a:rPr lang="en-IN" sz="3200" dirty="0"/>
              <a:t>The Smart Water Monitoring System demonstrates the significant potential of </a:t>
            </a:r>
            <a:r>
              <a:rPr lang="en-IN" sz="3200" dirty="0" err="1"/>
              <a:t>IoT</a:t>
            </a:r>
            <a:r>
              <a:rPr lang="en-IN" sz="3200" dirty="0"/>
              <a:t> technology to improve water quality management. By integrating pH and temperature sensors with the ESP8266 microcontroller and leveraging cloud-based platforms like </a:t>
            </a:r>
            <a:r>
              <a:rPr lang="en-IN" sz="3200" dirty="0" err="1"/>
              <a:t>Blynk</a:t>
            </a:r>
            <a:r>
              <a:rPr lang="en-IN" sz="3200" dirty="0"/>
              <a:t> </a:t>
            </a:r>
            <a:r>
              <a:rPr lang="en-IN" sz="3200" dirty="0" err="1"/>
              <a:t>IoT</a:t>
            </a:r>
            <a:r>
              <a:rPr lang="en-IN" sz="3200" dirty="0"/>
              <a:t>, the system provides a reliable, real-time monitoring solution that is both efficient and accessible. Its low cost, scalability, and user-friendly interface make it suitable for various sectors, including agriculture, environmental monitoring, water treatment, and industrial applications. This project not only highlights the capabilities of </a:t>
            </a:r>
            <a:r>
              <a:rPr lang="en-IN" sz="3200" dirty="0" err="1"/>
              <a:t>IoT</a:t>
            </a:r>
            <a:r>
              <a:rPr lang="en-IN" sz="3200" dirty="0"/>
              <a:t> in addressing modern water quality challenges but also sets the stage for future advancements in the field, enabling better water resource management for a sustainable future.</a:t>
            </a:r>
            <a:endParaRPr lang="en-US" sz="3200" b="1" dirty="0">
              <a:solidFill>
                <a:srgbClr val="000000"/>
              </a:solidFill>
              <a:latin typeface="Times New Roman Medium"/>
              <a:ea typeface="Times New Roman Medium"/>
              <a:cs typeface="Times New Roman Medium"/>
              <a:sym typeface="Times New Roman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974321" y="8740214"/>
            <a:ext cx="1562612" cy="959703"/>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14</a:t>
            </a:r>
          </a:p>
        </p:txBody>
      </p:sp>
      <p:sp>
        <p:nvSpPr>
          <p:cNvPr id="3" name="TextBox 3"/>
          <p:cNvSpPr txBox="1"/>
          <p:nvPr/>
        </p:nvSpPr>
        <p:spPr>
          <a:xfrm>
            <a:off x="3679044" y="586429"/>
            <a:ext cx="10929913" cy="1450976"/>
          </a:xfrm>
          <a:prstGeom prst="rect">
            <a:avLst/>
          </a:prstGeom>
        </p:spPr>
        <p:txBody>
          <a:bodyPr lIns="0" tIns="0" rIns="0" bIns="0" rtlCol="0" anchor="t">
            <a:spAutoFit/>
          </a:bodyPr>
          <a:lstStyle/>
          <a:p>
            <a:pPr algn="ctr">
              <a:lnSpc>
                <a:spcPts val="11899"/>
              </a:lnSpc>
            </a:pPr>
            <a:r>
              <a:rPr lang="en-US" sz="8499" dirty="0">
                <a:solidFill>
                  <a:srgbClr val="000000"/>
                </a:solidFill>
                <a:latin typeface="Alatsi"/>
                <a:ea typeface="Alatsi"/>
                <a:cs typeface="Alatsi"/>
                <a:sym typeface="Alatsi"/>
              </a:rPr>
              <a:t>REFERENCE’S</a:t>
            </a:r>
          </a:p>
        </p:txBody>
      </p:sp>
      <p:sp>
        <p:nvSpPr>
          <p:cNvPr id="4" name="TextBox 4"/>
          <p:cNvSpPr txBox="1"/>
          <p:nvPr/>
        </p:nvSpPr>
        <p:spPr>
          <a:xfrm>
            <a:off x="724180" y="2504470"/>
            <a:ext cx="16959251" cy="6396495"/>
          </a:xfrm>
          <a:prstGeom prst="rect">
            <a:avLst/>
          </a:prstGeom>
        </p:spPr>
        <p:txBody>
          <a:bodyPr lIns="0" tIns="0" rIns="0" bIns="0" rtlCol="0" anchor="t">
            <a:spAutoFit/>
          </a:bodyPr>
          <a:lstStyle/>
          <a:p>
            <a:pPr marL="514350" lvl="0" indent="-514350" algn="just">
              <a:lnSpc>
                <a:spcPct val="150000"/>
              </a:lnSpc>
              <a:buFont typeface="+mj-lt"/>
              <a:buAutoNum type="arabicPeriod"/>
            </a:pPr>
            <a:r>
              <a:rPr lang="en-US" sz="2800" dirty="0" err="1"/>
              <a:t>ChoZinMyint</a:t>
            </a:r>
            <a:r>
              <a:rPr lang="en-US" sz="2800" dirty="0"/>
              <a:t>, Lenin </a:t>
            </a:r>
            <a:r>
              <a:rPr lang="en-US" sz="2800" dirty="0" err="1"/>
              <a:t>Gopal</a:t>
            </a:r>
            <a:r>
              <a:rPr lang="en-US" sz="2800" dirty="0"/>
              <a:t> and Yan Lin </a:t>
            </a:r>
            <a:r>
              <a:rPr lang="en-US" sz="2800" dirty="0" err="1"/>
              <a:t>Aung,”Reconfigurable</a:t>
            </a:r>
            <a:r>
              <a:rPr lang="en-US" sz="2800" dirty="0"/>
              <a:t> smart water quality monitoring system in </a:t>
            </a:r>
            <a:r>
              <a:rPr lang="en-US" sz="2800" dirty="0" err="1"/>
              <a:t>iot</a:t>
            </a:r>
            <a:r>
              <a:rPr lang="en-US" sz="2800" dirty="0"/>
              <a:t> environment”, IEEE </a:t>
            </a:r>
            <a:r>
              <a:rPr lang="en-US" sz="2800" dirty="0" err="1"/>
              <a:t>Internatinal</a:t>
            </a:r>
            <a:r>
              <a:rPr lang="en-US" sz="2800" dirty="0"/>
              <a:t> Conference on Information Systems(ICIS),978-1-5090-5507-4/17,May 2017. </a:t>
            </a:r>
            <a:endParaRPr lang="en-IN" sz="2800" b="1" dirty="0"/>
          </a:p>
          <a:p>
            <a:pPr marL="514350" lvl="0" indent="-514350" algn="just">
              <a:lnSpc>
                <a:spcPct val="150000"/>
              </a:lnSpc>
              <a:buFont typeface="+mj-lt"/>
              <a:buAutoNum type="arabicPeriod"/>
            </a:pPr>
            <a:r>
              <a:rPr lang="en-US" sz="2800" dirty="0" err="1"/>
              <a:t>Sona</a:t>
            </a:r>
            <a:r>
              <a:rPr lang="en-US" sz="2800" dirty="0"/>
              <a:t> </a:t>
            </a:r>
            <a:r>
              <a:rPr lang="en-US" sz="2800" dirty="0" err="1"/>
              <a:t>Pawara</a:t>
            </a:r>
            <a:r>
              <a:rPr lang="en-US" sz="2800" dirty="0"/>
              <a:t>, </a:t>
            </a:r>
            <a:r>
              <a:rPr lang="en-US" sz="2800" dirty="0" err="1"/>
              <a:t>Siddhi</a:t>
            </a:r>
            <a:r>
              <a:rPr lang="en-US" sz="2800" dirty="0"/>
              <a:t> </a:t>
            </a:r>
            <a:r>
              <a:rPr lang="en-US" sz="2800" dirty="0" err="1"/>
              <a:t>Nalam</a:t>
            </a:r>
            <a:r>
              <a:rPr lang="en-US" sz="2800" dirty="0"/>
              <a:t>, </a:t>
            </a:r>
            <a:r>
              <a:rPr lang="en-US" sz="2800" dirty="0" err="1"/>
              <a:t>Saurabh</a:t>
            </a:r>
            <a:r>
              <a:rPr lang="en-US" sz="2800" dirty="0"/>
              <a:t> </a:t>
            </a:r>
            <a:r>
              <a:rPr lang="en-US" sz="2800" dirty="0" err="1"/>
              <a:t>Mirajkar,Shruti</a:t>
            </a:r>
            <a:r>
              <a:rPr lang="en-US" sz="2800" dirty="0"/>
              <a:t> </a:t>
            </a:r>
            <a:r>
              <a:rPr lang="en-US" sz="2800" dirty="0" err="1"/>
              <a:t>GujarVaishali</a:t>
            </a:r>
            <a:r>
              <a:rPr lang="en-US" sz="2800" dirty="0"/>
              <a:t> </a:t>
            </a:r>
            <a:r>
              <a:rPr lang="en-US" sz="2800" dirty="0" err="1"/>
              <a:t>Nagmoti</a:t>
            </a:r>
            <a:r>
              <a:rPr lang="en-US" sz="2800" dirty="0"/>
              <a:t>,” Remote Monitoring of Waters Quality from Reservoirs”, 2017 2nd International Conference for Convergence in Technology (I2CT). </a:t>
            </a:r>
            <a:endParaRPr lang="en-IN" sz="2800" b="1" dirty="0"/>
          </a:p>
          <a:p>
            <a:pPr marL="514350" lvl="0" indent="-514350" algn="just">
              <a:lnSpc>
                <a:spcPct val="150000"/>
              </a:lnSpc>
              <a:buFont typeface="+mj-lt"/>
              <a:buAutoNum type="arabicPeriod"/>
            </a:pPr>
            <a:r>
              <a:rPr lang="en-US" sz="2800" dirty="0"/>
              <a:t>Francesco A, </a:t>
            </a:r>
            <a:r>
              <a:rPr lang="en-US" sz="2800" dirty="0" err="1"/>
              <a:t>Fliippo</a:t>
            </a:r>
            <a:r>
              <a:rPr lang="en-US" sz="2800" dirty="0"/>
              <a:t> A, Carlo G C ,Anna M L,”A Smart sensor network for sea water quality monitoring, IEEE Sensors J 15(5):2514-2522,May 2015.</a:t>
            </a:r>
            <a:endParaRPr lang="en-IN" sz="2800" b="1" dirty="0"/>
          </a:p>
          <a:p>
            <a:pPr marL="514350" lvl="0" indent="-514350" algn="just">
              <a:lnSpc>
                <a:spcPct val="150000"/>
              </a:lnSpc>
              <a:buFont typeface="+mj-lt"/>
              <a:buAutoNum type="arabicPeriod"/>
            </a:pPr>
            <a:r>
              <a:rPr lang="en-US" sz="2800" dirty="0"/>
              <a:t>S. P. </a:t>
            </a:r>
            <a:r>
              <a:rPr lang="en-US" sz="2800" dirty="0" err="1"/>
              <a:t>Gorde</a:t>
            </a:r>
            <a:r>
              <a:rPr lang="en-US" sz="2800" dirty="0"/>
              <a:t>, M. V. </a:t>
            </a:r>
            <a:r>
              <a:rPr lang="en-US" sz="2800" dirty="0" err="1"/>
              <a:t>Jadhav</a:t>
            </a:r>
            <a:r>
              <a:rPr lang="en-US" sz="2800" dirty="0"/>
              <a:t> “Assessment of Water Quality Parameters: A Review”, S. P. </a:t>
            </a:r>
            <a:r>
              <a:rPr lang="en-US" sz="2800" dirty="0" err="1"/>
              <a:t>Gorde</a:t>
            </a:r>
            <a:r>
              <a:rPr lang="en-US" sz="2800" dirty="0"/>
              <a:t> et al Int. Journal of Engineering Research and Applications ,ISSN : 2248-9622, Vol. 3, Issue 6, Nov-Dec 2013, pp.2029-2035.</a:t>
            </a:r>
            <a:endParaRPr lang="en-IN" sz="2800" b="1" dirty="0"/>
          </a:p>
          <a:p>
            <a:pPr marL="514350" lvl="0" indent="-514350" algn="just">
              <a:lnSpc>
                <a:spcPct val="150000"/>
              </a:lnSpc>
              <a:buFont typeface="+mj-lt"/>
              <a:buAutoNum type="arabicPeriod"/>
            </a:pPr>
            <a:r>
              <a:rPr lang="en-US" sz="2800" dirty="0"/>
              <a:t>S. </a:t>
            </a:r>
            <a:r>
              <a:rPr lang="en-US" sz="2800" dirty="0" err="1"/>
              <a:t>Geetha</a:t>
            </a:r>
            <a:r>
              <a:rPr lang="en-US" sz="2800" dirty="0"/>
              <a:t> and S. </a:t>
            </a:r>
            <a:r>
              <a:rPr lang="en-US" sz="2800" dirty="0" err="1"/>
              <a:t>Gouthami</a:t>
            </a:r>
            <a:r>
              <a:rPr lang="en-US" sz="2800" dirty="0"/>
              <a:t>,” Internet of things enabled real time water quality monitoring system”, Springer open (2017) 2:1 DOI 10.1186/s40713-017-0005-y. </a:t>
            </a:r>
            <a:endParaRPr lang="en-IN" sz="2800" b="1" dirty="0"/>
          </a:p>
        </p:txBody>
      </p:sp>
      <p:grpSp>
        <p:nvGrpSpPr>
          <p:cNvPr id="5" name="Group 5"/>
          <p:cNvGrpSpPr/>
          <p:nvPr/>
        </p:nvGrpSpPr>
        <p:grpSpPr>
          <a:xfrm>
            <a:off x="0" y="9258300"/>
            <a:ext cx="11543796" cy="441617"/>
            <a:chOff x="0" y="0"/>
            <a:chExt cx="15391728" cy="588823"/>
          </a:xfrm>
        </p:grpSpPr>
        <p:sp>
          <p:nvSpPr>
            <p:cNvPr id="6" name="AutoShape 6"/>
            <p:cNvSpPr/>
            <p:nvPr/>
          </p:nvSpPr>
          <p:spPr>
            <a:xfrm>
              <a:off x="0" y="345211"/>
              <a:ext cx="10819962" cy="0"/>
            </a:xfrm>
            <a:prstGeom prst="line">
              <a:avLst/>
            </a:prstGeom>
            <a:ln w="101600" cap="flat">
              <a:solidFill>
                <a:srgbClr val="0F4662"/>
              </a:solidFill>
              <a:prstDash val="solid"/>
              <a:headEnd type="none" w="sm" len="sm"/>
              <a:tailEnd type="none" w="sm" len="sm"/>
            </a:ln>
          </p:spPr>
        </p:sp>
        <p:sp>
          <p:nvSpPr>
            <p:cNvPr id="7" name="Freeform 7"/>
            <p:cNvSpPr/>
            <p:nvPr/>
          </p:nvSpPr>
          <p:spPr>
            <a:xfrm>
              <a:off x="11433257" y="0"/>
              <a:ext cx="3958471" cy="588823"/>
            </a:xfrm>
            <a:custGeom>
              <a:avLst/>
              <a:gdLst/>
              <a:ahLst/>
              <a:cxnLst/>
              <a:rect l="l" t="t" r="r" b="b"/>
              <a:pathLst>
                <a:path w="3958471" h="588823">
                  <a:moveTo>
                    <a:pt x="0" y="0"/>
                  </a:moveTo>
                  <a:lnTo>
                    <a:pt x="3958471" y="0"/>
                  </a:lnTo>
                  <a:lnTo>
                    <a:pt x="3958471" y="588823"/>
                  </a:lnTo>
                  <a:lnTo>
                    <a:pt x="0" y="5888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879937" y="8740214"/>
            <a:ext cx="1562612" cy="959703"/>
          </a:xfrm>
          <a:prstGeom prst="rect">
            <a:avLst/>
          </a:prstGeom>
        </p:spPr>
        <p:txBody>
          <a:bodyPr lIns="0" tIns="0" rIns="0" bIns="0" rtlCol="0" anchor="t">
            <a:spAutoFit/>
          </a:bodyPr>
          <a:lstStyle/>
          <a:p>
            <a:pPr algn="ctr">
              <a:lnSpc>
                <a:spcPts val="7805"/>
              </a:lnSpc>
            </a:pPr>
            <a:r>
              <a:rPr lang="en-US" sz="5575" b="1" dirty="0">
                <a:solidFill>
                  <a:srgbClr val="000000"/>
                </a:solidFill>
                <a:latin typeface="Open Sans Bold"/>
                <a:ea typeface="Open Sans Bold"/>
                <a:cs typeface="Open Sans Bold"/>
                <a:sym typeface="Open Sans Bold"/>
              </a:rPr>
              <a:t>15</a:t>
            </a:r>
          </a:p>
        </p:txBody>
      </p:sp>
      <p:grpSp>
        <p:nvGrpSpPr>
          <p:cNvPr id="4" name="Group 4"/>
          <p:cNvGrpSpPr/>
          <p:nvPr/>
        </p:nvGrpSpPr>
        <p:grpSpPr>
          <a:xfrm>
            <a:off x="0" y="9258300"/>
            <a:ext cx="11543796" cy="441617"/>
            <a:chOff x="0" y="0"/>
            <a:chExt cx="15391728" cy="588823"/>
          </a:xfrm>
        </p:grpSpPr>
        <p:sp>
          <p:nvSpPr>
            <p:cNvPr id="5" name="AutoShape 5"/>
            <p:cNvSpPr/>
            <p:nvPr/>
          </p:nvSpPr>
          <p:spPr>
            <a:xfrm>
              <a:off x="0" y="345211"/>
              <a:ext cx="10819962" cy="0"/>
            </a:xfrm>
            <a:prstGeom prst="line">
              <a:avLst/>
            </a:prstGeom>
            <a:ln w="101600" cap="flat">
              <a:solidFill>
                <a:srgbClr val="0F4662"/>
              </a:solidFill>
              <a:prstDash val="solid"/>
              <a:headEnd type="none" w="sm" len="sm"/>
              <a:tailEnd type="none" w="sm" len="sm"/>
            </a:ln>
          </p:spPr>
        </p:sp>
        <p:sp>
          <p:nvSpPr>
            <p:cNvPr id="6" name="Freeform 6"/>
            <p:cNvSpPr/>
            <p:nvPr/>
          </p:nvSpPr>
          <p:spPr>
            <a:xfrm>
              <a:off x="11433257" y="0"/>
              <a:ext cx="3958471" cy="588823"/>
            </a:xfrm>
            <a:custGeom>
              <a:avLst/>
              <a:gdLst/>
              <a:ahLst/>
              <a:cxnLst/>
              <a:rect l="l" t="t" r="r" b="b"/>
              <a:pathLst>
                <a:path w="3958471" h="588823">
                  <a:moveTo>
                    <a:pt x="0" y="0"/>
                  </a:moveTo>
                  <a:lnTo>
                    <a:pt x="3958471" y="0"/>
                  </a:lnTo>
                  <a:lnTo>
                    <a:pt x="3958471" y="588823"/>
                  </a:lnTo>
                  <a:lnTo>
                    <a:pt x="0" y="58882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8" name="TextBox 4"/>
          <p:cNvSpPr txBox="1"/>
          <p:nvPr/>
        </p:nvSpPr>
        <p:spPr>
          <a:xfrm>
            <a:off x="714316" y="2000228"/>
            <a:ext cx="16959251" cy="7042825"/>
          </a:xfrm>
          <a:prstGeom prst="rect">
            <a:avLst/>
          </a:prstGeom>
        </p:spPr>
        <p:txBody>
          <a:bodyPr lIns="0" tIns="0" rIns="0" bIns="0" rtlCol="0" anchor="t">
            <a:spAutoFit/>
          </a:bodyPr>
          <a:lstStyle/>
          <a:p>
            <a:pPr marL="514350" lvl="0" indent="-514350" algn="just">
              <a:lnSpc>
                <a:spcPct val="150000"/>
              </a:lnSpc>
              <a:buFont typeface="+mj-lt"/>
              <a:buAutoNum type="arabicPeriod" startAt="6"/>
            </a:pPr>
            <a:r>
              <a:rPr lang="en-US" sz="2800" dirty="0" err="1"/>
              <a:t>AainaVenkateshwaran</a:t>
            </a:r>
            <a:r>
              <a:rPr lang="en-US" sz="2800" dirty="0"/>
              <a:t>, </a:t>
            </a:r>
            <a:r>
              <a:rPr lang="en-US" sz="2800" dirty="0" err="1"/>
              <a:t>HarshaMendha</a:t>
            </a:r>
            <a:r>
              <a:rPr lang="en-US" sz="2800" dirty="0"/>
              <a:t>, Prof. </a:t>
            </a:r>
            <a:r>
              <a:rPr lang="en-US" sz="2800" dirty="0" err="1"/>
              <a:t>PritiBadar,“An</a:t>
            </a:r>
            <a:r>
              <a:rPr lang="en-US" sz="2800" dirty="0"/>
              <a:t> </a:t>
            </a:r>
            <a:r>
              <a:rPr lang="en-US" sz="2800" dirty="0" err="1"/>
              <a:t>IoT</a:t>
            </a:r>
            <a:r>
              <a:rPr lang="en-US" sz="2800" dirty="0"/>
              <a:t> based system for water quality </a:t>
            </a:r>
            <a:r>
              <a:rPr lang="en-US" sz="2800" dirty="0" err="1"/>
              <a:t>monitoring”,International</a:t>
            </a:r>
            <a:r>
              <a:rPr lang="en-US" sz="2800" dirty="0"/>
              <a:t> Journal of Innovation Research in Computer and Communication Engineering,Vol.5, Issue 4,April 2017. </a:t>
            </a:r>
            <a:endParaRPr lang="en-IN" sz="2800" b="1" dirty="0"/>
          </a:p>
          <a:p>
            <a:pPr marL="514350" lvl="0" indent="-514350" algn="just">
              <a:lnSpc>
                <a:spcPct val="150000"/>
              </a:lnSpc>
              <a:buFont typeface="+mj-lt"/>
              <a:buAutoNum type="arabicPeriod" startAt="6"/>
            </a:pPr>
            <a:r>
              <a:rPr lang="en-US" sz="2800" dirty="0" err="1"/>
              <a:t>VaishanviVDaigavane,Dr</a:t>
            </a:r>
            <a:r>
              <a:rPr lang="en-US" sz="2800" dirty="0"/>
              <a:t>. M A </a:t>
            </a:r>
            <a:r>
              <a:rPr lang="en-US" sz="2800" dirty="0" err="1"/>
              <a:t>Gaikwad,”Water</a:t>
            </a:r>
            <a:r>
              <a:rPr lang="en-US" sz="2800" dirty="0"/>
              <a:t> quality monitoring system based on </a:t>
            </a:r>
            <a:r>
              <a:rPr lang="en-US" sz="2800" dirty="0" err="1"/>
              <a:t>IoT”,Advances</a:t>
            </a:r>
            <a:r>
              <a:rPr lang="en-US" sz="2800" dirty="0"/>
              <a:t> in wireless and mobile </a:t>
            </a:r>
            <a:r>
              <a:rPr lang="en-US" sz="2800" dirty="0" err="1"/>
              <a:t>communications,ISSN</a:t>
            </a:r>
            <a:r>
              <a:rPr lang="en-US" sz="2800" dirty="0"/>
              <a:t> 0973-6972 Volume 10,Number 5,2017,pp. 1107-1116. </a:t>
            </a:r>
            <a:endParaRPr lang="en-IN" sz="2800" b="1" dirty="0"/>
          </a:p>
          <a:p>
            <a:pPr marL="514350" lvl="0" indent="-514350" algn="just">
              <a:lnSpc>
                <a:spcPct val="150000"/>
              </a:lnSpc>
              <a:buFont typeface="+mj-lt"/>
              <a:buAutoNum type="arabicPeriod" startAt="6"/>
            </a:pPr>
            <a:r>
              <a:rPr lang="en-US" sz="2800" dirty="0" err="1"/>
              <a:t>Aravinda</a:t>
            </a:r>
            <a:r>
              <a:rPr lang="en-US" sz="2800" dirty="0"/>
              <a:t> S. </a:t>
            </a:r>
            <a:r>
              <a:rPr lang="en-US" sz="2800" dirty="0" err="1"/>
              <a:t>Rao</a:t>
            </a:r>
            <a:r>
              <a:rPr lang="en-US" sz="2800" dirty="0"/>
              <a:t>, Stephen Martial, </a:t>
            </a:r>
            <a:r>
              <a:rPr lang="en-US" sz="2800" dirty="0" err="1"/>
              <a:t>JayavardhanaGubbi</a:t>
            </a:r>
            <a:r>
              <a:rPr lang="en-US" sz="2800" dirty="0"/>
              <a:t>, </a:t>
            </a:r>
            <a:r>
              <a:rPr lang="en-US" sz="2800" dirty="0" err="1"/>
              <a:t>MarimuthuPalani</a:t>
            </a:r>
            <a:r>
              <a:rPr lang="en-US" sz="2800" dirty="0"/>
              <a:t> Swami, “Design of low-cost autonomous water quality monitoring system”, 2013 IEEE, pp. 14-19. </a:t>
            </a:r>
            <a:endParaRPr lang="en-IN" sz="2800" b="1" dirty="0"/>
          </a:p>
          <a:p>
            <a:pPr marL="514350" lvl="0" indent="-514350" algn="just">
              <a:lnSpc>
                <a:spcPct val="150000"/>
              </a:lnSpc>
              <a:buFont typeface="+mj-lt"/>
              <a:buAutoNum type="arabicPeriod" startAt="6"/>
            </a:pPr>
            <a:r>
              <a:rPr lang="en-US" sz="2800" dirty="0"/>
              <a:t>Cheng-Liang Lai, </a:t>
            </a:r>
            <a:r>
              <a:rPr lang="en-US" sz="2800" dirty="0" err="1"/>
              <a:t>Chien-Lun</a:t>
            </a:r>
            <a:r>
              <a:rPr lang="en-US" sz="2800" dirty="0"/>
              <a:t> Chiu “Using image processing technology for water quality monitoring system”,July2011 IEEE, pp. 1856-1861. </a:t>
            </a:r>
            <a:endParaRPr lang="en-IN" sz="2800" b="1" dirty="0"/>
          </a:p>
          <a:p>
            <a:pPr marL="514350" lvl="0" indent="-514350" algn="just">
              <a:lnSpc>
                <a:spcPct val="150000"/>
              </a:lnSpc>
              <a:buFont typeface="+mj-lt"/>
              <a:buAutoNum type="arabicPeriod" startAt="6"/>
            </a:pPr>
            <a:r>
              <a:rPr lang="en-US" sz="2800" dirty="0" err="1"/>
              <a:t>Niel</a:t>
            </a:r>
            <a:r>
              <a:rPr lang="en-US" sz="2800" dirty="0"/>
              <a:t> Andre </a:t>
            </a:r>
            <a:r>
              <a:rPr lang="en-US" sz="2800" dirty="0" err="1"/>
              <a:t>Cleote</a:t>
            </a:r>
            <a:r>
              <a:rPr lang="en-US" sz="2800" dirty="0"/>
              <a:t>, Reza </a:t>
            </a:r>
            <a:r>
              <a:rPr lang="en-US" sz="2800" dirty="0" err="1"/>
              <a:t>Malekian</a:t>
            </a:r>
            <a:r>
              <a:rPr lang="en-US" sz="2800" dirty="0"/>
              <a:t> and </a:t>
            </a:r>
            <a:r>
              <a:rPr lang="en-US" sz="2800" dirty="0" err="1"/>
              <a:t>Lakshmi</a:t>
            </a:r>
            <a:r>
              <a:rPr lang="en-US" sz="2800" dirty="0"/>
              <a:t> Nair,” Design of smart sensors for real-time water quality </a:t>
            </a:r>
            <a:r>
              <a:rPr lang="en-US" sz="2800" dirty="0" err="1"/>
              <a:t>monitoring,”,vol</a:t>
            </a:r>
            <a:r>
              <a:rPr lang="en-US" sz="2800" dirty="0"/>
              <a:t> 13, no. 9, September 2014 IEEE, pp 1-16.</a:t>
            </a:r>
            <a:endParaRPr lang="en-IN" sz="2800" b="1" dirty="0"/>
          </a:p>
        </p:txBody>
      </p:sp>
      <p:sp>
        <p:nvSpPr>
          <p:cNvPr id="9" name="TextBox 3"/>
          <p:cNvSpPr txBox="1"/>
          <p:nvPr/>
        </p:nvSpPr>
        <p:spPr>
          <a:xfrm>
            <a:off x="3679044" y="586429"/>
            <a:ext cx="10929913" cy="1450976"/>
          </a:xfrm>
          <a:prstGeom prst="rect">
            <a:avLst/>
          </a:prstGeom>
        </p:spPr>
        <p:txBody>
          <a:bodyPr lIns="0" tIns="0" rIns="0" bIns="0" rtlCol="0" anchor="t">
            <a:spAutoFit/>
          </a:bodyPr>
          <a:lstStyle/>
          <a:p>
            <a:pPr algn="ctr">
              <a:lnSpc>
                <a:spcPts val="11899"/>
              </a:lnSpc>
            </a:pPr>
            <a:r>
              <a:rPr lang="en-US" sz="8499" dirty="0">
                <a:solidFill>
                  <a:srgbClr val="000000"/>
                </a:solidFill>
                <a:latin typeface="Alatsi"/>
                <a:ea typeface="Alatsi"/>
                <a:cs typeface="Alatsi"/>
                <a:sym typeface="Alatsi"/>
              </a:rPr>
              <a:t>REFERENCE’S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554977" y="3748035"/>
            <a:ext cx="11627497" cy="2514704"/>
          </a:xfrm>
          <a:prstGeom prst="rect">
            <a:avLst/>
          </a:prstGeom>
        </p:spPr>
        <p:txBody>
          <a:bodyPr lIns="0" tIns="0" rIns="0" bIns="0" rtlCol="0" anchor="t">
            <a:spAutoFit/>
          </a:bodyPr>
          <a:lstStyle/>
          <a:p>
            <a:pPr algn="ctr">
              <a:lnSpc>
                <a:spcPts val="20573"/>
              </a:lnSpc>
            </a:pPr>
            <a:r>
              <a:rPr lang="en-US" sz="14695">
                <a:solidFill>
                  <a:srgbClr val="000000"/>
                </a:solidFill>
                <a:latin typeface="Alatsi"/>
                <a:ea typeface="Alatsi"/>
                <a:cs typeface="Alatsi"/>
                <a:sym typeface="Alatsi"/>
              </a:rPr>
              <a:t>THANK YOU</a:t>
            </a:r>
          </a:p>
        </p:txBody>
      </p:sp>
      <p:grpSp>
        <p:nvGrpSpPr>
          <p:cNvPr id="3" name="Group 3"/>
          <p:cNvGrpSpPr/>
          <p:nvPr/>
        </p:nvGrpSpPr>
        <p:grpSpPr>
          <a:xfrm>
            <a:off x="-31071" y="0"/>
            <a:ext cx="4239083" cy="10287000"/>
            <a:chOff x="0" y="0"/>
            <a:chExt cx="5652111" cy="13716000"/>
          </a:xfrm>
        </p:grpSpPr>
        <p:grpSp>
          <p:nvGrpSpPr>
            <p:cNvPr id="4" name="Group 4"/>
            <p:cNvGrpSpPr/>
            <p:nvPr/>
          </p:nvGrpSpPr>
          <p:grpSpPr>
            <a:xfrm>
              <a:off x="2826056" y="0"/>
              <a:ext cx="2826056" cy="13716000"/>
              <a:chOff x="0" y="0"/>
              <a:chExt cx="558233" cy="2709333"/>
            </a:xfrm>
          </p:grpSpPr>
          <p:sp>
            <p:nvSpPr>
              <p:cNvPr id="5" name="Freeform 5"/>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adFill rotWithShape="1">
                <a:gsLst>
                  <a:gs pos="0">
                    <a:srgbClr val="E9E0D9">
                      <a:alpha val="100000"/>
                    </a:srgbClr>
                  </a:gs>
                  <a:gs pos="100000">
                    <a:srgbClr val="FFFFFF">
                      <a:alpha val="100000"/>
                    </a:srgbClr>
                  </a:gs>
                </a:gsLst>
                <a:lin ang="5400000"/>
              </a:gradFill>
            </p:spPr>
          </p:sp>
          <p:sp>
            <p:nvSpPr>
              <p:cNvPr id="6" name="TextBox 6"/>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1413028" y="0"/>
              <a:ext cx="2826056" cy="13716000"/>
              <a:chOff x="0" y="0"/>
              <a:chExt cx="558233" cy="2709333"/>
            </a:xfrm>
          </p:grpSpPr>
          <p:sp>
            <p:nvSpPr>
              <p:cNvPr id="8" name="Freeform 8"/>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adFill rotWithShape="1">
                <a:gsLst>
                  <a:gs pos="0">
                    <a:srgbClr val="758A92">
                      <a:alpha val="100000"/>
                    </a:srgbClr>
                  </a:gs>
                  <a:gs pos="100000">
                    <a:srgbClr val="FFFFFF">
                      <a:alpha val="100000"/>
                    </a:srgbClr>
                  </a:gs>
                </a:gsLst>
                <a:lin ang="5400000"/>
              </a:gradFill>
            </p:spPr>
          </p:sp>
          <p:sp>
            <p:nvSpPr>
              <p:cNvPr id="9" name="TextBox 9"/>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0"/>
              <a:ext cx="2826056" cy="13716000"/>
              <a:chOff x="0" y="0"/>
              <a:chExt cx="558233" cy="2709333"/>
            </a:xfrm>
          </p:grpSpPr>
          <p:sp>
            <p:nvSpPr>
              <p:cNvPr id="11" name="Freeform 11"/>
              <p:cNvSpPr/>
              <p:nvPr/>
            </p:nvSpPr>
            <p:spPr>
              <a:xfrm>
                <a:off x="0" y="0"/>
                <a:ext cx="558233" cy="2709333"/>
              </a:xfrm>
              <a:custGeom>
                <a:avLst/>
                <a:gdLst/>
                <a:ahLst/>
                <a:cxnLst/>
                <a:rect l="l" t="t" r="r" b="b"/>
                <a:pathLst>
                  <a:path w="558233" h="2709333">
                    <a:moveTo>
                      <a:pt x="0" y="0"/>
                    </a:moveTo>
                    <a:lnTo>
                      <a:pt x="558233" y="0"/>
                    </a:lnTo>
                    <a:lnTo>
                      <a:pt x="558233" y="2709333"/>
                    </a:lnTo>
                    <a:lnTo>
                      <a:pt x="0" y="2709333"/>
                    </a:lnTo>
                    <a:close/>
                  </a:path>
                </a:pathLst>
              </a:custGeom>
              <a:gradFill rotWithShape="1">
                <a:gsLst>
                  <a:gs pos="0">
                    <a:srgbClr val="54BD5B">
                      <a:alpha val="100000"/>
                    </a:srgbClr>
                  </a:gs>
                  <a:gs pos="100000">
                    <a:srgbClr val="FFFFFF">
                      <a:alpha val="100000"/>
                    </a:srgbClr>
                  </a:gs>
                </a:gsLst>
                <a:lin ang="5400000"/>
              </a:gradFill>
            </p:spPr>
          </p:sp>
          <p:sp>
            <p:nvSpPr>
              <p:cNvPr id="12" name="TextBox 12"/>
              <p:cNvSpPr txBox="1"/>
              <p:nvPr/>
            </p:nvSpPr>
            <p:spPr>
              <a:xfrm>
                <a:off x="0" y="-47625"/>
                <a:ext cx="558233" cy="2756958"/>
              </a:xfrm>
              <a:prstGeom prst="rect">
                <a:avLst/>
              </a:prstGeom>
            </p:spPr>
            <p:txBody>
              <a:bodyPr lIns="50800" tIns="50800" rIns="50800" bIns="50800" rtlCol="0" anchor="ctr"/>
              <a:lstStyle/>
              <a:p>
                <a:pPr algn="ctr">
                  <a:lnSpc>
                    <a:spcPts val="2659"/>
                  </a:lnSpc>
                </a:pPr>
                <a:endParaRPr/>
              </a:p>
            </p:txBody>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TotalTime>
  <Words>1545</Words>
  <Application>Microsoft Office PowerPoint</Application>
  <PresentationFormat>Custom</PresentationFormat>
  <Paragraphs>101</Paragraphs>
  <Slides>17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Calibri</vt:lpstr>
      <vt:lpstr>Open Sans Bold</vt:lpstr>
      <vt:lpstr>Calibri (MS) Bold</vt:lpstr>
      <vt:lpstr>Times New Roman Medium</vt:lpstr>
      <vt:lpstr>Calibri (MS)</vt:lpstr>
      <vt:lpstr>Times New Roman</vt:lpstr>
      <vt:lpstr>Times New Roman Semi-Bold</vt:lpstr>
      <vt:lpstr>Arial</vt:lpstr>
      <vt:lpstr>Alatsi</vt:lpstr>
      <vt:lpstr>Office Theme</vt:lpstr>
      <vt:lpstr>SMART WATER QUALITY MONITORING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RFID Token</dc:title>
  <dc:creator>Kabilesh Cm</dc:creator>
  <cp:lastModifiedBy>Kabilesh Cm</cp:lastModifiedBy>
  <cp:revision>63</cp:revision>
  <dcterms:created xsi:type="dcterms:W3CDTF">2006-08-16T00:00:00Z</dcterms:created>
  <dcterms:modified xsi:type="dcterms:W3CDTF">2025-02-03T12:10:29Z</dcterms:modified>
  <dc:identifier>DAGXsFuHVfA</dc:identifier>
</cp:coreProperties>
</file>